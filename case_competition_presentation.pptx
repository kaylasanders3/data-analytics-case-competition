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8" r:id="rId3"/>
    <p:sldId id="267" r:id="rId4"/>
    <p:sldId id="262" r:id="rId5"/>
    <p:sldId id="265" r:id="rId6"/>
    <p:sldId id="270" r:id="rId7"/>
    <p:sldId id="263"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BFC"/>
    <a:srgbClr val="0E51A3"/>
    <a:srgbClr val="8AA6D1"/>
    <a:srgbClr val="E8E8E8"/>
    <a:srgbClr val="0E51A2"/>
    <a:srgbClr val="FFFFFF"/>
    <a:srgbClr val="507CBA"/>
    <a:srgbClr val="495B6F"/>
    <a:srgbClr val="0C2741"/>
    <a:srgbClr val="BDBD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https://bama365-my.sharepoint.com/personal/mlmaini_crimson_ua_edu/Documents/Payor%20Mix.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bama365-my.sharepoint.com/personal/mlmaini_crimson_ua_edu/Documents/Payor%20Mix.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https://bama365-my.sharepoint.com/personal/mlmaini_crimson_ua_edu/Documents/Payor%20Mix.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https://bama365-my.sharepoint.com/personal/mlmaini_crimson_ua_edu/Documents/Payor%20Mix.xlsx" TargetMode="External"/><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oleObject" Target="https://bama365-my.sharepoint.com/personal/mlmaini_crimson_ua_edu/Documents/Payor%20Mix.xlsx" TargetMode="External"/><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3" Type="http://schemas.openxmlformats.org/officeDocument/2006/relationships/oleObject" Target="https://bama365-my.sharepoint.com/personal/mlmaini_crimson_ua_edu/Documents/Payor%20Mix.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99599939758488"/>
          <c:y val="7.777816564789518E-3"/>
          <c:w val="0.68400850658664114"/>
          <c:h val="0.82888803557463064"/>
        </c:manualLayout>
      </c:layout>
      <c:pieChart>
        <c:varyColors val="1"/>
        <c:ser>
          <c:idx val="0"/>
          <c:order val="0"/>
          <c:dPt>
            <c:idx val="0"/>
            <c:bubble3D val="0"/>
            <c:spPr>
              <a:solidFill>
                <a:srgbClr val="0E51A2"/>
              </a:solidFill>
              <a:ln>
                <a:solidFill>
                  <a:srgbClr val="0E51A3"/>
                </a:solidFill>
              </a:ln>
              <a:effectLst/>
              <a:scene3d>
                <a:camera prst="orthographicFront"/>
                <a:lightRig rig="glow" dir="t">
                  <a:rot lat="0" lon="0" rev="4800000"/>
                </a:lightRig>
              </a:scene3d>
              <a:sp3d prstMaterial="matte">
                <a:bevelT w="127000" h="63500"/>
              </a:sp3d>
            </c:spPr>
            <c:extLst>
              <c:ext xmlns:c16="http://schemas.microsoft.com/office/drawing/2014/chart" uri="{C3380CC4-5D6E-409C-BE32-E72D297353CC}">
                <c16:uniqueId val="{00000001-487C-B041-B072-1D533DCF7A9C}"/>
              </c:ext>
            </c:extLst>
          </c:dPt>
          <c:dPt>
            <c:idx val="1"/>
            <c:bubble3D val="0"/>
            <c:spPr>
              <a:solidFill>
                <a:schemeClr val="tx1"/>
              </a:solidFill>
              <a:ln>
                <a:noFill/>
              </a:ln>
              <a:effectLst/>
              <a:scene3d>
                <a:camera prst="orthographicFront"/>
                <a:lightRig rig="threePt" dir="t"/>
              </a:scene3d>
            </c:spPr>
            <c:extLst>
              <c:ext xmlns:c16="http://schemas.microsoft.com/office/drawing/2014/chart" uri="{C3380CC4-5D6E-409C-BE32-E72D297353CC}">
                <c16:uniqueId val="{00000003-487C-B041-B072-1D533DCF7A9C}"/>
              </c:ext>
            </c:extLst>
          </c:dPt>
          <c:dPt>
            <c:idx val="2"/>
            <c:bubble3D val="0"/>
            <c:spPr>
              <a:solidFill>
                <a:schemeClr val="tx1"/>
              </a:solidFill>
              <a:ln>
                <a:noFill/>
              </a:ln>
              <a:effectLst/>
              <a:scene3d>
                <a:camera prst="orthographicFront"/>
                <a:lightRig rig="threePt" dir="t"/>
              </a:scene3d>
            </c:spPr>
            <c:extLst>
              <c:ext xmlns:c16="http://schemas.microsoft.com/office/drawing/2014/chart" uri="{C3380CC4-5D6E-409C-BE32-E72D297353CC}">
                <c16:uniqueId val="{00000005-487C-B041-B072-1D533DCF7A9C}"/>
              </c:ext>
            </c:extLst>
          </c:dPt>
          <c:dLbls>
            <c:delete val="1"/>
          </c:dLbls>
          <c:cat>
            <c:strRef>
              <c:f>Sheet3!$L$2:$L$4</c:f>
              <c:strCache>
                <c:ptCount val="3"/>
                <c:pt idx="0">
                  <c:v>Type A </c:v>
                </c:pt>
                <c:pt idx="1">
                  <c:v>Type B </c:v>
                </c:pt>
                <c:pt idx="2">
                  <c:v>Type C </c:v>
                </c:pt>
              </c:strCache>
            </c:strRef>
          </c:cat>
          <c:val>
            <c:numRef>
              <c:f>Sheet3!$M$2:$M$4</c:f>
              <c:numCache>
                <c:formatCode>0%</c:formatCode>
                <c:ptCount val="3"/>
                <c:pt idx="0">
                  <c:v>0.82</c:v>
                </c:pt>
                <c:pt idx="1">
                  <c:v>0.15</c:v>
                </c:pt>
                <c:pt idx="2">
                  <c:v>0.03</c:v>
                </c:pt>
              </c:numCache>
            </c:numRef>
          </c:val>
          <c:extLst>
            <c:ext xmlns:c16="http://schemas.microsoft.com/office/drawing/2014/chart" uri="{C3380CC4-5D6E-409C-BE32-E72D297353CC}">
              <c16:uniqueId val="{00000006-487C-B041-B072-1D533DCF7A9C}"/>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99599939758488"/>
          <c:y val="7.777816564789518E-3"/>
          <c:w val="0.68400850658664114"/>
          <c:h val="0.82888803557463064"/>
        </c:manualLayout>
      </c:layout>
      <c:pieChart>
        <c:varyColors val="1"/>
        <c:ser>
          <c:idx val="0"/>
          <c:order val="0"/>
          <c:spPr>
            <a:solidFill>
              <a:srgbClr val="0E51A3"/>
            </a:solidFill>
            <a:ln>
              <a:noFill/>
            </a:ln>
            <a:scene3d>
              <a:camera prst="orthographicFront"/>
              <a:lightRig rig="balanced" dir="t">
                <a:rot lat="0" lon="0" rev="8700000"/>
              </a:lightRig>
            </a:scene3d>
            <a:sp3d>
              <a:bevelT w="190500" h="38100"/>
            </a:sp3d>
          </c:spPr>
          <c:dPt>
            <c:idx val="0"/>
            <c:bubble3D val="0"/>
            <c:spPr>
              <a:solidFill>
                <a:schemeClr val="tx1"/>
              </a:solidFill>
              <a:ln>
                <a:noFill/>
              </a:ln>
              <a:effectLst/>
              <a:scene3d>
                <a:camera prst="orthographicFront"/>
                <a:lightRig rig="threePt" dir="t"/>
              </a:scene3d>
            </c:spPr>
            <c:extLst>
              <c:ext xmlns:c16="http://schemas.microsoft.com/office/drawing/2014/chart" uri="{C3380CC4-5D6E-409C-BE32-E72D297353CC}">
                <c16:uniqueId val="{00000001-25E6-D54F-9566-22F078F96900}"/>
              </c:ext>
            </c:extLst>
          </c:dPt>
          <c:dPt>
            <c:idx val="1"/>
            <c:bubble3D val="0"/>
            <c:spPr>
              <a:solidFill>
                <a:srgbClr val="0E51A3"/>
              </a:solidFill>
              <a:ln>
                <a:noFill/>
              </a:ln>
              <a:effectLst/>
              <a:scene3d>
                <a:camera prst="orthographicFront"/>
                <a:lightRig rig="balanced" dir="t">
                  <a:rot lat="0" lon="0" rev="8700000"/>
                </a:lightRig>
              </a:scene3d>
              <a:sp3d>
                <a:bevelT w="190500" h="38100"/>
              </a:sp3d>
            </c:spPr>
            <c:extLst>
              <c:ext xmlns:c16="http://schemas.microsoft.com/office/drawing/2014/chart" uri="{C3380CC4-5D6E-409C-BE32-E72D297353CC}">
                <c16:uniqueId val="{00000003-25E6-D54F-9566-22F078F96900}"/>
              </c:ext>
            </c:extLst>
          </c:dPt>
          <c:dPt>
            <c:idx val="2"/>
            <c:bubble3D val="0"/>
            <c:spPr>
              <a:solidFill>
                <a:schemeClr val="tx1"/>
              </a:solidFill>
              <a:ln>
                <a:noFill/>
              </a:ln>
              <a:effectLst/>
              <a:scene3d>
                <a:camera prst="orthographicFront"/>
                <a:lightRig rig="threePt" dir="t"/>
              </a:scene3d>
            </c:spPr>
            <c:extLst>
              <c:ext xmlns:c16="http://schemas.microsoft.com/office/drawing/2014/chart" uri="{C3380CC4-5D6E-409C-BE32-E72D297353CC}">
                <c16:uniqueId val="{00000005-25E6-D54F-9566-22F078F96900}"/>
              </c:ext>
            </c:extLst>
          </c:dPt>
          <c:dLbls>
            <c:delete val="1"/>
          </c:dLbls>
          <c:cat>
            <c:strRef>
              <c:f>Sheet3!$L$2:$L$4</c:f>
              <c:strCache>
                <c:ptCount val="3"/>
                <c:pt idx="0">
                  <c:v>Type A </c:v>
                </c:pt>
                <c:pt idx="1">
                  <c:v>Type B </c:v>
                </c:pt>
                <c:pt idx="2">
                  <c:v>Type C </c:v>
                </c:pt>
              </c:strCache>
            </c:strRef>
          </c:cat>
          <c:val>
            <c:numRef>
              <c:f>Sheet3!$M$2:$M$4</c:f>
              <c:numCache>
                <c:formatCode>0%</c:formatCode>
                <c:ptCount val="3"/>
                <c:pt idx="0">
                  <c:v>0.82</c:v>
                </c:pt>
                <c:pt idx="1">
                  <c:v>0.15</c:v>
                </c:pt>
                <c:pt idx="2">
                  <c:v>0.03</c:v>
                </c:pt>
              </c:numCache>
            </c:numRef>
          </c:val>
          <c:extLst>
            <c:ext xmlns:c16="http://schemas.microsoft.com/office/drawing/2014/chart" uri="{C3380CC4-5D6E-409C-BE32-E72D297353CC}">
              <c16:uniqueId val="{00000006-25E6-D54F-9566-22F078F96900}"/>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99599939758488"/>
          <c:y val="7.777816564789518E-3"/>
          <c:w val="0.68400850658664114"/>
          <c:h val="0.82888803557463064"/>
        </c:manualLayout>
      </c:layout>
      <c:pieChart>
        <c:varyColors val="1"/>
        <c:ser>
          <c:idx val="0"/>
          <c:order val="0"/>
          <c:spPr>
            <a:ln>
              <a:solidFill>
                <a:srgbClr val="FFFFFF"/>
              </a:solidFill>
            </a:ln>
          </c:spPr>
          <c:dPt>
            <c:idx val="0"/>
            <c:bubble3D val="0"/>
            <c:spPr>
              <a:solidFill>
                <a:schemeClr val="tx1"/>
              </a:solidFill>
              <a:ln>
                <a:solidFill>
                  <a:srgbClr val="FFFFFF"/>
                </a:solidFill>
              </a:ln>
              <a:effectLst/>
              <a:scene3d>
                <a:camera prst="orthographicFront"/>
                <a:lightRig rig="threePt" dir="t"/>
              </a:scene3d>
            </c:spPr>
            <c:extLst>
              <c:ext xmlns:c16="http://schemas.microsoft.com/office/drawing/2014/chart" uri="{C3380CC4-5D6E-409C-BE32-E72D297353CC}">
                <c16:uniqueId val="{00000001-353D-AF4B-AFBB-D8A63C4B9309}"/>
              </c:ext>
            </c:extLst>
          </c:dPt>
          <c:dPt>
            <c:idx val="1"/>
            <c:bubble3D val="0"/>
            <c:spPr>
              <a:solidFill>
                <a:schemeClr val="tx1"/>
              </a:solidFill>
              <a:ln>
                <a:solidFill>
                  <a:srgbClr val="FFFFFF"/>
                </a:solidFill>
              </a:ln>
              <a:effectLst/>
              <a:scene3d>
                <a:camera prst="orthographicFront"/>
                <a:lightRig rig="threePt" dir="t"/>
              </a:scene3d>
            </c:spPr>
            <c:extLst>
              <c:ext xmlns:c16="http://schemas.microsoft.com/office/drawing/2014/chart" uri="{C3380CC4-5D6E-409C-BE32-E72D297353CC}">
                <c16:uniqueId val="{00000003-353D-AF4B-AFBB-D8A63C4B9309}"/>
              </c:ext>
            </c:extLst>
          </c:dPt>
          <c:dPt>
            <c:idx val="2"/>
            <c:bubble3D val="0"/>
            <c:spPr>
              <a:solidFill>
                <a:srgbClr val="0E51A3"/>
              </a:solidFill>
              <a:ln>
                <a:solidFill>
                  <a:srgbClr val="FFFFFF"/>
                </a:solidFill>
              </a:ln>
              <a:effectLst/>
              <a:scene3d>
                <a:camera prst="orthographicFront"/>
                <a:lightRig rig="balanced" dir="t">
                  <a:rot lat="0" lon="0" rev="8700000"/>
                </a:lightRig>
              </a:scene3d>
              <a:sp3d>
                <a:bevelT w="190500" h="38100"/>
              </a:sp3d>
            </c:spPr>
            <c:extLst>
              <c:ext xmlns:c16="http://schemas.microsoft.com/office/drawing/2014/chart" uri="{C3380CC4-5D6E-409C-BE32-E72D297353CC}">
                <c16:uniqueId val="{00000005-353D-AF4B-AFBB-D8A63C4B9309}"/>
              </c:ext>
            </c:extLst>
          </c:dPt>
          <c:dLbls>
            <c:delete val="1"/>
          </c:dLbls>
          <c:cat>
            <c:strRef>
              <c:f>Sheet3!$L$2:$L$4</c:f>
              <c:strCache>
                <c:ptCount val="3"/>
                <c:pt idx="0">
                  <c:v>Type A </c:v>
                </c:pt>
                <c:pt idx="1">
                  <c:v>Type B </c:v>
                </c:pt>
                <c:pt idx="2">
                  <c:v>Type C </c:v>
                </c:pt>
              </c:strCache>
            </c:strRef>
          </c:cat>
          <c:val>
            <c:numRef>
              <c:f>Sheet3!$M$2:$M$4</c:f>
              <c:numCache>
                <c:formatCode>0%</c:formatCode>
                <c:ptCount val="3"/>
                <c:pt idx="0">
                  <c:v>0.82</c:v>
                </c:pt>
                <c:pt idx="1">
                  <c:v>0.15</c:v>
                </c:pt>
                <c:pt idx="2">
                  <c:v>0.03</c:v>
                </c:pt>
              </c:numCache>
            </c:numRef>
          </c:val>
          <c:extLst>
            <c:ext xmlns:c16="http://schemas.microsoft.com/office/drawing/2014/chart" uri="{C3380CC4-5D6E-409C-BE32-E72D297353CC}">
              <c16:uniqueId val="{00000006-353D-AF4B-AFBB-D8A63C4B9309}"/>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Lucida Bright" panose="02040602050505020304" pitchFamily="18" charset="77"/>
                <a:ea typeface="+mn-ea"/>
                <a:cs typeface="+mn-cs"/>
              </a:defRPr>
            </a:pPr>
            <a:r>
              <a:rPr lang="en-US"/>
              <a:t>Leading</a:t>
            </a:r>
            <a:r>
              <a:rPr lang="en-US" baseline="0"/>
              <a:t> Display Locations</a:t>
            </a:r>
            <a:endParaRPr lang="en-US"/>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Lucida Bright" panose="02040602050505020304" pitchFamily="18" charset="77"/>
              <a:ea typeface="+mn-ea"/>
              <a:cs typeface="+mn-cs"/>
            </a:defRPr>
          </a:pPr>
          <a:endParaRPr lang="en-US"/>
        </a:p>
      </c:txPr>
    </c:title>
    <c:autoTitleDeleted val="0"/>
    <c:plotArea>
      <c:layout>
        <c:manualLayout>
          <c:layoutTarget val="inner"/>
          <c:xMode val="edge"/>
          <c:yMode val="edge"/>
          <c:x val="0.12177684900824347"/>
          <c:y val="7.9109997613934627E-2"/>
          <c:w val="0.84889763779527561"/>
          <c:h val="0.84513242662848964"/>
        </c:manualLayout>
      </c:layout>
      <c:barChart>
        <c:barDir val="col"/>
        <c:grouping val="clustered"/>
        <c:varyColors val="0"/>
        <c:ser>
          <c:idx val="0"/>
          <c:order val="0"/>
          <c:tx>
            <c:v>0</c:v>
          </c:tx>
          <c:spPr>
            <a:solidFill>
              <a:srgbClr val="0E51A2"/>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Sheet5!$J$2:$J$6</c:f>
              <c:numCache>
                <c:formatCode>@</c:formatCode>
                <c:ptCount val="5"/>
                <c:pt idx="0">
                  <c:v>0</c:v>
                </c:pt>
                <c:pt idx="1">
                  <c:v>5</c:v>
                </c:pt>
                <c:pt idx="2">
                  <c:v>3</c:v>
                </c:pt>
                <c:pt idx="3">
                  <c:v>1</c:v>
                </c:pt>
                <c:pt idx="4">
                  <c:v>7</c:v>
                </c:pt>
              </c:numCache>
            </c:numRef>
          </c:cat>
          <c:val>
            <c:numRef>
              <c:f>Sheet5!$K$2</c:f>
              <c:numCache>
                <c:formatCode>0.000%</c:formatCode>
                <c:ptCount val="1"/>
                <c:pt idx="0">
                  <c:v>0.148864</c:v>
                </c:pt>
              </c:numCache>
            </c:numRef>
          </c:val>
          <c:extLst>
            <c:ext xmlns:c16="http://schemas.microsoft.com/office/drawing/2014/chart" uri="{C3380CC4-5D6E-409C-BE32-E72D297353CC}">
              <c16:uniqueId val="{00000000-6E23-1340-99A6-00D45B12EC56}"/>
            </c:ext>
          </c:extLst>
        </c:ser>
        <c:ser>
          <c:idx val="1"/>
          <c:order val="1"/>
          <c:tx>
            <c:v>5</c:v>
          </c:tx>
          <c:spPr>
            <a:solidFill>
              <a:srgbClr val="507CBA"/>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Sheet5!$J$2:$J$6</c:f>
              <c:numCache>
                <c:formatCode>@</c:formatCode>
                <c:ptCount val="5"/>
                <c:pt idx="0">
                  <c:v>0</c:v>
                </c:pt>
                <c:pt idx="1">
                  <c:v>5</c:v>
                </c:pt>
                <c:pt idx="2">
                  <c:v>3</c:v>
                </c:pt>
                <c:pt idx="3">
                  <c:v>1</c:v>
                </c:pt>
                <c:pt idx="4">
                  <c:v>7</c:v>
                </c:pt>
              </c:numCache>
            </c:numRef>
          </c:cat>
          <c:val>
            <c:numRef>
              <c:f>Sheet5!$K$3</c:f>
              <c:numCache>
                <c:formatCode>0.000%</c:formatCode>
                <c:ptCount val="1"/>
                <c:pt idx="0">
                  <c:v>0.139596</c:v>
                </c:pt>
              </c:numCache>
            </c:numRef>
          </c:val>
          <c:extLst>
            <c:ext xmlns:c16="http://schemas.microsoft.com/office/drawing/2014/chart" uri="{C3380CC4-5D6E-409C-BE32-E72D297353CC}">
              <c16:uniqueId val="{00000001-6E23-1340-99A6-00D45B12EC56}"/>
            </c:ext>
          </c:extLst>
        </c:ser>
        <c:ser>
          <c:idx val="2"/>
          <c:order val="2"/>
          <c:tx>
            <c:v>3</c:v>
          </c:tx>
          <c:spPr>
            <a:solidFill>
              <a:srgbClr val="0C2741"/>
            </a:solidFill>
            <a:ln>
              <a:noFill/>
            </a:ln>
            <a:effectLst/>
          </c:spPr>
          <c:invertIfNegative val="0"/>
          <c:dPt>
            <c:idx val="0"/>
            <c:invertIfNegative val="0"/>
            <c:bubble3D val="0"/>
            <c:extLst>
              <c:ext xmlns:c16="http://schemas.microsoft.com/office/drawing/2014/chart" uri="{C3380CC4-5D6E-409C-BE32-E72D297353CC}">
                <c16:uniqueId val="{00000002-6E23-1340-99A6-00D45B12EC56}"/>
              </c:ext>
            </c:extLst>
          </c:dPt>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Sheet5!$J$2:$J$6</c:f>
              <c:numCache>
                <c:formatCode>@</c:formatCode>
                <c:ptCount val="5"/>
                <c:pt idx="0">
                  <c:v>0</c:v>
                </c:pt>
                <c:pt idx="1">
                  <c:v>5</c:v>
                </c:pt>
                <c:pt idx="2">
                  <c:v>3</c:v>
                </c:pt>
                <c:pt idx="3">
                  <c:v>1</c:v>
                </c:pt>
                <c:pt idx="4">
                  <c:v>7</c:v>
                </c:pt>
              </c:numCache>
            </c:numRef>
          </c:cat>
          <c:val>
            <c:numRef>
              <c:f>Sheet5!$K$4</c:f>
              <c:numCache>
                <c:formatCode>0.000%</c:formatCode>
                <c:ptCount val="1"/>
                <c:pt idx="0">
                  <c:v>0.125721</c:v>
                </c:pt>
              </c:numCache>
            </c:numRef>
          </c:val>
          <c:extLst>
            <c:ext xmlns:c16="http://schemas.microsoft.com/office/drawing/2014/chart" uri="{C3380CC4-5D6E-409C-BE32-E72D297353CC}">
              <c16:uniqueId val="{00000003-6E23-1340-99A6-00D45B12EC56}"/>
            </c:ext>
          </c:extLst>
        </c:ser>
        <c:ser>
          <c:idx val="3"/>
          <c:order val="3"/>
          <c:tx>
            <c:v>1</c:v>
          </c:tx>
          <c:spPr>
            <a:solidFill>
              <a:srgbClr val="8AA6D1"/>
            </a:solidFill>
            <a:ln>
              <a:noFill/>
            </a:ln>
            <a:effectLst/>
          </c:spPr>
          <c:invertIfNegative val="0"/>
          <c:dPt>
            <c:idx val="0"/>
            <c:invertIfNegative val="0"/>
            <c:bubble3D val="0"/>
            <c:extLst>
              <c:ext xmlns:c16="http://schemas.microsoft.com/office/drawing/2014/chart" uri="{C3380CC4-5D6E-409C-BE32-E72D297353CC}">
                <c16:uniqueId val="{00000004-6E23-1340-99A6-00D45B12EC56}"/>
              </c:ext>
            </c:extLst>
          </c:dPt>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Sheet5!$J$2:$J$6</c:f>
              <c:numCache>
                <c:formatCode>@</c:formatCode>
                <c:ptCount val="5"/>
                <c:pt idx="0">
                  <c:v>0</c:v>
                </c:pt>
                <c:pt idx="1">
                  <c:v>5</c:v>
                </c:pt>
                <c:pt idx="2">
                  <c:v>3</c:v>
                </c:pt>
                <c:pt idx="3">
                  <c:v>1</c:v>
                </c:pt>
                <c:pt idx="4">
                  <c:v>7</c:v>
                </c:pt>
              </c:numCache>
            </c:numRef>
          </c:cat>
          <c:val>
            <c:numRef>
              <c:f>Sheet5!$K$5</c:f>
              <c:numCache>
                <c:formatCode>0.000%</c:formatCode>
                <c:ptCount val="1"/>
                <c:pt idx="0">
                  <c:v>0.118591</c:v>
                </c:pt>
              </c:numCache>
            </c:numRef>
          </c:val>
          <c:extLst>
            <c:ext xmlns:c16="http://schemas.microsoft.com/office/drawing/2014/chart" uri="{C3380CC4-5D6E-409C-BE32-E72D297353CC}">
              <c16:uniqueId val="{00000005-6E23-1340-99A6-00D45B12EC56}"/>
            </c:ext>
          </c:extLst>
        </c:ser>
        <c:ser>
          <c:idx val="4"/>
          <c:order val="4"/>
          <c:tx>
            <c:v>7</c:v>
          </c:tx>
          <c:spPr>
            <a:solidFill>
              <a:srgbClr val="495B6F"/>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5"/>
                </a:solidFill>
                <a:prstDash val="sysDot"/>
              </a:ln>
              <a:effectLst/>
            </c:spPr>
            <c:trendlineType val="linear"/>
            <c:dispRSqr val="0"/>
            <c:dispEq val="0"/>
          </c:trendline>
          <c:cat>
            <c:numRef>
              <c:f>Sheet5!$J$2:$J$6</c:f>
              <c:numCache>
                <c:formatCode>@</c:formatCode>
                <c:ptCount val="5"/>
                <c:pt idx="0">
                  <c:v>0</c:v>
                </c:pt>
                <c:pt idx="1">
                  <c:v>5</c:v>
                </c:pt>
                <c:pt idx="2">
                  <c:v>3</c:v>
                </c:pt>
                <c:pt idx="3">
                  <c:v>1</c:v>
                </c:pt>
                <c:pt idx="4">
                  <c:v>7</c:v>
                </c:pt>
              </c:numCache>
            </c:numRef>
          </c:cat>
          <c:val>
            <c:numRef>
              <c:f>Sheet5!$K$6</c:f>
              <c:numCache>
                <c:formatCode>0.000%</c:formatCode>
                <c:ptCount val="1"/>
                <c:pt idx="0">
                  <c:v>0.108209</c:v>
                </c:pt>
              </c:numCache>
            </c:numRef>
          </c:val>
          <c:extLst>
            <c:ext xmlns:c16="http://schemas.microsoft.com/office/drawing/2014/chart" uri="{C3380CC4-5D6E-409C-BE32-E72D297353CC}">
              <c16:uniqueId val="{00000007-6E23-1340-99A6-00D45B12EC56}"/>
            </c:ext>
          </c:extLst>
        </c:ser>
        <c:dLbls>
          <c:dLblPos val="outEnd"/>
          <c:showLegendKey val="0"/>
          <c:showVal val="1"/>
          <c:showCatName val="0"/>
          <c:showSerName val="0"/>
          <c:showPercent val="0"/>
          <c:showBubbleSize val="0"/>
        </c:dLbls>
        <c:gapWidth val="219"/>
        <c:overlap val="-27"/>
        <c:axId val="1809619519"/>
        <c:axId val="1809613247"/>
      </c:barChart>
      <c:catAx>
        <c:axId val="1809619519"/>
        <c:scaling>
          <c:orientation val="minMax"/>
        </c:scaling>
        <c:delete val="1"/>
        <c:axPos val="b"/>
        <c:numFmt formatCode="@" sourceLinked="1"/>
        <c:majorTickMark val="none"/>
        <c:minorTickMark val="none"/>
        <c:tickLblPos val="nextTo"/>
        <c:crossAx val="1809613247"/>
        <c:crosses val="autoZero"/>
        <c:auto val="1"/>
        <c:lblAlgn val="ctr"/>
        <c:lblOffset val="100"/>
        <c:noMultiLvlLbl val="0"/>
      </c:catAx>
      <c:valAx>
        <c:axId val="1809613247"/>
        <c:scaling>
          <c:orientation val="minMax"/>
        </c:scaling>
        <c:delete val="0"/>
        <c:axPos val="l"/>
        <c:majorGridlines>
          <c:spPr>
            <a:ln w="9525" cap="flat" cmpd="sng" algn="ctr">
              <a:noFill/>
              <a:round/>
            </a:ln>
            <a:effectLst/>
          </c:spPr>
        </c:majorGridlines>
        <c:minorGridlines>
          <c:spPr>
            <a:ln w="9525" cap="flat" cmpd="sng" algn="ctr">
              <a:noFill/>
              <a:round/>
            </a:ln>
            <a:effectLst/>
          </c:spPr>
        </c:minorGridlines>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Lucida Bright" panose="02040602050505020304" pitchFamily="18" charset="77"/>
                <a:ea typeface="+mn-ea"/>
                <a:cs typeface="+mn-cs"/>
              </a:defRPr>
            </a:pPr>
            <a:endParaRPr lang="en-US"/>
          </a:p>
        </c:txPr>
        <c:crossAx val="1809619519"/>
        <c:crosses val="autoZero"/>
        <c:crossBetween val="between"/>
      </c:valAx>
      <c:spPr>
        <a:noFill/>
        <a:ln w="12700">
          <a:noFill/>
        </a:ln>
        <a:effectLst/>
      </c:spPr>
    </c:plotArea>
    <c:plotVisOnly val="1"/>
    <c:dispBlanksAs val="gap"/>
    <c:showDLblsOverMax val="0"/>
  </c:chart>
  <c:spPr>
    <a:noFill/>
    <a:ln>
      <a:noFill/>
    </a:ln>
    <a:effectLst/>
  </c:spPr>
  <c:txPr>
    <a:bodyPr/>
    <a:lstStyle/>
    <a:p>
      <a:pPr>
        <a:defRPr sz="700">
          <a:latin typeface="Lucida Bright" panose="02040602050505020304" pitchFamily="18" charset="77"/>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Lucida Bright" panose="02040602050505020304" pitchFamily="18" charset="77"/>
                <a:ea typeface="+mn-ea"/>
                <a:cs typeface="+mn-cs"/>
              </a:defRPr>
            </a:pPr>
            <a:r>
              <a:rPr lang="en-US"/>
              <a:t>Leading Mailer Types </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Lucida Bright" panose="02040602050505020304" pitchFamily="18" charset="77"/>
              <a:ea typeface="+mn-ea"/>
              <a:cs typeface="+mn-cs"/>
            </a:defRPr>
          </a:pPr>
          <a:endParaRPr lang="en-US"/>
        </a:p>
      </c:txPr>
    </c:title>
    <c:autoTitleDeleted val="0"/>
    <c:plotArea>
      <c:layout/>
      <c:barChart>
        <c:barDir val="col"/>
        <c:grouping val="clustered"/>
        <c:varyColors val="0"/>
        <c:ser>
          <c:idx val="0"/>
          <c:order val="0"/>
          <c:tx>
            <c:strRef>
              <c:f>Sheet5!$N$2</c:f>
              <c:strCache>
                <c:ptCount val="1"/>
                <c:pt idx="0">
                  <c:v>L</c:v>
                </c:pt>
              </c:strCache>
            </c:strRef>
          </c:tx>
          <c:spPr>
            <a:solidFill>
              <a:srgbClr val="0E51A2"/>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Sheet5!$O$1</c:f>
              <c:strCache>
                <c:ptCount val="1"/>
                <c:pt idx="0">
                  <c:v>% Increase </c:v>
                </c:pt>
              </c:strCache>
            </c:strRef>
          </c:cat>
          <c:val>
            <c:numRef>
              <c:f>Sheet5!$O$2</c:f>
              <c:numCache>
                <c:formatCode>0.000%</c:formatCode>
                <c:ptCount val="1"/>
                <c:pt idx="0">
                  <c:v>0.18180299999999999</c:v>
                </c:pt>
              </c:numCache>
            </c:numRef>
          </c:val>
          <c:extLst>
            <c:ext xmlns:c16="http://schemas.microsoft.com/office/drawing/2014/chart" uri="{C3380CC4-5D6E-409C-BE32-E72D297353CC}">
              <c16:uniqueId val="{00000000-9C2D-6945-B0FC-8519F75A2FD3}"/>
            </c:ext>
          </c:extLst>
        </c:ser>
        <c:ser>
          <c:idx val="1"/>
          <c:order val="1"/>
          <c:tx>
            <c:strRef>
              <c:f>Sheet5!$N$3</c:f>
              <c:strCache>
                <c:ptCount val="1"/>
                <c:pt idx="0">
                  <c:v>D</c:v>
                </c:pt>
              </c:strCache>
            </c:strRef>
          </c:tx>
          <c:spPr>
            <a:solidFill>
              <a:srgbClr val="507CBA"/>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Sheet5!$O$1</c:f>
              <c:strCache>
                <c:ptCount val="1"/>
                <c:pt idx="0">
                  <c:v>% Increase </c:v>
                </c:pt>
              </c:strCache>
            </c:strRef>
          </c:cat>
          <c:val>
            <c:numRef>
              <c:f>Sheet5!$O$3</c:f>
              <c:numCache>
                <c:formatCode>0.000%</c:formatCode>
                <c:ptCount val="1"/>
                <c:pt idx="0">
                  <c:v>0.163051</c:v>
                </c:pt>
              </c:numCache>
            </c:numRef>
          </c:val>
          <c:extLst>
            <c:ext xmlns:c16="http://schemas.microsoft.com/office/drawing/2014/chart" uri="{C3380CC4-5D6E-409C-BE32-E72D297353CC}">
              <c16:uniqueId val="{00000001-9C2D-6945-B0FC-8519F75A2FD3}"/>
            </c:ext>
          </c:extLst>
        </c:ser>
        <c:ser>
          <c:idx val="2"/>
          <c:order val="2"/>
          <c:tx>
            <c:strRef>
              <c:f>Sheet5!$N$4</c:f>
              <c:strCache>
                <c:ptCount val="1"/>
                <c:pt idx="0">
                  <c:v>H</c:v>
                </c:pt>
              </c:strCache>
            </c:strRef>
          </c:tx>
          <c:spPr>
            <a:solidFill>
              <a:schemeClr val="accent3"/>
            </a:solidFill>
            <a:ln>
              <a:noFill/>
            </a:ln>
            <a:effectLst/>
          </c:spPr>
          <c:invertIfNegative val="0"/>
          <c:dPt>
            <c:idx val="0"/>
            <c:invertIfNegative val="0"/>
            <c:bubble3D val="0"/>
            <c:spPr>
              <a:solidFill>
                <a:srgbClr val="0C2741"/>
              </a:solidFill>
              <a:ln>
                <a:noFill/>
              </a:ln>
              <a:effectLst/>
            </c:spPr>
            <c:extLst>
              <c:ext xmlns:c16="http://schemas.microsoft.com/office/drawing/2014/chart" uri="{C3380CC4-5D6E-409C-BE32-E72D297353CC}">
                <c16:uniqueId val="{00000000-AACE-074B-9E48-39D1F70079D9}"/>
              </c:ext>
            </c:extLst>
          </c:dPt>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Sheet5!$O$1</c:f>
              <c:strCache>
                <c:ptCount val="1"/>
                <c:pt idx="0">
                  <c:v>% Increase </c:v>
                </c:pt>
              </c:strCache>
            </c:strRef>
          </c:cat>
          <c:val>
            <c:numRef>
              <c:f>Sheet5!$O$4</c:f>
              <c:numCache>
                <c:formatCode>0.000%</c:formatCode>
                <c:ptCount val="1"/>
                <c:pt idx="0">
                  <c:v>0.12942100000000001</c:v>
                </c:pt>
              </c:numCache>
            </c:numRef>
          </c:val>
          <c:extLst>
            <c:ext xmlns:c16="http://schemas.microsoft.com/office/drawing/2014/chart" uri="{C3380CC4-5D6E-409C-BE32-E72D297353CC}">
              <c16:uniqueId val="{00000002-9C2D-6945-B0FC-8519F75A2FD3}"/>
            </c:ext>
          </c:extLst>
        </c:ser>
        <c:ser>
          <c:idx val="3"/>
          <c:order val="3"/>
          <c:tx>
            <c:strRef>
              <c:f>Sheet5!$N$5</c:f>
              <c:strCache>
                <c:ptCount val="1"/>
                <c:pt idx="0">
                  <c:v>C</c:v>
                </c:pt>
              </c:strCache>
            </c:strRef>
          </c:tx>
          <c:spPr>
            <a:solidFill>
              <a:srgbClr val="8AA6D1"/>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Sheet5!$O$1</c:f>
              <c:strCache>
                <c:ptCount val="1"/>
                <c:pt idx="0">
                  <c:v>% Increase </c:v>
                </c:pt>
              </c:strCache>
            </c:strRef>
          </c:cat>
          <c:val>
            <c:numRef>
              <c:f>Sheet5!$O$5</c:f>
              <c:numCache>
                <c:formatCode>0.000%</c:formatCode>
                <c:ptCount val="1"/>
                <c:pt idx="0">
                  <c:v>0.10029299999999999</c:v>
                </c:pt>
              </c:numCache>
            </c:numRef>
          </c:val>
          <c:extLst>
            <c:ext xmlns:c16="http://schemas.microsoft.com/office/drawing/2014/chart" uri="{C3380CC4-5D6E-409C-BE32-E72D297353CC}">
              <c16:uniqueId val="{00000003-9C2D-6945-B0FC-8519F75A2FD3}"/>
            </c:ext>
          </c:extLst>
        </c:ser>
        <c:ser>
          <c:idx val="4"/>
          <c:order val="4"/>
          <c:tx>
            <c:strRef>
              <c:f>Sheet5!$N$6</c:f>
              <c:strCache>
                <c:ptCount val="1"/>
                <c:pt idx="0">
                  <c:v>J</c:v>
                </c:pt>
              </c:strCache>
            </c:strRef>
          </c:tx>
          <c:spPr>
            <a:solidFill>
              <a:srgbClr val="495B6F"/>
            </a:solidFill>
            <a:ln>
              <a:noFill/>
            </a:ln>
            <a:effectLst/>
          </c:spPr>
          <c:invertIfNegative val="0"/>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Lucida Bright" panose="02040602050505020304" pitchFamily="18"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Sheet5!$O$1</c:f>
              <c:strCache>
                <c:ptCount val="1"/>
                <c:pt idx="0">
                  <c:v>% Increase </c:v>
                </c:pt>
              </c:strCache>
            </c:strRef>
          </c:cat>
          <c:val>
            <c:numRef>
              <c:f>Sheet5!$O$6</c:f>
              <c:numCache>
                <c:formatCode>0.000%</c:formatCode>
                <c:ptCount val="1"/>
                <c:pt idx="0">
                  <c:v>8.8033E-2</c:v>
                </c:pt>
              </c:numCache>
            </c:numRef>
          </c:val>
          <c:extLst>
            <c:ext xmlns:c16="http://schemas.microsoft.com/office/drawing/2014/chart" uri="{C3380CC4-5D6E-409C-BE32-E72D297353CC}">
              <c16:uniqueId val="{00000004-9C2D-6945-B0FC-8519F75A2FD3}"/>
            </c:ext>
          </c:extLst>
        </c:ser>
        <c:dLbls>
          <c:dLblPos val="outEnd"/>
          <c:showLegendKey val="0"/>
          <c:showVal val="1"/>
          <c:showCatName val="0"/>
          <c:showSerName val="0"/>
          <c:showPercent val="0"/>
          <c:showBubbleSize val="0"/>
        </c:dLbls>
        <c:gapWidth val="92"/>
        <c:overlap val="-27"/>
        <c:axId val="1834859839"/>
        <c:axId val="1809587647"/>
      </c:barChart>
      <c:catAx>
        <c:axId val="1834859839"/>
        <c:scaling>
          <c:orientation val="minMax"/>
        </c:scaling>
        <c:delete val="1"/>
        <c:axPos val="b"/>
        <c:numFmt formatCode="General" sourceLinked="1"/>
        <c:majorTickMark val="none"/>
        <c:minorTickMark val="none"/>
        <c:tickLblPos val="nextTo"/>
        <c:crossAx val="1809587647"/>
        <c:crosses val="autoZero"/>
        <c:auto val="1"/>
        <c:lblAlgn val="ctr"/>
        <c:lblOffset val="100"/>
        <c:noMultiLvlLbl val="0"/>
      </c:catAx>
      <c:valAx>
        <c:axId val="1809587647"/>
        <c:scaling>
          <c:orientation val="minMax"/>
        </c:scaling>
        <c:delete val="0"/>
        <c:axPos val="l"/>
        <c:majorGridlines>
          <c:spPr>
            <a:ln w="9525" cap="flat" cmpd="sng" algn="ctr">
              <a:noFill/>
              <a:round/>
            </a:ln>
            <a:effectLst/>
          </c:spPr>
        </c:majorGridlines>
        <c:minorGridlines>
          <c:spPr>
            <a:ln w="9525" cap="flat" cmpd="sng" algn="ctr">
              <a:noFill/>
              <a:round/>
            </a:ln>
            <a:effectLst/>
          </c:spPr>
        </c:minorGridlines>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Lucida Bright" panose="02040602050505020304" pitchFamily="18" charset="77"/>
                <a:ea typeface="+mn-ea"/>
                <a:cs typeface="+mn-cs"/>
              </a:defRPr>
            </a:pPr>
            <a:endParaRPr lang="en-US"/>
          </a:p>
        </c:txPr>
        <c:crossAx val="18348598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latin typeface="Lucida Bright" panose="02040602050505020304" pitchFamily="18" charset="77"/>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Lucida Bright" panose="02040602050505020304" pitchFamily="18" charset="77"/>
                <a:ea typeface="+mn-ea"/>
                <a:cs typeface="+mn-cs"/>
              </a:defRPr>
            </a:pPr>
            <a:r>
              <a:rPr lang="en-US"/>
              <a:t>Coupons Utilized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Lucida Bright" panose="02040602050505020304" pitchFamily="18" charset="77"/>
              <a:ea typeface="+mn-ea"/>
              <a:cs typeface="+mn-cs"/>
            </a:defRPr>
          </a:pPr>
          <a:endParaRPr lang="en-US"/>
        </a:p>
      </c:txPr>
    </c:title>
    <c:autoTitleDeleted val="0"/>
    <c:plotArea>
      <c:layout/>
      <c:barChart>
        <c:barDir val="col"/>
        <c:grouping val="clustered"/>
        <c:varyColors val="0"/>
        <c:ser>
          <c:idx val="0"/>
          <c:order val="0"/>
          <c:tx>
            <c:strRef>
              <c:f>Sheet2!$H$1</c:f>
              <c:strCache>
                <c:ptCount val="1"/>
                <c:pt idx="0">
                  <c:v>USED</c:v>
                </c:pt>
              </c:strCache>
            </c:strRef>
          </c:tx>
          <c:spPr>
            <a:solidFill>
              <a:schemeClr val="accent1"/>
            </a:solidFill>
            <a:ln>
              <a:noFill/>
            </a:ln>
            <a:effectLst/>
          </c:spPr>
          <c:invertIfNegative val="0"/>
          <c:cat>
            <c:strRef>
              <c:f>Sheet2!$G$2:$G$28</c:f>
              <c:strCache>
                <c:ptCount val="27"/>
                <c:pt idx="0">
                  <c:v> B</c:v>
                </c:pt>
                <c:pt idx="1">
                  <c:v> B</c:v>
                </c:pt>
                <c:pt idx="2">
                  <c:v> C</c:v>
                </c:pt>
                <c:pt idx="3">
                  <c:v> B</c:v>
                </c:pt>
                <c:pt idx="4">
                  <c:v> B</c:v>
                </c:pt>
                <c:pt idx="5">
                  <c:v> C</c:v>
                </c:pt>
                <c:pt idx="6">
                  <c:v> B</c:v>
                </c:pt>
                <c:pt idx="7">
                  <c:v> A</c:v>
                </c:pt>
                <c:pt idx="8">
                  <c:v> B</c:v>
                </c:pt>
                <c:pt idx="9">
                  <c:v> B</c:v>
                </c:pt>
                <c:pt idx="10">
                  <c:v> B</c:v>
                </c:pt>
                <c:pt idx="11">
                  <c:v> B</c:v>
                </c:pt>
                <c:pt idx="12">
                  <c:v> A</c:v>
                </c:pt>
                <c:pt idx="13">
                  <c:v> C</c:v>
                </c:pt>
                <c:pt idx="14">
                  <c:v> C</c:v>
                </c:pt>
                <c:pt idx="15">
                  <c:v> B</c:v>
                </c:pt>
                <c:pt idx="16">
                  <c:v> B</c:v>
                </c:pt>
                <c:pt idx="17">
                  <c:v> A</c:v>
                </c:pt>
                <c:pt idx="18">
                  <c:v> B</c:v>
                </c:pt>
                <c:pt idx="19">
                  <c:v> C</c:v>
                </c:pt>
                <c:pt idx="20">
                  <c:v> B</c:v>
                </c:pt>
                <c:pt idx="21">
                  <c:v> B</c:v>
                </c:pt>
                <c:pt idx="22">
                  <c:v> B</c:v>
                </c:pt>
                <c:pt idx="23">
                  <c:v> C</c:v>
                </c:pt>
                <c:pt idx="24">
                  <c:v> B</c:v>
                </c:pt>
                <c:pt idx="25">
                  <c:v> B</c:v>
                </c:pt>
                <c:pt idx="26">
                  <c:v> A</c:v>
                </c:pt>
              </c:strCache>
            </c:strRef>
          </c:cat>
          <c:val>
            <c:numRef>
              <c:f>Sheet2!$H$2:$H$28</c:f>
              <c:numCache>
                <c:formatCode>General</c:formatCode>
                <c:ptCount val="27"/>
                <c:pt idx="0">
                  <c:v>1</c:v>
                </c:pt>
                <c:pt idx="1">
                  <c:v>5</c:v>
                </c:pt>
                <c:pt idx="2">
                  <c:v>2</c:v>
                </c:pt>
                <c:pt idx="3">
                  <c:v>11</c:v>
                </c:pt>
                <c:pt idx="4">
                  <c:v>13</c:v>
                </c:pt>
                <c:pt idx="5">
                  <c:v>1</c:v>
                </c:pt>
                <c:pt idx="6">
                  <c:v>7</c:v>
                </c:pt>
                <c:pt idx="7">
                  <c:v>372</c:v>
                </c:pt>
                <c:pt idx="8">
                  <c:v>43</c:v>
                </c:pt>
                <c:pt idx="9">
                  <c:v>15</c:v>
                </c:pt>
                <c:pt idx="10">
                  <c:v>8</c:v>
                </c:pt>
                <c:pt idx="11">
                  <c:v>26</c:v>
                </c:pt>
                <c:pt idx="12">
                  <c:v>629</c:v>
                </c:pt>
                <c:pt idx="13">
                  <c:v>34</c:v>
                </c:pt>
                <c:pt idx="14">
                  <c:v>2</c:v>
                </c:pt>
                <c:pt idx="15">
                  <c:v>43</c:v>
                </c:pt>
                <c:pt idx="16">
                  <c:v>45</c:v>
                </c:pt>
                <c:pt idx="17">
                  <c:v>653</c:v>
                </c:pt>
                <c:pt idx="18">
                  <c:v>29</c:v>
                </c:pt>
                <c:pt idx="19">
                  <c:v>22</c:v>
                </c:pt>
                <c:pt idx="20">
                  <c:v>3</c:v>
                </c:pt>
                <c:pt idx="21">
                  <c:v>43</c:v>
                </c:pt>
                <c:pt idx="22">
                  <c:v>8</c:v>
                </c:pt>
                <c:pt idx="23">
                  <c:v>0</c:v>
                </c:pt>
                <c:pt idx="24">
                  <c:v>1</c:v>
                </c:pt>
                <c:pt idx="25">
                  <c:v>22</c:v>
                </c:pt>
                <c:pt idx="26">
                  <c:v>64</c:v>
                </c:pt>
              </c:numCache>
            </c:numRef>
          </c:val>
          <c:extLst>
            <c:ext xmlns:c16="http://schemas.microsoft.com/office/drawing/2014/chart" uri="{C3380CC4-5D6E-409C-BE32-E72D297353CC}">
              <c16:uniqueId val="{00000000-DB2E-3740-A040-C6844D2EE69B}"/>
            </c:ext>
          </c:extLst>
        </c:ser>
        <c:dLbls>
          <c:showLegendKey val="0"/>
          <c:showVal val="0"/>
          <c:showCatName val="0"/>
          <c:showSerName val="0"/>
          <c:showPercent val="0"/>
          <c:showBubbleSize val="0"/>
        </c:dLbls>
        <c:gapWidth val="219"/>
        <c:overlap val="-27"/>
        <c:axId val="929423680"/>
        <c:axId val="929429504"/>
      </c:barChart>
      <c:catAx>
        <c:axId val="929423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Lucida Bright" panose="02040602050505020304" pitchFamily="18" charset="77"/>
                <a:ea typeface="+mn-ea"/>
                <a:cs typeface="+mn-cs"/>
              </a:defRPr>
            </a:pPr>
            <a:endParaRPr lang="en-US"/>
          </a:p>
        </c:txPr>
        <c:crossAx val="929429504"/>
        <c:crosses val="autoZero"/>
        <c:auto val="1"/>
        <c:lblAlgn val="ctr"/>
        <c:lblOffset val="100"/>
        <c:noMultiLvlLbl val="0"/>
      </c:catAx>
      <c:valAx>
        <c:axId val="929429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Lucida Bright" panose="02040602050505020304" pitchFamily="18" charset="77"/>
                <a:ea typeface="+mn-ea"/>
                <a:cs typeface="+mn-cs"/>
              </a:defRPr>
            </a:pPr>
            <a:endParaRPr lang="en-US"/>
          </a:p>
        </c:txPr>
        <c:crossAx val="92942368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Lucida Bright" panose="02040602050505020304" pitchFamily="18"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9297C-2045-9D48-9B40-B0FB1E302791}" type="doc">
      <dgm:prSet loTypeId="urn:microsoft.com/office/officeart/2005/8/layout/target3" loCatId="" qsTypeId="urn:microsoft.com/office/officeart/2005/8/quickstyle/simple1" qsCatId="simple" csTypeId="urn:microsoft.com/office/officeart/2005/8/colors/accent1_2" csCatId="accent1" phldr="1"/>
      <dgm:spPr/>
      <dgm:t>
        <a:bodyPr/>
        <a:lstStyle/>
        <a:p>
          <a:endParaRPr lang="en-US"/>
        </a:p>
      </dgm:t>
    </dgm:pt>
    <dgm:pt modelId="{83447CB3-4865-B14B-B9FB-A851A7C1A700}">
      <dgm:prSet phldrT="[Text]" custT="1"/>
      <dgm:spPr>
        <a:solidFill>
          <a:srgbClr val="E8E8E8"/>
        </a:solidFill>
        <a:ln>
          <a:solidFill>
            <a:schemeClr val="accent1"/>
          </a:solidFill>
        </a:ln>
      </dgm:spPr>
      <dgm:t>
        <a:bodyPr/>
        <a:lstStyle/>
        <a:p>
          <a:r>
            <a:rPr lang="en-US" sz="1800">
              <a:latin typeface="Lucida Bright" panose="02040602050505020304" pitchFamily="18" charset="77"/>
            </a:rPr>
            <a:t>27 Campaigns </a:t>
          </a:r>
        </a:p>
      </dgm:t>
    </dgm:pt>
    <dgm:pt modelId="{2D8106CA-DA12-6F4F-A579-A0A47F0A5461}" type="parTrans" cxnId="{46497AB0-F1D0-874B-ACF4-616954E422ED}">
      <dgm:prSet/>
      <dgm:spPr/>
      <dgm:t>
        <a:bodyPr/>
        <a:lstStyle/>
        <a:p>
          <a:endParaRPr lang="en-US" sz="1800">
            <a:latin typeface="Lucida Bright" panose="02040602050505020304" pitchFamily="18" charset="77"/>
          </a:endParaRPr>
        </a:p>
      </dgm:t>
    </dgm:pt>
    <dgm:pt modelId="{EBDFBFC1-F9A5-C64F-91E7-2E2F516D03FB}" type="sibTrans" cxnId="{46497AB0-F1D0-874B-ACF4-616954E422ED}">
      <dgm:prSet/>
      <dgm:spPr/>
      <dgm:t>
        <a:bodyPr/>
        <a:lstStyle/>
        <a:p>
          <a:endParaRPr lang="en-US" sz="1800">
            <a:latin typeface="Lucida Bright" panose="02040602050505020304" pitchFamily="18" charset="77"/>
          </a:endParaRPr>
        </a:p>
      </dgm:t>
    </dgm:pt>
    <dgm:pt modelId="{02630E3B-68E9-5B47-BCFF-9E8675DC45AF}">
      <dgm:prSet phldrT="[Text]" custT="1"/>
      <dgm:spPr>
        <a:solidFill>
          <a:schemeClr val="tx1">
            <a:alpha val="90000"/>
          </a:schemeClr>
        </a:solidFill>
        <a:ln>
          <a:solidFill>
            <a:schemeClr val="accent2"/>
          </a:solidFill>
        </a:ln>
      </dgm:spPr>
      <dgm:t>
        <a:bodyPr/>
        <a:lstStyle/>
        <a:p>
          <a:r>
            <a:rPr lang="en-US" sz="1800">
              <a:latin typeface="Lucida Bright" panose="02040602050505020304" pitchFamily="18" charset="77"/>
            </a:rPr>
            <a:t>116,204 Coupons Sent </a:t>
          </a:r>
        </a:p>
      </dgm:t>
    </dgm:pt>
    <dgm:pt modelId="{3319836B-FC8F-D541-A8F5-F4B45D38A52D}" type="parTrans" cxnId="{CE1151C5-CD61-E647-A875-62FB58076DD2}">
      <dgm:prSet/>
      <dgm:spPr/>
      <dgm:t>
        <a:bodyPr/>
        <a:lstStyle/>
        <a:p>
          <a:endParaRPr lang="en-US" sz="1800">
            <a:latin typeface="Lucida Bright" panose="02040602050505020304" pitchFamily="18" charset="77"/>
          </a:endParaRPr>
        </a:p>
      </dgm:t>
    </dgm:pt>
    <dgm:pt modelId="{C3A9A8E5-98B8-324C-8226-F2597843EECC}" type="sibTrans" cxnId="{CE1151C5-CD61-E647-A875-62FB58076DD2}">
      <dgm:prSet/>
      <dgm:spPr/>
      <dgm:t>
        <a:bodyPr/>
        <a:lstStyle/>
        <a:p>
          <a:endParaRPr lang="en-US" sz="1800">
            <a:latin typeface="Lucida Bright" panose="02040602050505020304" pitchFamily="18" charset="77"/>
          </a:endParaRPr>
        </a:p>
      </dgm:t>
    </dgm:pt>
    <dgm:pt modelId="{172301EB-7ED7-F645-9BF6-3BDAD464AE62}">
      <dgm:prSet phldrT="[Text]" custT="1"/>
      <dgm:spPr>
        <a:solidFill>
          <a:schemeClr val="tx1">
            <a:alpha val="90000"/>
          </a:schemeClr>
        </a:solidFill>
        <a:ln>
          <a:solidFill>
            <a:schemeClr val="accent2"/>
          </a:solidFill>
        </a:ln>
      </dgm:spPr>
      <dgm:t>
        <a:bodyPr/>
        <a:lstStyle/>
        <a:p>
          <a:r>
            <a:rPr lang="en-US" sz="1800">
              <a:latin typeface="Lucida Bright" panose="02040602050505020304" pitchFamily="18" charset="77"/>
            </a:rPr>
            <a:t>2,102 Coupons Utilized</a:t>
          </a:r>
        </a:p>
      </dgm:t>
    </dgm:pt>
    <dgm:pt modelId="{F29C7A33-7059-D649-8DBE-A19F2AC87C52}" type="parTrans" cxnId="{90709C81-B51D-B644-BBFB-A39BFAC7221E}">
      <dgm:prSet/>
      <dgm:spPr/>
      <dgm:t>
        <a:bodyPr/>
        <a:lstStyle/>
        <a:p>
          <a:endParaRPr lang="en-US" sz="1800">
            <a:latin typeface="Lucida Bright" panose="02040602050505020304" pitchFamily="18" charset="77"/>
          </a:endParaRPr>
        </a:p>
      </dgm:t>
    </dgm:pt>
    <dgm:pt modelId="{B97EA5CA-E04D-EF4F-995A-AE2142F6CDD3}" type="sibTrans" cxnId="{90709C81-B51D-B644-BBFB-A39BFAC7221E}">
      <dgm:prSet/>
      <dgm:spPr/>
      <dgm:t>
        <a:bodyPr/>
        <a:lstStyle/>
        <a:p>
          <a:endParaRPr lang="en-US" sz="1800">
            <a:latin typeface="Lucida Bright" panose="02040602050505020304" pitchFamily="18" charset="77"/>
          </a:endParaRPr>
        </a:p>
      </dgm:t>
    </dgm:pt>
    <dgm:pt modelId="{EA5FAFB1-6A2C-024D-84FE-850F1CCFB457}" type="pres">
      <dgm:prSet presAssocID="{1309297C-2045-9D48-9B40-B0FB1E302791}" presName="Name0" presStyleCnt="0">
        <dgm:presLayoutVars>
          <dgm:chMax val="7"/>
          <dgm:dir/>
          <dgm:animLvl val="lvl"/>
          <dgm:resizeHandles val="exact"/>
        </dgm:presLayoutVars>
      </dgm:prSet>
      <dgm:spPr/>
    </dgm:pt>
    <dgm:pt modelId="{6D1B7659-E0F0-AB4B-99A0-BFF3300F1C58}" type="pres">
      <dgm:prSet presAssocID="{83447CB3-4865-B14B-B9FB-A851A7C1A700}" presName="circle1" presStyleLbl="node1" presStyleIdx="0" presStyleCnt="3" custScaleY="61330" custLinFactNeighborY="9006"/>
      <dgm:spPr>
        <a:solidFill>
          <a:srgbClr val="0E51A2"/>
        </a:solidFill>
        <a:ln>
          <a:solidFill>
            <a:srgbClr val="0D2841"/>
          </a:solidFill>
        </a:ln>
      </dgm:spPr>
    </dgm:pt>
    <dgm:pt modelId="{5B1E2948-52D5-9844-BE06-31D58F178836}" type="pres">
      <dgm:prSet presAssocID="{83447CB3-4865-B14B-B9FB-A851A7C1A700}" presName="space" presStyleCnt="0"/>
      <dgm:spPr/>
    </dgm:pt>
    <dgm:pt modelId="{493BB62A-B137-9B4D-BEBC-348FF4FC33F2}" type="pres">
      <dgm:prSet presAssocID="{83447CB3-4865-B14B-B9FB-A851A7C1A700}" presName="rect1" presStyleLbl="alignAcc1" presStyleIdx="0" presStyleCnt="3" custScaleY="80000"/>
      <dgm:spPr/>
    </dgm:pt>
    <dgm:pt modelId="{252BC78A-AD5E-EE47-8AC0-4416D3116D4F}" type="pres">
      <dgm:prSet presAssocID="{02630E3B-68E9-5B47-BCFF-9E8675DC45AF}" presName="vertSpace2" presStyleLbl="node1" presStyleIdx="0" presStyleCnt="3"/>
      <dgm:spPr/>
    </dgm:pt>
    <dgm:pt modelId="{1C4EAD51-096A-E142-9CA6-FD3BADD80494}" type="pres">
      <dgm:prSet presAssocID="{02630E3B-68E9-5B47-BCFF-9E8675DC45AF}" presName="circle2" presStyleLbl="node1" presStyleIdx="1" presStyleCnt="3" custScaleX="123133" custScaleY="67109" custLinFactNeighborX="-1978" custLinFactNeighborY="2675"/>
      <dgm:spPr>
        <a:solidFill>
          <a:srgbClr val="507CBA"/>
        </a:solidFill>
        <a:ln>
          <a:solidFill>
            <a:srgbClr val="507CBA"/>
          </a:solidFill>
        </a:ln>
      </dgm:spPr>
    </dgm:pt>
    <dgm:pt modelId="{08161978-8D29-E848-980F-96C6E217956B}" type="pres">
      <dgm:prSet presAssocID="{02630E3B-68E9-5B47-BCFF-9E8675DC45AF}" presName="rect2" presStyleLbl="alignAcc1" presStyleIdx="1" presStyleCnt="3" custScaleY="84616"/>
      <dgm:spPr/>
    </dgm:pt>
    <dgm:pt modelId="{9DA35968-71E7-4B45-A967-304DAC3D5895}" type="pres">
      <dgm:prSet presAssocID="{172301EB-7ED7-F645-9BF6-3BDAD464AE62}" presName="vertSpace3" presStyleLbl="node1" presStyleIdx="1" presStyleCnt="3"/>
      <dgm:spPr/>
    </dgm:pt>
    <dgm:pt modelId="{2A326F70-F9F7-7349-B1E4-F33A972CF9DE}" type="pres">
      <dgm:prSet presAssocID="{172301EB-7ED7-F645-9BF6-3BDAD464AE62}" presName="circle3" presStyleLbl="node1" presStyleIdx="2" presStyleCnt="3" custScaleX="170661" custScaleY="115319" custLinFactNeighborX="-3326" custLinFactNeighborY="-10370"/>
      <dgm:spPr>
        <a:solidFill>
          <a:schemeClr val="tx1">
            <a:lumMod val="95000"/>
          </a:schemeClr>
        </a:solidFill>
        <a:ln>
          <a:solidFill>
            <a:schemeClr val="tx2"/>
          </a:solidFill>
        </a:ln>
      </dgm:spPr>
    </dgm:pt>
    <dgm:pt modelId="{538C3400-EEBD-5640-B217-7ED423EEE135}" type="pres">
      <dgm:prSet presAssocID="{172301EB-7ED7-F645-9BF6-3BDAD464AE62}" presName="rect3" presStyleLbl="alignAcc1" presStyleIdx="2" presStyleCnt="3"/>
      <dgm:spPr/>
    </dgm:pt>
    <dgm:pt modelId="{CD297410-939A-CD43-8F65-8F7E6942F03B}" type="pres">
      <dgm:prSet presAssocID="{83447CB3-4865-B14B-B9FB-A851A7C1A700}" presName="rect1ParTxNoCh" presStyleLbl="alignAcc1" presStyleIdx="2" presStyleCnt="3">
        <dgm:presLayoutVars>
          <dgm:chMax val="1"/>
          <dgm:bulletEnabled val="1"/>
        </dgm:presLayoutVars>
      </dgm:prSet>
      <dgm:spPr/>
    </dgm:pt>
    <dgm:pt modelId="{9D2F6D9A-EDEE-A449-AEC5-CFCA317995AD}" type="pres">
      <dgm:prSet presAssocID="{02630E3B-68E9-5B47-BCFF-9E8675DC45AF}" presName="rect2ParTxNoCh" presStyleLbl="alignAcc1" presStyleIdx="2" presStyleCnt="3">
        <dgm:presLayoutVars>
          <dgm:chMax val="1"/>
          <dgm:bulletEnabled val="1"/>
        </dgm:presLayoutVars>
      </dgm:prSet>
      <dgm:spPr/>
    </dgm:pt>
    <dgm:pt modelId="{2518A9E4-F6E1-B74C-ACAD-0E7C94E946AF}" type="pres">
      <dgm:prSet presAssocID="{172301EB-7ED7-F645-9BF6-3BDAD464AE62}" presName="rect3ParTxNoCh" presStyleLbl="alignAcc1" presStyleIdx="2" presStyleCnt="3">
        <dgm:presLayoutVars>
          <dgm:chMax val="1"/>
          <dgm:bulletEnabled val="1"/>
        </dgm:presLayoutVars>
      </dgm:prSet>
      <dgm:spPr/>
    </dgm:pt>
  </dgm:ptLst>
  <dgm:cxnLst>
    <dgm:cxn modelId="{04E8DA30-3220-FB4B-9581-72F56A5D7A7A}" type="presOf" srcId="{02630E3B-68E9-5B47-BCFF-9E8675DC45AF}" destId="{9D2F6D9A-EDEE-A449-AEC5-CFCA317995AD}" srcOrd="1" destOrd="0" presId="urn:microsoft.com/office/officeart/2005/8/layout/target3"/>
    <dgm:cxn modelId="{1519A133-E86D-A341-BF7C-28B75A7158C8}" type="presOf" srcId="{83447CB3-4865-B14B-B9FB-A851A7C1A700}" destId="{493BB62A-B137-9B4D-BEBC-348FF4FC33F2}" srcOrd="0" destOrd="0" presId="urn:microsoft.com/office/officeart/2005/8/layout/target3"/>
    <dgm:cxn modelId="{F794615B-7976-4143-A8B0-7E65E8B6B7A7}" type="presOf" srcId="{02630E3B-68E9-5B47-BCFF-9E8675DC45AF}" destId="{08161978-8D29-E848-980F-96C6E217956B}" srcOrd="0" destOrd="0" presId="urn:microsoft.com/office/officeart/2005/8/layout/target3"/>
    <dgm:cxn modelId="{90709C81-B51D-B644-BBFB-A39BFAC7221E}" srcId="{1309297C-2045-9D48-9B40-B0FB1E302791}" destId="{172301EB-7ED7-F645-9BF6-3BDAD464AE62}" srcOrd="2" destOrd="0" parTransId="{F29C7A33-7059-D649-8DBE-A19F2AC87C52}" sibTransId="{B97EA5CA-E04D-EF4F-995A-AE2142F6CDD3}"/>
    <dgm:cxn modelId="{0414C885-7CA5-3A48-912C-7E80DC187DDB}" type="presOf" srcId="{172301EB-7ED7-F645-9BF6-3BDAD464AE62}" destId="{2518A9E4-F6E1-B74C-ACAD-0E7C94E946AF}" srcOrd="1" destOrd="0" presId="urn:microsoft.com/office/officeart/2005/8/layout/target3"/>
    <dgm:cxn modelId="{EE3B549B-78DA-E748-9247-F333F166EB01}" type="presOf" srcId="{1309297C-2045-9D48-9B40-B0FB1E302791}" destId="{EA5FAFB1-6A2C-024D-84FE-850F1CCFB457}" srcOrd="0" destOrd="0" presId="urn:microsoft.com/office/officeart/2005/8/layout/target3"/>
    <dgm:cxn modelId="{46497AB0-F1D0-874B-ACF4-616954E422ED}" srcId="{1309297C-2045-9D48-9B40-B0FB1E302791}" destId="{83447CB3-4865-B14B-B9FB-A851A7C1A700}" srcOrd="0" destOrd="0" parTransId="{2D8106CA-DA12-6F4F-A579-A0A47F0A5461}" sibTransId="{EBDFBFC1-F9A5-C64F-91E7-2E2F516D03FB}"/>
    <dgm:cxn modelId="{CE1151C5-CD61-E647-A875-62FB58076DD2}" srcId="{1309297C-2045-9D48-9B40-B0FB1E302791}" destId="{02630E3B-68E9-5B47-BCFF-9E8675DC45AF}" srcOrd="1" destOrd="0" parTransId="{3319836B-FC8F-D541-A8F5-F4B45D38A52D}" sibTransId="{C3A9A8E5-98B8-324C-8226-F2597843EECC}"/>
    <dgm:cxn modelId="{5A8106DA-3593-2644-BF35-E5F730B2208E}" type="presOf" srcId="{172301EB-7ED7-F645-9BF6-3BDAD464AE62}" destId="{538C3400-EEBD-5640-B217-7ED423EEE135}" srcOrd="0" destOrd="0" presId="urn:microsoft.com/office/officeart/2005/8/layout/target3"/>
    <dgm:cxn modelId="{73AF26F1-EF39-F44A-8171-5D20D71A93F7}" type="presOf" srcId="{83447CB3-4865-B14B-B9FB-A851A7C1A700}" destId="{CD297410-939A-CD43-8F65-8F7E6942F03B}" srcOrd="1" destOrd="0" presId="urn:microsoft.com/office/officeart/2005/8/layout/target3"/>
    <dgm:cxn modelId="{1BA5426D-9844-8A4B-9AFE-370480DAC5DB}" type="presParOf" srcId="{EA5FAFB1-6A2C-024D-84FE-850F1CCFB457}" destId="{6D1B7659-E0F0-AB4B-99A0-BFF3300F1C58}" srcOrd="0" destOrd="0" presId="urn:microsoft.com/office/officeart/2005/8/layout/target3"/>
    <dgm:cxn modelId="{B7D7FBA1-79EC-E447-B69B-80D809F1F38F}" type="presParOf" srcId="{EA5FAFB1-6A2C-024D-84FE-850F1CCFB457}" destId="{5B1E2948-52D5-9844-BE06-31D58F178836}" srcOrd="1" destOrd="0" presId="urn:microsoft.com/office/officeart/2005/8/layout/target3"/>
    <dgm:cxn modelId="{A24BF03F-AEAA-F744-A64B-B797F435D7BD}" type="presParOf" srcId="{EA5FAFB1-6A2C-024D-84FE-850F1CCFB457}" destId="{493BB62A-B137-9B4D-BEBC-348FF4FC33F2}" srcOrd="2" destOrd="0" presId="urn:microsoft.com/office/officeart/2005/8/layout/target3"/>
    <dgm:cxn modelId="{43CED780-18AD-BC4C-AC0B-84EBDB580378}" type="presParOf" srcId="{EA5FAFB1-6A2C-024D-84FE-850F1CCFB457}" destId="{252BC78A-AD5E-EE47-8AC0-4416D3116D4F}" srcOrd="3" destOrd="0" presId="urn:microsoft.com/office/officeart/2005/8/layout/target3"/>
    <dgm:cxn modelId="{EE5DD493-AFFA-7E4F-B8D2-A22B188983F8}" type="presParOf" srcId="{EA5FAFB1-6A2C-024D-84FE-850F1CCFB457}" destId="{1C4EAD51-096A-E142-9CA6-FD3BADD80494}" srcOrd="4" destOrd="0" presId="urn:microsoft.com/office/officeart/2005/8/layout/target3"/>
    <dgm:cxn modelId="{BC888A47-1D4C-FD43-907B-BB848EA279A9}" type="presParOf" srcId="{EA5FAFB1-6A2C-024D-84FE-850F1CCFB457}" destId="{08161978-8D29-E848-980F-96C6E217956B}" srcOrd="5" destOrd="0" presId="urn:microsoft.com/office/officeart/2005/8/layout/target3"/>
    <dgm:cxn modelId="{001C4CD1-B61C-3841-A643-63F9E5AE306E}" type="presParOf" srcId="{EA5FAFB1-6A2C-024D-84FE-850F1CCFB457}" destId="{9DA35968-71E7-4B45-A967-304DAC3D5895}" srcOrd="6" destOrd="0" presId="urn:microsoft.com/office/officeart/2005/8/layout/target3"/>
    <dgm:cxn modelId="{DF2A7E06-3473-5848-9DFC-1106D5BB3FCB}" type="presParOf" srcId="{EA5FAFB1-6A2C-024D-84FE-850F1CCFB457}" destId="{2A326F70-F9F7-7349-B1E4-F33A972CF9DE}" srcOrd="7" destOrd="0" presId="urn:microsoft.com/office/officeart/2005/8/layout/target3"/>
    <dgm:cxn modelId="{7E9D41C4-81D4-AE4D-8A7E-78DD950AD3E6}" type="presParOf" srcId="{EA5FAFB1-6A2C-024D-84FE-850F1CCFB457}" destId="{538C3400-EEBD-5640-B217-7ED423EEE135}" srcOrd="8" destOrd="0" presId="urn:microsoft.com/office/officeart/2005/8/layout/target3"/>
    <dgm:cxn modelId="{D35B8A79-DEFA-B34B-9E64-89823ECB6B04}" type="presParOf" srcId="{EA5FAFB1-6A2C-024D-84FE-850F1CCFB457}" destId="{CD297410-939A-CD43-8F65-8F7E6942F03B}" srcOrd="9" destOrd="0" presId="urn:microsoft.com/office/officeart/2005/8/layout/target3"/>
    <dgm:cxn modelId="{1ABCC299-CB65-AC41-8352-7ECC1748A17F}" type="presParOf" srcId="{EA5FAFB1-6A2C-024D-84FE-850F1CCFB457}" destId="{9D2F6D9A-EDEE-A449-AEC5-CFCA317995AD}" srcOrd="10" destOrd="0" presId="urn:microsoft.com/office/officeart/2005/8/layout/target3"/>
    <dgm:cxn modelId="{2955D089-6002-2A4C-8705-66B64DA145AF}" type="presParOf" srcId="{EA5FAFB1-6A2C-024D-84FE-850F1CCFB457}" destId="{2518A9E4-F6E1-B74C-ACAD-0E7C94E946AF}"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3EC1BD-8CB1-7C41-92AA-28E6A1A2F660}" type="doc">
      <dgm:prSet loTypeId="urn:microsoft.com/office/officeart/2005/8/layout/balance1" loCatId="" qsTypeId="urn:microsoft.com/office/officeart/2005/8/quickstyle/simple1" qsCatId="simple" csTypeId="urn:microsoft.com/office/officeart/2005/8/colors/accent1_2" csCatId="accent1" phldr="1"/>
      <dgm:spPr/>
      <dgm:t>
        <a:bodyPr/>
        <a:lstStyle/>
        <a:p>
          <a:endParaRPr lang="en-US"/>
        </a:p>
      </dgm:t>
    </dgm:pt>
    <dgm:pt modelId="{39995DD8-AC06-714E-BF5D-E85A265732DF}">
      <dgm:prSet phldrT="[Text]"/>
      <dgm:spPr>
        <a:solidFill>
          <a:srgbClr val="FFFFFF"/>
        </a:solidFill>
      </dgm:spPr>
      <dgm:t>
        <a:bodyPr/>
        <a:lstStyle/>
        <a:p>
          <a:r>
            <a:rPr lang="en-US">
              <a:latin typeface="Lucida Bright" panose="02040602050505020304" pitchFamily="18" charset="77"/>
            </a:rPr>
            <a:t>Revenue </a:t>
          </a:r>
        </a:p>
      </dgm:t>
    </dgm:pt>
    <dgm:pt modelId="{B2C6A77E-261A-5D4F-BD5C-303C14B864A8}" type="parTrans" cxnId="{543DB52D-FF2D-F54F-87E9-BDC2635C6764}">
      <dgm:prSet/>
      <dgm:spPr/>
      <dgm:t>
        <a:bodyPr/>
        <a:lstStyle/>
        <a:p>
          <a:endParaRPr lang="en-US">
            <a:latin typeface="Lucida Bright" panose="02040602050505020304" pitchFamily="18" charset="77"/>
          </a:endParaRPr>
        </a:p>
      </dgm:t>
    </dgm:pt>
    <dgm:pt modelId="{E50DB917-F8E2-9045-97E1-80369DF60E93}" type="sibTrans" cxnId="{543DB52D-FF2D-F54F-87E9-BDC2635C6764}">
      <dgm:prSet/>
      <dgm:spPr/>
      <dgm:t>
        <a:bodyPr/>
        <a:lstStyle/>
        <a:p>
          <a:endParaRPr lang="en-US">
            <a:latin typeface="Lucida Bright" panose="02040602050505020304" pitchFamily="18" charset="77"/>
          </a:endParaRPr>
        </a:p>
      </dgm:t>
    </dgm:pt>
    <dgm:pt modelId="{4186E0A6-EED2-724C-8B95-DAFD918B31D9}">
      <dgm:prSet phldrT="[Text]"/>
      <dgm:spPr>
        <a:solidFill>
          <a:srgbClr val="507CBA"/>
        </a:solidFill>
      </dgm:spPr>
      <dgm:t>
        <a:bodyPr/>
        <a:lstStyle/>
        <a:p>
          <a:r>
            <a:rPr lang="en-US">
              <a:latin typeface="Lucida Bright" panose="02040602050505020304" pitchFamily="18" charset="77"/>
            </a:rPr>
            <a:t>Brand Loyalty</a:t>
          </a:r>
        </a:p>
      </dgm:t>
    </dgm:pt>
    <dgm:pt modelId="{E52A53BF-F80A-2046-A4B8-C6BF4D641FB3}" type="parTrans" cxnId="{E3B33882-4DC1-4C42-8AEC-83E40FC297BE}">
      <dgm:prSet/>
      <dgm:spPr/>
      <dgm:t>
        <a:bodyPr/>
        <a:lstStyle/>
        <a:p>
          <a:endParaRPr lang="en-US">
            <a:latin typeface="Lucida Bright" panose="02040602050505020304" pitchFamily="18" charset="77"/>
          </a:endParaRPr>
        </a:p>
      </dgm:t>
    </dgm:pt>
    <dgm:pt modelId="{F41F2288-D01A-7A44-B75E-6DD8AC054C3C}" type="sibTrans" cxnId="{E3B33882-4DC1-4C42-8AEC-83E40FC297BE}">
      <dgm:prSet/>
      <dgm:spPr/>
      <dgm:t>
        <a:bodyPr/>
        <a:lstStyle/>
        <a:p>
          <a:endParaRPr lang="en-US">
            <a:latin typeface="Lucida Bright" panose="02040602050505020304" pitchFamily="18" charset="77"/>
          </a:endParaRPr>
        </a:p>
      </dgm:t>
    </dgm:pt>
    <dgm:pt modelId="{2B41D5AD-3831-C847-B1D8-09017E827850}">
      <dgm:prSet phldrT="[Text]"/>
      <dgm:spPr>
        <a:solidFill>
          <a:srgbClr val="0E51A2"/>
        </a:solidFill>
      </dgm:spPr>
      <dgm:t>
        <a:bodyPr/>
        <a:lstStyle/>
        <a:p>
          <a:r>
            <a:rPr lang="en-US">
              <a:latin typeface="Lucida Bright" panose="02040602050505020304" pitchFamily="18" charset="77"/>
            </a:rPr>
            <a:t>Increase Units </a:t>
          </a:r>
        </a:p>
      </dgm:t>
    </dgm:pt>
    <dgm:pt modelId="{6835F51E-0A0A-754F-AD09-E5BF239A8D0E}" type="parTrans" cxnId="{0F5E3BD3-4FBE-5D46-9BC1-154198829EDB}">
      <dgm:prSet/>
      <dgm:spPr/>
      <dgm:t>
        <a:bodyPr/>
        <a:lstStyle/>
        <a:p>
          <a:endParaRPr lang="en-US">
            <a:latin typeface="Lucida Bright" panose="02040602050505020304" pitchFamily="18" charset="77"/>
          </a:endParaRPr>
        </a:p>
      </dgm:t>
    </dgm:pt>
    <dgm:pt modelId="{CABD3721-8D81-E54A-A587-CDE41A7090DE}" type="sibTrans" cxnId="{0F5E3BD3-4FBE-5D46-9BC1-154198829EDB}">
      <dgm:prSet/>
      <dgm:spPr/>
      <dgm:t>
        <a:bodyPr/>
        <a:lstStyle/>
        <a:p>
          <a:endParaRPr lang="en-US">
            <a:latin typeface="Lucida Bright" panose="02040602050505020304" pitchFamily="18" charset="77"/>
          </a:endParaRPr>
        </a:p>
      </dgm:t>
    </dgm:pt>
    <dgm:pt modelId="{B4430337-3D8C-7E41-9922-17FDF3591FAB}">
      <dgm:prSet phldrT="[Text]"/>
      <dgm:spPr>
        <a:solidFill>
          <a:srgbClr val="FFFFFF"/>
        </a:solidFill>
      </dgm:spPr>
      <dgm:t>
        <a:bodyPr/>
        <a:lstStyle/>
        <a:p>
          <a:r>
            <a:rPr lang="en-US">
              <a:latin typeface="Lucida Bright" panose="02040602050505020304" pitchFamily="18" charset="77"/>
            </a:rPr>
            <a:t>Expenses</a:t>
          </a:r>
        </a:p>
      </dgm:t>
    </dgm:pt>
    <dgm:pt modelId="{A1FF47AE-51A3-1243-95E1-A13C904740C3}" type="parTrans" cxnId="{66BB434A-41C9-F046-B324-594B8A9B2B8F}">
      <dgm:prSet/>
      <dgm:spPr/>
      <dgm:t>
        <a:bodyPr/>
        <a:lstStyle/>
        <a:p>
          <a:endParaRPr lang="en-US">
            <a:latin typeface="Lucida Bright" panose="02040602050505020304" pitchFamily="18" charset="77"/>
          </a:endParaRPr>
        </a:p>
      </dgm:t>
    </dgm:pt>
    <dgm:pt modelId="{48B59EEE-1B69-5A4A-A422-7C1891A2BB47}" type="sibTrans" cxnId="{66BB434A-41C9-F046-B324-594B8A9B2B8F}">
      <dgm:prSet/>
      <dgm:spPr/>
      <dgm:t>
        <a:bodyPr/>
        <a:lstStyle/>
        <a:p>
          <a:endParaRPr lang="en-US">
            <a:latin typeface="Lucida Bright" panose="02040602050505020304" pitchFamily="18" charset="77"/>
          </a:endParaRPr>
        </a:p>
      </dgm:t>
    </dgm:pt>
    <dgm:pt modelId="{8FB30F60-23A3-7A42-B43B-95FDF205EC27}">
      <dgm:prSet phldrT="[Text]"/>
      <dgm:spPr>
        <a:solidFill>
          <a:srgbClr val="8AA6D1"/>
        </a:solidFill>
      </dgm:spPr>
      <dgm:t>
        <a:bodyPr/>
        <a:lstStyle/>
        <a:p>
          <a:r>
            <a:rPr lang="en-US">
              <a:latin typeface="Lucida Bright" panose="02040602050505020304" pitchFamily="18" charset="77"/>
            </a:rPr>
            <a:t>Promotions Based on Season</a:t>
          </a:r>
        </a:p>
      </dgm:t>
    </dgm:pt>
    <dgm:pt modelId="{71664B17-4CEA-9646-BAD8-A2AE73C94169}" type="parTrans" cxnId="{52835D1C-E3A6-DD4C-9FAB-19ED66F1402F}">
      <dgm:prSet/>
      <dgm:spPr/>
      <dgm:t>
        <a:bodyPr/>
        <a:lstStyle/>
        <a:p>
          <a:endParaRPr lang="en-US">
            <a:latin typeface="Lucida Bright" panose="02040602050505020304" pitchFamily="18" charset="77"/>
          </a:endParaRPr>
        </a:p>
      </dgm:t>
    </dgm:pt>
    <dgm:pt modelId="{7A88F77D-F98E-6040-A3A5-E7F71819BD09}" type="sibTrans" cxnId="{52835D1C-E3A6-DD4C-9FAB-19ED66F1402F}">
      <dgm:prSet/>
      <dgm:spPr/>
      <dgm:t>
        <a:bodyPr/>
        <a:lstStyle/>
        <a:p>
          <a:endParaRPr lang="en-US">
            <a:latin typeface="Lucida Bright" panose="02040602050505020304" pitchFamily="18" charset="77"/>
          </a:endParaRPr>
        </a:p>
      </dgm:t>
    </dgm:pt>
    <dgm:pt modelId="{09157440-BF78-1746-A8DF-3485652F69E0}">
      <dgm:prSet phldrT="[Text]"/>
      <dgm:spPr>
        <a:solidFill>
          <a:srgbClr val="507CBA"/>
        </a:solidFill>
      </dgm:spPr>
      <dgm:t>
        <a:bodyPr/>
        <a:lstStyle/>
        <a:p>
          <a:r>
            <a:rPr lang="en-US">
              <a:latin typeface="Lucida Bright" panose="02040602050505020304" pitchFamily="18" charset="77"/>
            </a:rPr>
            <a:t>Department Restructure</a:t>
          </a:r>
        </a:p>
      </dgm:t>
    </dgm:pt>
    <dgm:pt modelId="{02EA2BF3-030A-5447-9AB6-8B54A21F64DF}" type="parTrans" cxnId="{911953B5-81BF-BE47-B7F2-BD89D98484FF}">
      <dgm:prSet/>
      <dgm:spPr/>
      <dgm:t>
        <a:bodyPr/>
        <a:lstStyle/>
        <a:p>
          <a:endParaRPr lang="en-US">
            <a:latin typeface="Lucida Bright" panose="02040602050505020304" pitchFamily="18" charset="77"/>
          </a:endParaRPr>
        </a:p>
      </dgm:t>
    </dgm:pt>
    <dgm:pt modelId="{E2D19434-568D-3845-93EE-EB347D8C06AB}" type="sibTrans" cxnId="{911953B5-81BF-BE47-B7F2-BD89D98484FF}">
      <dgm:prSet/>
      <dgm:spPr/>
      <dgm:t>
        <a:bodyPr/>
        <a:lstStyle/>
        <a:p>
          <a:endParaRPr lang="en-US">
            <a:latin typeface="Lucida Bright" panose="02040602050505020304" pitchFamily="18" charset="77"/>
          </a:endParaRPr>
        </a:p>
      </dgm:t>
    </dgm:pt>
    <dgm:pt modelId="{E357DB38-006F-CE4B-A933-4827B019FFED}">
      <dgm:prSet phldrT="[Text]"/>
      <dgm:spPr>
        <a:solidFill>
          <a:srgbClr val="0E51A2"/>
        </a:solidFill>
      </dgm:spPr>
      <dgm:t>
        <a:bodyPr/>
        <a:lstStyle/>
        <a:p>
          <a:r>
            <a:rPr lang="en-US">
              <a:latin typeface="Lucida Bright" panose="02040602050505020304" pitchFamily="18" charset="77"/>
            </a:rPr>
            <a:t>Campaign Frequency</a:t>
          </a:r>
        </a:p>
      </dgm:t>
    </dgm:pt>
    <dgm:pt modelId="{5F0F4E84-C15F-B248-8E27-88286C6D298D}" type="parTrans" cxnId="{E3ABF351-1EBA-2144-8BE9-D50E5F928D76}">
      <dgm:prSet/>
      <dgm:spPr/>
      <dgm:t>
        <a:bodyPr/>
        <a:lstStyle/>
        <a:p>
          <a:endParaRPr lang="en-US">
            <a:latin typeface="Lucida Bright" panose="02040602050505020304" pitchFamily="18" charset="77"/>
          </a:endParaRPr>
        </a:p>
      </dgm:t>
    </dgm:pt>
    <dgm:pt modelId="{E21DF553-54AE-A843-9402-C4CFCB1BF63D}" type="sibTrans" cxnId="{E3ABF351-1EBA-2144-8BE9-D50E5F928D76}">
      <dgm:prSet/>
      <dgm:spPr/>
      <dgm:t>
        <a:bodyPr/>
        <a:lstStyle/>
        <a:p>
          <a:endParaRPr lang="en-US">
            <a:latin typeface="Lucida Bright" panose="02040602050505020304" pitchFamily="18" charset="77"/>
          </a:endParaRPr>
        </a:p>
      </dgm:t>
    </dgm:pt>
    <dgm:pt modelId="{C9EDE1E4-3D16-6840-A336-EC8F3CD2F779}" type="pres">
      <dgm:prSet presAssocID="{D13EC1BD-8CB1-7C41-92AA-28E6A1A2F660}" presName="outerComposite" presStyleCnt="0">
        <dgm:presLayoutVars>
          <dgm:chMax val="2"/>
          <dgm:animLvl val="lvl"/>
          <dgm:resizeHandles val="exact"/>
        </dgm:presLayoutVars>
      </dgm:prSet>
      <dgm:spPr/>
    </dgm:pt>
    <dgm:pt modelId="{62FF69F5-DB46-544D-A3A4-F026BC588753}" type="pres">
      <dgm:prSet presAssocID="{D13EC1BD-8CB1-7C41-92AA-28E6A1A2F660}" presName="dummyMaxCanvas" presStyleCnt="0"/>
      <dgm:spPr/>
    </dgm:pt>
    <dgm:pt modelId="{408E27DD-FB12-1D41-AE65-8445FBB11B26}" type="pres">
      <dgm:prSet presAssocID="{D13EC1BD-8CB1-7C41-92AA-28E6A1A2F660}" presName="parentComposite" presStyleCnt="0"/>
      <dgm:spPr/>
    </dgm:pt>
    <dgm:pt modelId="{7CFC6717-C38C-3544-9A9C-3B4A2A6214EF}" type="pres">
      <dgm:prSet presAssocID="{D13EC1BD-8CB1-7C41-92AA-28E6A1A2F660}" presName="parent1" presStyleLbl="alignAccFollowNode1" presStyleIdx="0" presStyleCnt="4">
        <dgm:presLayoutVars>
          <dgm:chMax val="4"/>
        </dgm:presLayoutVars>
      </dgm:prSet>
      <dgm:spPr/>
    </dgm:pt>
    <dgm:pt modelId="{25966193-157B-5A43-887B-939DAC903FD7}" type="pres">
      <dgm:prSet presAssocID="{D13EC1BD-8CB1-7C41-92AA-28E6A1A2F660}" presName="parent2" presStyleLbl="alignAccFollowNode1" presStyleIdx="1" presStyleCnt="4">
        <dgm:presLayoutVars>
          <dgm:chMax val="4"/>
        </dgm:presLayoutVars>
      </dgm:prSet>
      <dgm:spPr/>
    </dgm:pt>
    <dgm:pt modelId="{6033D905-0897-1946-8782-27503CE71CD8}" type="pres">
      <dgm:prSet presAssocID="{D13EC1BD-8CB1-7C41-92AA-28E6A1A2F660}" presName="childrenComposite" presStyleCnt="0"/>
      <dgm:spPr/>
    </dgm:pt>
    <dgm:pt modelId="{385E95F8-7093-CE43-A1EC-A964763E38F3}" type="pres">
      <dgm:prSet presAssocID="{D13EC1BD-8CB1-7C41-92AA-28E6A1A2F660}" presName="dummyMaxCanvas_ChildArea" presStyleCnt="0"/>
      <dgm:spPr/>
    </dgm:pt>
    <dgm:pt modelId="{298EA87C-0760-3D47-9136-5AE09855749B}" type="pres">
      <dgm:prSet presAssocID="{D13EC1BD-8CB1-7C41-92AA-28E6A1A2F660}" presName="fulcrum" presStyleLbl="alignAccFollowNode1" presStyleIdx="2" presStyleCnt="4"/>
      <dgm:spPr>
        <a:solidFill>
          <a:srgbClr val="FFFFFF"/>
        </a:solidFill>
      </dgm:spPr>
    </dgm:pt>
    <dgm:pt modelId="{FD1DD3A5-69CB-034B-844A-6C82FC1A88A4}" type="pres">
      <dgm:prSet presAssocID="{D13EC1BD-8CB1-7C41-92AA-28E6A1A2F660}" presName="balance_23" presStyleLbl="alignAccFollowNode1" presStyleIdx="3" presStyleCnt="4">
        <dgm:presLayoutVars>
          <dgm:bulletEnabled val="1"/>
        </dgm:presLayoutVars>
      </dgm:prSet>
      <dgm:spPr>
        <a:solidFill>
          <a:srgbClr val="FFFFFF"/>
        </a:solidFill>
      </dgm:spPr>
    </dgm:pt>
    <dgm:pt modelId="{C15EBEC1-9623-E441-A205-BAF32EEBC252}" type="pres">
      <dgm:prSet presAssocID="{D13EC1BD-8CB1-7C41-92AA-28E6A1A2F660}" presName="right_23_1" presStyleLbl="node1" presStyleIdx="0" presStyleCnt="5">
        <dgm:presLayoutVars>
          <dgm:bulletEnabled val="1"/>
        </dgm:presLayoutVars>
      </dgm:prSet>
      <dgm:spPr/>
    </dgm:pt>
    <dgm:pt modelId="{4E30A4B9-9DE5-D24C-895A-128F9C8F2C05}" type="pres">
      <dgm:prSet presAssocID="{D13EC1BD-8CB1-7C41-92AA-28E6A1A2F660}" presName="right_23_2" presStyleLbl="node1" presStyleIdx="1" presStyleCnt="5">
        <dgm:presLayoutVars>
          <dgm:bulletEnabled val="1"/>
        </dgm:presLayoutVars>
      </dgm:prSet>
      <dgm:spPr/>
    </dgm:pt>
    <dgm:pt modelId="{0E49541C-A989-AB4A-819E-50D5E6670B12}" type="pres">
      <dgm:prSet presAssocID="{D13EC1BD-8CB1-7C41-92AA-28E6A1A2F660}" presName="right_23_3" presStyleLbl="node1" presStyleIdx="2" presStyleCnt="5">
        <dgm:presLayoutVars>
          <dgm:bulletEnabled val="1"/>
        </dgm:presLayoutVars>
      </dgm:prSet>
      <dgm:spPr/>
    </dgm:pt>
    <dgm:pt modelId="{BB67CED8-CC96-A347-B721-E64D4BA4E7E9}" type="pres">
      <dgm:prSet presAssocID="{D13EC1BD-8CB1-7C41-92AA-28E6A1A2F660}" presName="left_23_1" presStyleLbl="node1" presStyleIdx="3" presStyleCnt="5">
        <dgm:presLayoutVars>
          <dgm:bulletEnabled val="1"/>
        </dgm:presLayoutVars>
      </dgm:prSet>
      <dgm:spPr/>
    </dgm:pt>
    <dgm:pt modelId="{9D8F7E1A-77C7-0746-8F58-1563BEFBF9F4}" type="pres">
      <dgm:prSet presAssocID="{D13EC1BD-8CB1-7C41-92AA-28E6A1A2F660}" presName="left_23_2" presStyleLbl="node1" presStyleIdx="4" presStyleCnt="5">
        <dgm:presLayoutVars>
          <dgm:bulletEnabled val="1"/>
        </dgm:presLayoutVars>
      </dgm:prSet>
      <dgm:spPr/>
    </dgm:pt>
  </dgm:ptLst>
  <dgm:cxnLst>
    <dgm:cxn modelId="{52835D1C-E3A6-DD4C-9FAB-19ED66F1402F}" srcId="{B4430337-3D8C-7E41-9922-17FDF3591FAB}" destId="{8FB30F60-23A3-7A42-B43B-95FDF205EC27}" srcOrd="0" destOrd="0" parTransId="{71664B17-4CEA-9646-BAD8-A2AE73C94169}" sibTransId="{7A88F77D-F98E-6040-A3A5-E7F71819BD09}"/>
    <dgm:cxn modelId="{543DB52D-FF2D-F54F-87E9-BDC2635C6764}" srcId="{D13EC1BD-8CB1-7C41-92AA-28E6A1A2F660}" destId="{39995DD8-AC06-714E-BF5D-E85A265732DF}" srcOrd="0" destOrd="0" parTransId="{B2C6A77E-261A-5D4F-BD5C-303C14B864A8}" sibTransId="{E50DB917-F8E2-9045-97E1-80369DF60E93}"/>
    <dgm:cxn modelId="{3B1DB967-7465-0E45-88E7-5D10DB3C5ED2}" type="presOf" srcId="{D13EC1BD-8CB1-7C41-92AA-28E6A1A2F660}" destId="{C9EDE1E4-3D16-6840-A336-EC8F3CD2F779}" srcOrd="0" destOrd="0" presId="urn:microsoft.com/office/officeart/2005/8/layout/balance1"/>
    <dgm:cxn modelId="{FAFA0A49-D016-6045-B7C5-C5BD415D6E3F}" type="presOf" srcId="{E357DB38-006F-CE4B-A933-4827B019FFED}" destId="{0E49541C-A989-AB4A-819E-50D5E6670B12}" srcOrd="0" destOrd="0" presId="urn:microsoft.com/office/officeart/2005/8/layout/balance1"/>
    <dgm:cxn modelId="{66BB434A-41C9-F046-B324-594B8A9B2B8F}" srcId="{D13EC1BD-8CB1-7C41-92AA-28E6A1A2F660}" destId="{B4430337-3D8C-7E41-9922-17FDF3591FAB}" srcOrd="1" destOrd="0" parTransId="{A1FF47AE-51A3-1243-95E1-A13C904740C3}" sibTransId="{48B59EEE-1B69-5A4A-A422-7C1891A2BB47}"/>
    <dgm:cxn modelId="{E3ABF351-1EBA-2144-8BE9-D50E5F928D76}" srcId="{B4430337-3D8C-7E41-9922-17FDF3591FAB}" destId="{E357DB38-006F-CE4B-A933-4827B019FFED}" srcOrd="2" destOrd="0" parTransId="{5F0F4E84-C15F-B248-8E27-88286C6D298D}" sibTransId="{E21DF553-54AE-A843-9402-C4CFCB1BF63D}"/>
    <dgm:cxn modelId="{CCCABE73-B59F-1145-BC5A-CF04DEA6BDD4}" type="presOf" srcId="{8FB30F60-23A3-7A42-B43B-95FDF205EC27}" destId="{C15EBEC1-9623-E441-A205-BAF32EEBC252}" srcOrd="0" destOrd="0" presId="urn:microsoft.com/office/officeart/2005/8/layout/balance1"/>
    <dgm:cxn modelId="{2EBC3054-C471-3A4F-AE14-86A8B41F178D}" type="presOf" srcId="{2B41D5AD-3831-C847-B1D8-09017E827850}" destId="{9D8F7E1A-77C7-0746-8F58-1563BEFBF9F4}" srcOrd="0" destOrd="0" presId="urn:microsoft.com/office/officeart/2005/8/layout/balance1"/>
    <dgm:cxn modelId="{E3B33882-4DC1-4C42-8AEC-83E40FC297BE}" srcId="{39995DD8-AC06-714E-BF5D-E85A265732DF}" destId="{4186E0A6-EED2-724C-8B95-DAFD918B31D9}" srcOrd="0" destOrd="0" parTransId="{E52A53BF-F80A-2046-A4B8-C6BF4D641FB3}" sibTransId="{F41F2288-D01A-7A44-B75E-6DD8AC054C3C}"/>
    <dgm:cxn modelId="{9AE24484-3F92-8147-9037-87BF7F6083ED}" type="presOf" srcId="{09157440-BF78-1746-A8DF-3485652F69E0}" destId="{4E30A4B9-9DE5-D24C-895A-128F9C8F2C05}" srcOrd="0" destOrd="0" presId="urn:microsoft.com/office/officeart/2005/8/layout/balance1"/>
    <dgm:cxn modelId="{664D8496-8468-DD42-B811-640201627BC6}" type="presOf" srcId="{39995DD8-AC06-714E-BF5D-E85A265732DF}" destId="{7CFC6717-C38C-3544-9A9C-3B4A2A6214EF}" srcOrd="0" destOrd="0" presId="urn:microsoft.com/office/officeart/2005/8/layout/balance1"/>
    <dgm:cxn modelId="{911953B5-81BF-BE47-B7F2-BD89D98484FF}" srcId="{B4430337-3D8C-7E41-9922-17FDF3591FAB}" destId="{09157440-BF78-1746-A8DF-3485652F69E0}" srcOrd="1" destOrd="0" parTransId="{02EA2BF3-030A-5447-9AB6-8B54A21F64DF}" sibTransId="{E2D19434-568D-3845-93EE-EB347D8C06AB}"/>
    <dgm:cxn modelId="{E319D5CB-09D2-EE47-9C7B-B84D1823135D}" type="presOf" srcId="{B4430337-3D8C-7E41-9922-17FDF3591FAB}" destId="{25966193-157B-5A43-887B-939DAC903FD7}" srcOrd="0" destOrd="0" presId="urn:microsoft.com/office/officeart/2005/8/layout/balance1"/>
    <dgm:cxn modelId="{7C49E9CF-13AB-274B-8D1F-6D7909EAB52F}" type="presOf" srcId="{4186E0A6-EED2-724C-8B95-DAFD918B31D9}" destId="{BB67CED8-CC96-A347-B721-E64D4BA4E7E9}" srcOrd="0" destOrd="0" presId="urn:microsoft.com/office/officeart/2005/8/layout/balance1"/>
    <dgm:cxn modelId="{0F5E3BD3-4FBE-5D46-9BC1-154198829EDB}" srcId="{39995DD8-AC06-714E-BF5D-E85A265732DF}" destId="{2B41D5AD-3831-C847-B1D8-09017E827850}" srcOrd="1" destOrd="0" parTransId="{6835F51E-0A0A-754F-AD09-E5BF239A8D0E}" sibTransId="{CABD3721-8D81-E54A-A587-CDE41A7090DE}"/>
    <dgm:cxn modelId="{8BF0736A-C089-524C-8653-5E8BD254D66B}" type="presParOf" srcId="{C9EDE1E4-3D16-6840-A336-EC8F3CD2F779}" destId="{62FF69F5-DB46-544D-A3A4-F026BC588753}" srcOrd="0" destOrd="0" presId="urn:microsoft.com/office/officeart/2005/8/layout/balance1"/>
    <dgm:cxn modelId="{261EC03E-8652-7045-8C7B-429739A8178D}" type="presParOf" srcId="{C9EDE1E4-3D16-6840-A336-EC8F3CD2F779}" destId="{408E27DD-FB12-1D41-AE65-8445FBB11B26}" srcOrd="1" destOrd="0" presId="urn:microsoft.com/office/officeart/2005/8/layout/balance1"/>
    <dgm:cxn modelId="{92F69401-B6E0-3149-BEE7-D2054B14736A}" type="presParOf" srcId="{408E27DD-FB12-1D41-AE65-8445FBB11B26}" destId="{7CFC6717-C38C-3544-9A9C-3B4A2A6214EF}" srcOrd="0" destOrd="0" presId="urn:microsoft.com/office/officeart/2005/8/layout/balance1"/>
    <dgm:cxn modelId="{CF54D19C-1303-D648-B39D-210EF9A46E32}" type="presParOf" srcId="{408E27DD-FB12-1D41-AE65-8445FBB11B26}" destId="{25966193-157B-5A43-887B-939DAC903FD7}" srcOrd="1" destOrd="0" presId="urn:microsoft.com/office/officeart/2005/8/layout/balance1"/>
    <dgm:cxn modelId="{910DDA79-A825-9440-85D2-099BDF65D1FA}" type="presParOf" srcId="{C9EDE1E4-3D16-6840-A336-EC8F3CD2F779}" destId="{6033D905-0897-1946-8782-27503CE71CD8}" srcOrd="2" destOrd="0" presId="urn:microsoft.com/office/officeart/2005/8/layout/balance1"/>
    <dgm:cxn modelId="{CDEAC5D5-ECB8-0742-912A-7AA0E299E7C9}" type="presParOf" srcId="{6033D905-0897-1946-8782-27503CE71CD8}" destId="{385E95F8-7093-CE43-A1EC-A964763E38F3}" srcOrd="0" destOrd="0" presId="urn:microsoft.com/office/officeart/2005/8/layout/balance1"/>
    <dgm:cxn modelId="{5593E6F8-F15B-8A43-A623-1609B3244804}" type="presParOf" srcId="{6033D905-0897-1946-8782-27503CE71CD8}" destId="{298EA87C-0760-3D47-9136-5AE09855749B}" srcOrd="1" destOrd="0" presId="urn:microsoft.com/office/officeart/2005/8/layout/balance1"/>
    <dgm:cxn modelId="{86A92935-34BE-5D47-8755-7A494E273E6C}" type="presParOf" srcId="{6033D905-0897-1946-8782-27503CE71CD8}" destId="{FD1DD3A5-69CB-034B-844A-6C82FC1A88A4}" srcOrd="2" destOrd="0" presId="urn:microsoft.com/office/officeart/2005/8/layout/balance1"/>
    <dgm:cxn modelId="{5F03E246-FD16-8E47-9C4F-0BBDBB3432CA}" type="presParOf" srcId="{6033D905-0897-1946-8782-27503CE71CD8}" destId="{C15EBEC1-9623-E441-A205-BAF32EEBC252}" srcOrd="3" destOrd="0" presId="urn:microsoft.com/office/officeart/2005/8/layout/balance1"/>
    <dgm:cxn modelId="{5B4995F5-6004-3240-BC16-D5E269759D2B}" type="presParOf" srcId="{6033D905-0897-1946-8782-27503CE71CD8}" destId="{4E30A4B9-9DE5-D24C-895A-128F9C8F2C05}" srcOrd="4" destOrd="0" presId="urn:microsoft.com/office/officeart/2005/8/layout/balance1"/>
    <dgm:cxn modelId="{77233F64-836C-BF47-9A98-2F360B7DC9E0}" type="presParOf" srcId="{6033D905-0897-1946-8782-27503CE71CD8}" destId="{0E49541C-A989-AB4A-819E-50D5E6670B12}" srcOrd="5" destOrd="0" presId="urn:microsoft.com/office/officeart/2005/8/layout/balance1"/>
    <dgm:cxn modelId="{A1A18735-B65D-AA49-B264-3718D60ED2B5}" type="presParOf" srcId="{6033D905-0897-1946-8782-27503CE71CD8}" destId="{BB67CED8-CC96-A347-B721-E64D4BA4E7E9}" srcOrd="6" destOrd="0" presId="urn:microsoft.com/office/officeart/2005/8/layout/balance1"/>
    <dgm:cxn modelId="{049FE537-8313-4747-B262-0148E0D55937}" type="presParOf" srcId="{6033D905-0897-1946-8782-27503CE71CD8}" destId="{9D8F7E1A-77C7-0746-8F58-1563BEFBF9F4}" srcOrd="7" destOrd="0" presId="urn:microsoft.com/office/officeart/2005/8/layout/balance1"/>
  </dgm:cxnLst>
  <dgm:bg/>
  <dgm:whole>
    <a:ln>
      <a:solidFill>
        <a:schemeClr val="tx1"/>
      </a:solidFill>
    </a:ln>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94AF88-7196-AF4C-8EAF-B54F3E123AF2}" type="doc">
      <dgm:prSet loTypeId="urn:microsoft.com/office/officeart/2005/8/layout/arrow4" loCatId="" qsTypeId="urn:microsoft.com/office/officeart/2005/8/quickstyle/simple1" qsCatId="simple" csTypeId="urn:microsoft.com/office/officeart/2005/8/colors/accent1_2" csCatId="accent1" phldr="1"/>
      <dgm:spPr/>
      <dgm:t>
        <a:bodyPr/>
        <a:lstStyle/>
        <a:p>
          <a:endParaRPr lang="en-US"/>
        </a:p>
      </dgm:t>
    </dgm:pt>
    <dgm:pt modelId="{C8DE1404-595C-9149-B950-8153E420965F}">
      <dgm:prSet phldrT="[Text]" custT="1"/>
      <dgm:spPr/>
      <dgm:t>
        <a:bodyPr/>
        <a:lstStyle/>
        <a:p>
          <a:r>
            <a:rPr lang="en-US" sz="2400">
              <a:latin typeface="Lucida Bright" panose="02040602050505020304" pitchFamily="18" charset="77"/>
            </a:rPr>
            <a:t>National-Brand Products </a:t>
          </a:r>
        </a:p>
      </dgm:t>
    </dgm:pt>
    <dgm:pt modelId="{163BF163-FACE-B64A-B704-EEBC0E638D43}" type="parTrans" cxnId="{8FE0A893-B42D-7342-A829-A696BB7D4157}">
      <dgm:prSet/>
      <dgm:spPr/>
      <dgm:t>
        <a:bodyPr/>
        <a:lstStyle/>
        <a:p>
          <a:endParaRPr lang="en-US" sz="1400">
            <a:latin typeface="Lucida Bright" panose="02040602050505020304" pitchFamily="18" charset="77"/>
          </a:endParaRPr>
        </a:p>
      </dgm:t>
    </dgm:pt>
    <dgm:pt modelId="{C66CE600-84CE-F24A-8BE8-41FA0EA46393}" type="sibTrans" cxnId="{8FE0A893-B42D-7342-A829-A696BB7D4157}">
      <dgm:prSet/>
      <dgm:spPr/>
      <dgm:t>
        <a:bodyPr/>
        <a:lstStyle/>
        <a:p>
          <a:endParaRPr lang="en-US" sz="1400">
            <a:latin typeface="Lucida Bright" panose="02040602050505020304" pitchFamily="18" charset="77"/>
          </a:endParaRPr>
        </a:p>
      </dgm:t>
    </dgm:pt>
    <dgm:pt modelId="{194D0993-58AA-BA49-A80C-BEC38A32C487}">
      <dgm:prSet phldrT="[Text]" custT="1"/>
      <dgm:spPr/>
      <dgm:t>
        <a:bodyPr/>
        <a:lstStyle/>
        <a:p>
          <a:r>
            <a:rPr lang="en-US" sz="2400">
              <a:latin typeface="Lucida Bright" panose="02040602050505020304" pitchFamily="18" charset="77"/>
            </a:rPr>
            <a:t>Private-Label Products</a:t>
          </a:r>
        </a:p>
      </dgm:t>
    </dgm:pt>
    <dgm:pt modelId="{9B1C49B2-3775-0044-8256-DEB313234697}" type="parTrans" cxnId="{F72C7114-BCA1-E040-BD38-1A022473E3A6}">
      <dgm:prSet/>
      <dgm:spPr/>
      <dgm:t>
        <a:bodyPr/>
        <a:lstStyle/>
        <a:p>
          <a:endParaRPr lang="en-US" sz="1400">
            <a:latin typeface="Lucida Bright" panose="02040602050505020304" pitchFamily="18" charset="77"/>
          </a:endParaRPr>
        </a:p>
      </dgm:t>
    </dgm:pt>
    <dgm:pt modelId="{3757E8F5-5509-124C-A7E1-FD6A81B7DB67}" type="sibTrans" cxnId="{F72C7114-BCA1-E040-BD38-1A022473E3A6}">
      <dgm:prSet/>
      <dgm:spPr/>
      <dgm:t>
        <a:bodyPr/>
        <a:lstStyle/>
        <a:p>
          <a:endParaRPr lang="en-US" sz="1400">
            <a:latin typeface="Lucida Bright" panose="02040602050505020304" pitchFamily="18" charset="77"/>
          </a:endParaRPr>
        </a:p>
      </dgm:t>
    </dgm:pt>
    <dgm:pt modelId="{A3AD81CA-B2A4-D047-9C5D-366F15A666F1}" type="pres">
      <dgm:prSet presAssocID="{EA94AF88-7196-AF4C-8EAF-B54F3E123AF2}" presName="compositeShape" presStyleCnt="0">
        <dgm:presLayoutVars>
          <dgm:chMax val="2"/>
          <dgm:dir/>
          <dgm:resizeHandles val="exact"/>
        </dgm:presLayoutVars>
      </dgm:prSet>
      <dgm:spPr/>
    </dgm:pt>
    <dgm:pt modelId="{8D450537-55D3-CD44-82B6-7F3E930838AD}" type="pres">
      <dgm:prSet presAssocID="{C8DE1404-595C-9149-B950-8153E420965F}" presName="upArrow" presStyleLbl="node1" presStyleIdx="0" presStyleCnt="2"/>
      <dgm:spPr>
        <a:solidFill>
          <a:srgbClr val="0E51A2"/>
        </a:solidFill>
        <a:ln>
          <a:solidFill>
            <a:srgbClr val="0E51A2"/>
          </a:solidFill>
        </a:ln>
      </dgm:spPr>
    </dgm:pt>
    <dgm:pt modelId="{1EDA4CB9-4F21-564F-94AE-FDE61D39FF51}" type="pres">
      <dgm:prSet presAssocID="{C8DE1404-595C-9149-B950-8153E420965F}" presName="upArrowText" presStyleLbl="revTx" presStyleIdx="0" presStyleCnt="2" custScaleX="109732" custLinFactNeighborX="4794">
        <dgm:presLayoutVars>
          <dgm:chMax val="0"/>
          <dgm:bulletEnabled val="1"/>
        </dgm:presLayoutVars>
      </dgm:prSet>
      <dgm:spPr/>
    </dgm:pt>
    <dgm:pt modelId="{CC924D05-85A5-634C-9DF5-CA47EB8DA7B7}" type="pres">
      <dgm:prSet presAssocID="{194D0993-58AA-BA49-A80C-BEC38A32C487}" presName="downArrow" presStyleLbl="node1" presStyleIdx="1" presStyleCnt="2"/>
      <dgm:spPr>
        <a:solidFill>
          <a:srgbClr val="0E51A2"/>
        </a:solidFill>
        <a:ln>
          <a:solidFill>
            <a:srgbClr val="0E51A2"/>
          </a:solidFill>
        </a:ln>
      </dgm:spPr>
    </dgm:pt>
    <dgm:pt modelId="{CBA9A3FA-A6AD-5A44-9E2E-13D44FDABE65}" type="pres">
      <dgm:prSet presAssocID="{194D0993-58AA-BA49-A80C-BEC38A32C487}" presName="downArrowText" presStyleLbl="revTx" presStyleIdx="1" presStyleCnt="2">
        <dgm:presLayoutVars>
          <dgm:chMax val="0"/>
          <dgm:bulletEnabled val="1"/>
        </dgm:presLayoutVars>
      </dgm:prSet>
      <dgm:spPr/>
    </dgm:pt>
  </dgm:ptLst>
  <dgm:cxnLst>
    <dgm:cxn modelId="{F72C7114-BCA1-E040-BD38-1A022473E3A6}" srcId="{EA94AF88-7196-AF4C-8EAF-B54F3E123AF2}" destId="{194D0993-58AA-BA49-A80C-BEC38A32C487}" srcOrd="1" destOrd="0" parTransId="{9B1C49B2-3775-0044-8256-DEB313234697}" sibTransId="{3757E8F5-5509-124C-A7E1-FD6A81B7DB67}"/>
    <dgm:cxn modelId="{8FE0A893-B42D-7342-A829-A696BB7D4157}" srcId="{EA94AF88-7196-AF4C-8EAF-B54F3E123AF2}" destId="{C8DE1404-595C-9149-B950-8153E420965F}" srcOrd="0" destOrd="0" parTransId="{163BF163-FACE-B64A-B704-EEBC0E638D43}" sibTransId="{C66CE600-84CE-F24A-8BE8-41FA0EA46393}"/>
    <dgm:cxn modelId="{F66DB1A2-A96F-1644-86F0-E604E438834A}" type="presOf" srcId="{194D0993-58AA-BA49-A80C-BEC38A32C487}" destId="{CBA9A3FA-A6AD-5A44-9E2E-13D44FDABE65}" srcOrd="0" destOrd="0" presId="urn:microsoft.com/office/officeart/2005/8/layout/arrow4"/>
    <dgm:cxn modelId="{DC9E71A4-81CF-0A48-A93A-69BD7C842AF2}" type="presOf" srcId="{C8DE1404-595C-9149-B950-8153E420965F}" destId="{1EDA4CB9-4F21-564F-94AE-FDE61D39FF51}" srcOrd="0" destOrd="0" presId="urn:microsoft.com/office/officeart/2005/8/layout/arrow4"/>
    <dgm:cxn modelId="{982A2FF6-0154-A14E-9EAC-1E56C7250714}" type="presOf" srcId="{EA94AF88-7196-AF4C-8EAF-B54F3E123AF2}" destId="{A3AD81CA-B2A4-D047-9C5D-366F15A666F1}" srcOrd="0" destOrd="0" presId="urn:microsoft.com/office/officeart/2005/8/layout/arrow4"/>
    <dgm:cxn modelId="{52E5E5BA-733A-F442-ADF7-4B24190157EE}" type="presParOf" srcId="{A3AD81CA-B2A4-D047-9C5D-366F15A666F1}" destId="{8D450537-55D3-CD44-82B6-7F3E930838AD}" srcOrd="0" destOrd="0" presId="urn:microsoft.com/office/officeart/2005/8/layout/arrow4"/>
    <dgm:cxn modelId="{3AF37256-8D18-F94D-9AF0-B12625BEB944}" type="presParOf" srcId="{A3AD81CA-B2A4-D047-9C5D-366F15A666F1}" destId="{1EDA4CB9-4F21-564F-94AE-FDE61D39FF51}" srcOrd="1" destOrd="0" presId="urn:microsoft.com/office/officeart/2005/8/layout/arrow4"/>
    <dgm:cxn modelId="{AC627600-D9A5-A347-99AE-5E3691B42E25}" type="presParOf" srcId="{A3AD81CA-B2A4-D047-9C5D-366F15A666F1}" destId="{CC924D05-85A5-634C-9DF5-CA47EB8DA7B7}" srcOrd="2" destOrd="0" presId="urn:microsoft.com/office/officeart/2005/8/layout/arrow4"/>
    <dgm:cxn modelId="{862644BA-401E-1E4B-BA91-08E2A4F414F4}" type="presParOf" srcId="{A3AD81CA-B2A4-D047-9C5D-366F15A666F1}" destId="{CBA9A3FA-A6AD-5A44-9E2E-13D44FDABE65}"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09C910-E888-F048-AAD5-94F10CF8A565}" type="doc">
      <dgm:prSet loTypeId="urn:microsoft.com/office/officeart/2005/8/layout/hProcess4" loCatId="" qsTypeId="urn:microsoft.com/office/officeart/2005/8/quickstyle/simple1" qsCatId="simple" csTypeId="urn:microsoft.com/office/officeart/2005/8/colors/accent1_2" csCatId="accent1" phldr="1"/>
      <dgm:spPr/>
      <dgm:t>
        <a:bodyPr/>
        <a:lstStyle/>
        <a:p>
          <a:endParaRPr lang="en-US"/>
        </a:p>
      </dgm:t>
    </dgm:pt>
    <dgm:pt modelId="{0C76A140-6DEA-1343-8CED-7729FF855151}">
      <dgm:prSet phldrT="[Text]"/>
      <dgm:spPr>
        <a:solidFill>
          <a:srgbClr val="8AA6D1"/>
        </a:solidFill>
      </dgm:spPr>
      <dgm:t>
        <a:bodyPr/>
        <a:lstStyle/>
        <a:p>
          <a:r>
            <a:rPr lang="en-US">
              <a:solidFill>
                <a:srgbClr val="FFFFFF"/>
              </a:solidFill>
              <a:latin typeface="Lucida Bright" panose="02040602050505020304" pitchFamily="18" charset="77"/>
            </a:rPr>
            <a:t>Summer</a:t>
          </a:r>
        </a:p>
      </dgm:t>
    </dgm:pt>
    <dgm:pt modelId="{8F650C32-8428-3645-9BBB-F741ED4527B1}" type="parTrans" cxnId="{AA6711FD-465D-F34D-9ADD-8C17E1F0E9E2}">
      <dgm:prSet/>
      <dgm:spPr/>
      <dgm:t>
        <a:bodyPr/>
        <a:lstStyle/>
        <a:p>
          <a:endParaRPr lang="en-US">
            <a:solidFill>
              <a:srgbClr val="FFFFFF"/>
            </a:solidFill>
            <a:latin typeface="Lucida Bright" panose="02040602050505020304" pitchFamily="18" charset="77"/>
          </a:endParaRPr>
        </a:p>
      </dgm:t>
    </dgm:pt>
    <dgm:pt modelId="{9B95AA24-81EF-184A-A990-FB5AF8039675}" type="sibTrans" cxnId="{AA6711FD-465D-F34D-9ADD-8C17E1F0E9E2}">
      <dgm:prSet/>
      <dgm:spPr/>
      <dgm:t>
        <a:bodyPr/>
        <a:lstStyle/>
        <a:p>
          <a:endParaRPr lang="en-US">
            <a:solidFill>
              <a:srgbClr val="FFFFFF"/>
            </a:solidFill>
            <a:latin typeface="Lucida Bright" panose="02040602050505020304" pitchFamily="18" charset="77"/>
          </a:endParaRPr>
        </a:p>
      </dgm:t>
    </dgm:pt>
    <dgm:pt modelId="{87E59360-B809-2C4A-9379-9245EC124FC1}">
      <dgm:prSet phldrT="[Text]" custT="1"/>
      <dgm:spPr>
        <a:solidFill>
          <a:srgbClr val="507CBA"/>
        </a:solidFill>
      </dgm:spPr>
      <dgm:t>
        <a:bodyPr/>
        <a:lstStyle/>
        <a:p>
          <a:r>
            <a:rPr lang="en-US" sz="1400">
              <a:solidFill>
                <a:srgbClr val="FFFFFF"/>
              </a:solidFill>
              <a:latin typeface="Lucida Bright" panose="02040602050505020304" pitchFamily="18" charset="77"/>
            </a:rPr>
            <a:t>2 Type A Campaigns</a:t>
          </a:r>
        </a:p>
      </dgm:t>
    </dgm:pt>
    <dgm:pt modelId="{C1915B3C-4FAA-3745-A03B-2BDB7492AEE8}" type="parTrans" cxnId="{4DADC1C1-1F19-014E-9ACB-BB9C4B917C3C}">
      <dgm:prSet/>
      <dgm:spPr/>
      <dgm:t>
        <a:bodyPr/>
        <a:lstStyle/>
        <a:p>
          <a:endParaRPr lang="en-US">
            <a:solidFill>
              <a:srgbClr val="FFFFFF"/>
            </a:solidFill>
            <a:latin typeface="Lucida Bright" panose="02040602050505020304" pitchFamily="18" charset="77"/>
          </a:endParaRPr>
        </a:p>
      </dgm:t>
    </dgm:pt>
    <dgm:pt modelId="{91CAB47F-8080-5C43-86EF-8055A7FA712B}" type="sibTrans" cxnId="{4DADC1C1-1F19-014E-9ACB-BB9C4B917C3C}">
      <dgm:prSet/>
      <dgm:spPr/>
      <dgm:t>
        <a:bodyPr/>
        <a:lstStyle/>
        <a:p>
          <a:endParaRPr lang="en-US">
            <a:solidFill>
              <a:srgbClr val="FFFFFF"/>
            </a:solidFill>
            <a:latin typeface="Lucida Bright" panose="02040602050505020304" pitchFamily="18" charset="77"/>
          </a:endParaRPr>
        </a:p>
      </dgm:t>
    </dgm:pt>
    <dgm:pt modelId="{E4B19096-FBEF-1B4A-9C41-135AF5B93DC9}">
      <dgm:prSet phldrT="[Text]" custT="1"/>
      <dgm:spPr>
        <a:solidFill>
          <a:srgbClr val="507CBA"/>
        </a:solidFill>
      </dgm:spPr>
      <dgm:t>
        <a:bodyPr/>
        <a:lstStyle/>
        <a:p>
          <a:r>
            <a:rPr lang="en-US" sz="1400">
              <a:solidFill>
                <a:srgbClr val="FFFFFF"/>
              </a:solidFill>
              <a:latin typeface="Lucida Bright" panose="02040602050505020304" pitchFamily="18" charset="77"/>
            </a:rPr>
            <a:t>Increase National Labels </a:t>
          </a:r>
        </a:p>
      </dgm:t>
    </dgm:pt>
    <dgm:pt modelId="{8D154FEC-60AA-BC41-8B6B-C161AC472AA7}" type="parTrans" cxnId="{48646C7A-28D5-C14E-B2DE-A55159B74A29}">
      <dgm:prSet/>
      <dgm:spPr/>
      <dgm:t>
        <a:bodyPr/>
        <a:lstStyle/>
        <a:p>
          <a:endParaRPr lang="en-US">
            <a:solidFill>
              <a:srgbClr val="FFFFFF"/>
            </a:solidFill>
            <a:latin typeface="Lucida Bright" panose="02040602050505020304" pitchFamily="18" charset="77"/>
          </a:endParaRPr>
        </a:p>
      </dgm:t>
    </dgm:pt>
    <dgm:pt modelId="{65CDAF95-0C58-A34B-ABF0-0D20B54F41D7}" type="sibTrans" cxnId="{48646C7A-28D5-C14E-B2DE-A55159B74A29}">
      <dgm:prSet/>
      <dgm:spPr/>
      <dgm:t>
        <a:bodyPr/>
        <a:lstStyle/>
        <a:p>
          <a:endParaRPr lang="en-US">
            <a:solidFill>
              <a:srgbClr val="FFFFFF"/>
            </a:solidFill>
            <a:latin typeface="Lucida Bright" panose="02040602050505020304" pitchFamily="18" charset="77"/>
          </a:endParaRPr>
        </a:p>
      </dgm:t>
    </dgm:pt>
    <dgm:pt modelId="{6A31A1CA-2FE5-EA4C-9EF6-9944F96CCE0C}">
      <dgm:prSet phldrT="[Text]"/>
      <dgm:spPr>
        <a:solidFill>
          <a:srgbClr val="8AA6D1"/>
        </a:solidFill>
      </dgm:spPr>
      <dgm:t>
        <a:bodyPr/>
        <a:lstStyle/>
        <a:p>
          <a:r>
            <a:rPr lang="en-US">
              <a:solidFill>
                <a:srgbClr val="FFFFFF"/>
              </a:solidFill>
              <a:latin typeface="Lucida Bright" panose="02040602050505020304" pitchFamily="18" charset="77"/>
            </a:rPr>
            <a:t>Fall</a:t>
          </a:r>
        </a:p>
      </dgm:t>
    </dgm:pt>
    <dgm:pt modelId="{97E417DA-A4D7-6243-BE57-AC8672BA3726}" type="parTrans" cxnId="{5F0B7ABE-D472-F743-9566-BCD9CF4CAED3}">
      <dgm:prSet/>
      <dgm:spPr/>
      <dgm:t>
        <a:bodyPr/>
        <a:lstStyle/>
        <a:p>
          <a:endParaRPr lang="en-US">
            <a:solidFill>
              <a:srgbClr val="FFFFFF"/>
            </a:solidFill>
            <a:latin typeface="Lucida Bright" panose="02040602050505020304" pitchFamily="18" charset="77"/>
          </a:endParaRPr>
        </a:p>
      </dgm:t>
    </dgm:pt>
    <dgm:pt modelId="{9C70D7E5-0F43-EB4F-B0FB-8A77B8724DF2}" type="sibTrans" cxnId="{5F0B7ABE-D472-F743-9566-BCD9CF4CAED3}">
      <dgm:prSet/>
      <dgm:spPr/>
      <dgm:t>
        <a:bodyPr/>
        <a:lstStyle/>
        <a:p>
          <a:endParaRPr lang="en-US">
            <a:solidFill>
              <a:srgbClr val="FFFFFF"/>
            </a:solidFill>
            <a:latin typeface="Lucida Bright" panose="02040602050505020304" pitchFamily="18" charset="77"/>
          </a:endParaRPr>
        </a:p>
      </dgm:t>
    </dgm:pt>
    <dgm:pt modelId="{F7792CE5-6C2D-7C40-9F83-C9BCB5C206CA}">
      <dgm:prSet phldrT="[Text]" custT="1"/>
      <dgm:spPr>
        <a:solidFill>
          <a:srgbClr val="507CBA">
            <a:alpha val="90000"/>
          </a:srgbClr>
        </a:solidFill>
      </dgm:spPr>
      <dgm:t>
        <a:bodyPr/>
        <a:lstStyle/>
        <a:p>
          <a:r>
            <a:rPr lang="en-US" sz="1400">
              <a:solidFill>
                <a:srgbClr val="FFFFFF"/>
              </a:solidFill>
              <a:latin typeface="Lucida Bright" panose="02040602050505020304" pitchFamily="18" charset="77"/>
            </a:rPr>
            <a:t>2 Type A Campaigns</a:t>
          </a:r>
        </a:p>
      </dgm:t>
    </dgm:pt>
    <dgm:pt modelId="{D2F196A7-8E5B-3B42-A7A1-D7194766E27E}" type="parTrans" cxnId="{FFEBC063-ACA9-7743-9C7B-1C923A6A1B13}">
      <dgm:prSet/>
      <dgm:spPr/>
      <dgm:t>
        <a:bodyPr/>
        <a:lstStyle/>
        <a:p>
          <a:endParaRPr lang="en-US">
            <a:solidFill>
              <a:srgbClr val="FFFFFF"/>
            </a:solidFill>
            <a:latin typeface="Lucida Bright" panose="02040602050505020304" pitchFamily="18" charset="77"/>
          </a:endParaRPr>
        </a:p>
      </dgm:t>
    </dgm:pt>
    <dgm:pt modelId="{0F1C17FF-FDC0-6847-AFB2-C77B85E5EEAF}" type="sibTrans" cxnId="{FFEBC063-ACA9-7743-9C7B-1C923A6A1B13}">
      <dgm:prSet/>
      <dgm:spPr/>
      <dgm:t>
        <a:bodyPr/>
        <a:lstStyle/>
        <a:p>
          <a:endParaRPr lang="en-US">
            <a:solidFill>
              <a:srgbClr val="FFFFFF"/>
            </a:solidFill>
            <a:latin typeface="Lucida Bright" panose="02040602050505020304" pitchFamily="18" charset="77"/>
          </a:endParaRPr>
        </a:p>
      </dgm:t>
    </dgm:pt>
    <dgm:pt modelId="{81FA0C3E-723D-F447-814A-257487B908DD}">
      <dgm:prSet phldrT="[Text]" custT="1"/>
      <dgm:spPr>
        <a:solidFill>
          <a:srgbClr val="507CBA">
            <a:alpha val="90000"/>
          </a:srgbClr>
        </a:solidFill>
      </dgm:spPr>
      <dgm:t>
        <a:bodyPr/>
        <a:lstStyle/>
        <a:p>
          <a:r>
            <a:rPr lang="en-US" sz="1400">
              <a:solidFill>
                <a:srgbClr val="FFFFFF"/>
              </a:solidFill>
              <a:latin typeface="Lucida Bright" panose="02040602050505020304" pitchFamily="18" charset="77"/>
            </a:rPr>
            <a:t>Department Restructure</a:t>
          </a:r>
        </a:p>
      </dgm:t>
    </dgm:pt>
    <dgm:pt modelId="{E2864C1C-96C3-3846-B5F2-FB5E579050BE}" type="parTrans" cxnId="{73CEF452-E7E4-C542-A6CE-19AD45517401}">
      <dgm:prSet/>
      <dgm:spPr/>
      <dgm:t>
        <a:bodyPr/>
        <a:lstStyle/>
        <a:p>
          <a:endParaRPr lang="en-US">
            <a:solidFill>
              <a:srgbClr val="FFFFFF"/>
            </a:solidFill>
            <a:latin typeface="Lucida Bright" panose="02040602050505020304" pitchFamily="18" charset="77"/>
          </a:endParaRPr>
        </a:p>
      </dgm:t>
    </dgm:pt>
    <dgm:pt modelId="{FD186DDA-20B4-AC4F-BE53-F9C1E1B886F1}" type="sibTrans" cxnId="{73CEF452-E7E4-C542-A6CE-19AD45517401}">
      <dgm:prSet/>
      <dgm:spPr/>
      <dgm:t>
        <a:bodyPr/>
        <a:lstStyle/>
        <a:p>
          <a:endParaRPr lang="en-US">
            <a:solidFill>
              <a:srgbClr val="FFFFFF"/>
            </a:solidFill>
            <a:latin typeface="Lucida Bright" panose="02040602050505020304" pitchFamily="18" charset="77"/>
          </a:endParaRPr>
        </a:p>
      </dgm:t>
    </dgm:pt>
    <dgm:pt modelId="{A738450E-8229-D343-97FF-AD3C3D51CE34}">
      <dgm:prSet phldrT="[Text]"/>
      <dgm:spPr>
        <a:solidFill>
          <a:srgbClr val="8AA6D1"/>
        </a:solidFill>
      </dgm:spPr>
      <dgm:t>
        <a:bodyPr/>
        <a:lstStyle/>
        <a:p>
          <a:r>
            <a:rPr lang="en-US">
              <a:solidFill>
                <a:srgbClr val="FFFFFF"/>
              </a:solidFill>
              <a:latin typeface="Lucida Bright" panose="02040602050505020304" pitchFamily="18" charset="77"/>
            </a:rPr>
            <a:t>Winter</a:t>
          </a:r>
        </a:p>
      </dgm:t>
    </dgm:pt>
    <dgm:pt modelId="{F0810732-56FB-C34D-AECF-6DCF013F6C97}" type="parTrans" cxnId="{F57416E6-17D1-054D-ABDB-84FD1939FE38}">
      <dgm:prSet/>
      <dgm:spPr/>
      <dgm:t>
        <a:bodyPr/>
        <a:lstStyle/>
        <a:p>
          <a:endParaRPr lang="en-US">
            <a:solidFill>
              <a:srgbClr val="FFFFFF"/>
            </a:solidFill>
            <a:latin typeface="Lucida Bright" panose="02040602050505020304" pitchFamily="18" charset="77"/>
          </a:endParaRPr>
        </a:p>
      </dgm:t>
    </dgm:pt>
    <dgm:pt modelId="{56976163-693F-F847-BE90-541B8410E67D}" type="sibTrans" cxnId="{F57416E6-17D1-054D-ABDB-84FD1939FE38}">
      <dgm:prSet/>
      <dgm:spPr/>
      <dgm:t>
        <a:bodyPr/>
        <a:lstStyle/>
        <a:p>
          <a:endParaRPr lang="en-US">
            <a:solidFill>
              <a:srgbClr val="FFFFFF"/>
            </a:solidFill>
            <a:latin typeface="Lucida Bright" panose="02040602050505020304" pitchFamily="18" charset="77"/>
          </a:endParaRPr>
        </a:p>
      </dgm:t>
    </dgm:pt>
    <dgm:pt modelId="{C5FFF06B-D6B2-5A49-B52B-5C8424D69897}">
      <dgm:prSet phldrT="[Text]" custT="1"/>
      <dgm:spPr>
        <a:solidFill>
          <a:srgbClr val="507CBA"/>
        </a:solidFill>
      </dgm:spPr>
      <dgm:t>
        <a:bodyPr/>
        <a:lstStyle/>
        <a:p>
          <a:r>
            <a:rPr lang="en-US" sz="1400">
              <a:solidFill>
                <a:srgbClr val="FFFFFF"/>
              </a:solidFill>
              <a:latin typeface="Lucida Bright" panose="02040602050505020304" pitchFamily="18" charset="77"/>
            </a:rPr>
            <a:t>2 Type A Campaigns</a:t>
          </a:r>
        </a:p>
      </dgm:t>
    </dgm:pt>
    <dgm:pt modelId="{71C97AAB-B226-4944-95DE-65C54C5C5C2E}" type="parTrans" cxnId="{0BD9984E-6445-FC45-93BA-69FBACB83C47}">
      <dgm:prSet/>
      <dgm:spPr/>
      <dgm:t>
        <a:bodyPr/>
        <a:lstStyle/>
        <a:p>
          <a:endParaRPr lang="en-US">
            <a:solidFill>
              <a:srgbClr val="FFFFFF"/>
            </a:solidFill>
            <a:latin typeface="Lucida Bright" panose="02040602050505020304" pitchFamily="18" charset="77"/>
          </a:endParaRPr>
        </a:p>
      </dgm:t>
    </dgm:pt>
    <dgm:pt modelId="{930519CA-D866-E149-AA37-97CC92A3B579}" type="sibTrans" cxnId="{0BD9984E-6445-FC45-93BA-69FBACB83C47}">
      <dgm:prSet/>
      <dgm:spPr/>
      <dgm:t>
        <a:bodyPr/>
        <a:lstStyle/>
        <a:p>
          <a:endParaRPr lang="en-US">
            <a:solidFill>
              <a:srgbClr val="FFFFFF"/>
            </a:solidFill>
            <a:latin typeface="Lucida Bright" panose="02040602050505020304" pitchFamily="18" charset="77"/>
          </a:endParaRPr>
        </a:p>
      </dgm:t>
    </dgm:pt>
    <dgm:pt modelId="{0A583997-AE40-CB4D-84EC-54C4ACAD7D72}">
      <dgm:prSet phldrT="[Text]" custT="1"/>
      <dgm:spPr>
        <a:solidFill>
          <a:srgbClr val="507CBA"/>
        </a:solidFill>
      </dgm:spPr>
      <dgm:t>
        <a:bodyPr/>
        <a:lstStyle/>
        <a:p>
          <a:r>
            <a:rPr lang="en-US" sz="1400">
              <a:solidFill>
                <a:srgbClr val="FFFFFF"/>
              </a:solidFill>
              <a:latin typeface="Lucida Bright" panose="02040602050505020304" pitchFamily="18" charset="77"/>
            </a:rPr>
            <a:t>Increase National Labels</a:t>
          </a:r>
        </a:p>
      </dgm:t>
    </dgm:pt>
    <dgm:pt modelId="{6DA51C9E-4F4C-9946-8F36-78CEF6828514}" type="parTrans" cxnId="{DBDC60DC-A77E-824D-B332-57E742396E72}">
      <dgm:prSet/>
      <dgm:spPr/>
      <dgm:t>
        <a:bodyPr/>
        <a:lstStyle/>
        <a:p>
          <a:endParaRPr lang="en-US">
            <a:solidFill>
              <a:srgbClr val="FFFFFF"/>
            </a:solidFill>
            <a:latin typeface="Lucida Bright" panose="02040602050505020304" pitchFamily="18" charset="77"/>
          </a:endParaRPr>
        </a:p>
      </dgm:t>
    </dgm:pt>
    <dgm:pt modelId="{C3543ACD-FEED-1548-92C1-E405A89B21F7}" type="sibTrans" cxnId="{DBDC60DC-A77E-824D-B332-57E742396E72}">
      <dgm:prSet/>
      <dgm:spPr/>
      <dgm:t>
        <a:bodyPr/>
        <a:lstStyle/>
        <a:p>
          <a:endParaRPr lang="en-US">
            <a:solidFill>
              <a:srgbClr val="FFFFFF"/>
            </a:solidFill>
            <a:latin typeface="Lucida Bright" panose="02040602050505020304" pitchFamily="18" charset="77"/>
          </a:endParaRPr>
        </a:p>
      </dgm:t>
    </dgm:pt>
    <dgm:pt modelId="{3AEDFA84-F552-054C-9EDF-2F166BB06FD3}">
      <dgm:prSet/>
      <dgm:spPr>
        <a:solidFill>
          <a:srgbClr val="8AA6D1"/>
        </a:solidFill>
      </dgm:spPr>
      <dgm:t>
        <a:bodyPr/>
        <a:lstStyle/>
        <a:p>
          <a:r>
            <a:rPr lang="en-US">
              <a:solidFill>
                <a:srgbClr val="FFFFFF"/>
              </a:solidFill>
              <a:latin typeface="Lucida Bright" panose="02040602050505020304" pitchFamily="18" charset="77"/>
            </a:rPr>
            <a:t>Spring</a:t>
          </a:r>
        </a:p>
      </dgm:t>
    </dgm:pt>
    <dgm:pt modelId="{D937A2B9-8F38-2340-B607-DF8635B42826}" type="parTrans" cxnId="{ABCACD56-65BB-5341-9CE1-834E0BD244F9}">
      <dgm:prSet/>
      <dgm:spPr/>
      <dgm:t>
        <a:bodyPr/>
        <a:lstStyle/>
        <a:p>
          <a:endParaRPr lang="en-US">
            <a:solidFill>
              <a:srgbClr val="FFFFFF"/>
            </a:solidFill>
            <a:latin typeface="Lucida Bright" panose="02040602050505020304" pitchFamily="18" charset="77"/>
          </a:endParaRPr>
        </a:p>
      </dgm:t>
    </dgm:pt>
    <dgm:pt modelId="{4BC39E68-AF74-C745-9707-F4E7CECB5C7E}" type="sibTrans" cxnId="{ABCACD56-65BB-5341-9CE1-834E0BD244F9}">
      <dgm:prSet/>
      <dgm:spPr/>
      <dgm:t>
        <a:bodyPr/>
        <a:lstStyle/>
        <a:p>
          <a:endParaRPr lang="en-US">
            <a:solidFill>
              <a:srgbClr val="FFFFFF"/>
            </a:solidFill>
            <a:latin typeface="Lucida Bright" panose="02040602050505020304" pitchFamily="18" charset="77"/>
          </a:endParaRPr>
        </a:p>
      </dgm:t>
    </dgm:pt>
    <dgm:pt modelId="{CE8CC9F7-B15D-B649-BBCA-D65350DA64A7}">
      <dgm:prSet phldrT="[Text]"/>
      <dgm:spPr>
        <a:solidFill>
          <a:srgbClr val="507CBA">
            <a:alpha val="90000"/>
          </a:srgbClr>
        </a:solidFill>
      </dgm:spPr>
      <dgm:t>
        <a:bodyPr/>
        <a:lstStyle/>
        <a:p>
          <a:r>
            <a:rPr lang="en-US">
              <a:solidFill>
                <a:srgbClr val="FFFFFF"/>
              </a:solidFill>
              <a:latin typeface="Lucida Bright" panose="02040602050505020304" pitchFamily="18" charset="77"/>
            </a:rPr>
            <a:t>2 Type A Campaigns</a:t>
          </a:r>
        </a:p>
      </dgm:t>
    </dgm:pt>
    <dgm:pt modelId="{A69B7B5D-AB63-2F42-9415-BEF4A61FE02B}" type="parTrans" cxnId="{7562992F-A61F-1047-96EB-4478C3B41A54}">
      <dgm:prSet/>
      <dgm:spPr/>
      <dgm:t>
        <a:bodyPr/>
        <a:lstStyle/>
        <a:p>
          <a:endParaRPr lang="en-US">
            <a:solidFill>
              <a:srgbClr val="FFFFFF"/>
            </a:solidFill>
            <a:latin typeface="Lucida Bright" panose="02040602050505020304" pitchFamily="18" charset="77"/>
          </a:endParaRPr>
        </a:p>
      </dgm:t>
    </dgm:pt>
    <dgm:pt modelId="{527A4A95-679F-AF42-9BDE-51AD25DB362D}" type="sibTrans" cxnId="{7562992F-A61F-1047-96EB-4478C3B41A54}">
      <dgm:prSet/>
      <dgm:spPr/>
      <dgm:t>
        <a:bodyPr/>
        <a:lstStyle/>
        <a:p>
          <a:endParaRPr lang="en-US">
            <a:solidFill>
              <a:srgbClr val="FFFFFF"/>
            </a:solidFill>
            <a:latin typeface="Lucida Bright" panose="02040602050505020304" pitchFamily="18" charset="77"/>
          </a:endParaRPr>
        </a:p>
      </dgm:t>
    </dgm:pt>
    <dgm:pt modelId="{3EA1FD17-36C7-8146-A45A-90EDAF7FA879}">
      <dgm:prSet phldrT="[Text]"/>
      <dgm:spPr>
        <a:solidFill>
          <a:srgbClr val="507CBA">
            <a:alpha val="90000"/>
          </a:srgbClr>
        </a:solidFill>
      </dgm:spPr>
      <dgm:t>
        <a:bodyPr/>
        <a:lstStyle/>
        <a:p>
          <a:r>
            <a:rPr lang="en-US">
              <a:solidFill>
                <a:srgbClr val="FFFFFF"/>
              </a:solidFill>
              <a:latin typeface="Lucida Bright" panose="02040602050505020304" pitchFamily="18" charset="77"/>
            </a:rPr>
            <a:t>Department Restructure</a:t>
          </a:r>
        </a:p>
      </dgm:t>
    </dgm:pt>
    <dgm:pt modelId="{C9C185EC-278E-F24B-8106-F44097DAAAB5}" type="parTrans" cxnId="{AFE3960B-5A98-4B48-89AD-2A289934636E}">
      <dgm:prSet/>
      <dgm:spPr/>
      <dgm:t>
        <a:bodyPr/>
        <a:lstStyle/>
        <a:p>
          <a:endParaRPr lang="en-US">
            <a:solidFill>
              <a:srgbClr val="FFFFFF"/>
            </a:solidFill>
            <a:latin typeface="Lucida Bright" panose="02040602050505020304" pitchFamily="18" charset="77"/>
          </a:endParaRPr>
        </a:p>
      </dgm:t>
    </dgm:pt>
    <dgm:pt modelId="{B4E2E5FB-A7C9-BE49-8CB7-A911B894A28D}" type="sibTrans" cxnId="{AFE3960B-5A98-4B48-89AD-2A289934636E}">
      <dgm:prSet/>
      <dgm:spPr/>
      <dgm:t>
        <a:bodyPr/>
        <a:lstStyle/>
        <a:p>
          <a:endParaRPr lang="en-US">
            <a:solidFill>
              <a:srgbClr val="FFFFFF"/>
            </a:solidFill>
            <a:latin typeface="Lucida Bright" panose="02040602050505020304" pitchFamily="18" charset="77"/>
          </a:endParaRPr>
        </a:p>
      </dgm:t>
    </dgm:pt>
    <dgm:pt modelId="{2F90F21C-011F-EA43-8569-05D481E6FD3C}" type="pres">
      <dgm:prSet presAssocID="{E209C910-E888-F048-AAD5-94F10CF8A565}" presName="Name0" presStyleCnt="0">
        <dgm:presLayoutVars>
          <dgm:dir/>
          <dgm:animLvl val="lvl"/>
          <dgm:resizeHandles val="exact"/>
        </dgm:presLayoutVars>
      </dgm:prSet>
      <dgm:spPr/>
    </dgm:pt>
    <dgm:pt modelId="{BE4512AC-82C6-6A48-A0DC-D3D4DD663DDE}" type="pres">
      <dgm:prSet presAssocID="{E209C910-E888-F048-AAD5-94F10CF8A565}" presName="tSp" presStyleCnt="0"/>
      <dgm:spPr/>
    </dgm:pt>
    <dgm:pt modelId="{784D99CB-ADEA-AC42-A844-EF652ABED434}" type="pres">
      <dgm:prSet presAssocID="{E209C910-E888-F048-AAD5-94F10CF8A565}" presName="bSp" presStyleCnt="0"/>
      <dgm:spPr/>
    </dgm:pt>
    <dgm:pt modelId="{EA95ADBB-7FBB-314A-816D-C9912FD6DBCE}" type="pres">
      <dgm:prSet presAssocID="{E209C910-E888-F048-AAD5-94F10CF8A565}" presName="process" presStyleCnt="0"/>
      <dgm:spPr/>
    </dgm:pt>
    <dgm:pt modelId="{93D1B1AC-85D6-9B44-95E2-36427B79E95C}" type="pres">
      <dgm:prSet presAssocID="{0C76A140-6DEA-1343-8CED-7729FF855151}" presName="composite1" presStyleCnt="0"/>
      <dgm:spPr/>
    </dgm:pt>
    <dgm:pt modelId="{1EE920C3-37D6-6C4C-A6A3-AF7BD8B43305}" type="pres">
      <dgm:prSet presAssocID="{0C76A140-6DEA-1343-8CED-7729FF855151}" presName="dummyNode1" presStyleLbl="node1" presStyleIdx="0" presStyleCnt="4"/>
      <dgm:spPr/>
    </dgm:pt>
    <dgm:pt modelId="{CBBEB95B-400F-2043-BAF8-6D28B129D0DC}" type="pres">
      <dgm:prSet presAssocID="{0C76A140-6DEA-1343-8CED-7729FF855151}" presName="childNode1" presStyleLbl="bgAcc1" presStyleIdx="0" presStyleCnt="4">
        <dgm:presLayoutVars>
          <dgm:bulletEnabled val="1"/>
        </dgm:presLayoutVars>
      </dgm:prSet>
      <dgm:spPr/>
    </dgm:pt>
    <dgm:pt modelId="{01276EEB-8286-1047-A678-49479581A014}" type="pres">
      <dgm:prSet presAssocID="{0C76A140-6DEA-1343-8CED-7729FF855151}" presName="childNode1tx" presStyleLbl="bgAcc1" presStyleIdx="0" presStyleCnt="4">
        <dgm:presLayoutVars>
          <dgm:bulletEnabled val="1"/>
        </dgm:presLayoutVars>
      </dgm:prSet>
      <dgm:spPr/>
    </dgm:pt>
    <dgm:pt modelId="{E031E004-BCE5-F340-9B65-2F141F78FE16}" type="pres">
      <dgm:prSet presAssocID="{0C76A140-6DEA-1343-8CED-7729FF855151}" presName="parentNode1" presStyleLbl="node1" presStyleIdx="0" presStyleCnt="4" custLinFactNeighborY="22526">
        <dgm:presLayoutVars>
          <dgm:chMax val="1"/>
          <dgm:bulletEnabled val="1"/>
        </dgm:presLayoutVars>
      </dgm:prSet>
      <dgm:spPr/>
    </dgm:pt>
    <dgm:pt modelId="{CADEE032-4446-EE4A-B874-BA0C921AE344}" type="pres">
      <dgm:prSet presAssocID="{0C76A140-6DEA-1343-8CED-7729FF855151}" presName="connSite1" presStyleCnt="0"/>
      <dgm:spPr/>
    </dgm:pt>
    <dgm:pt modelId="{E28A1B07-71EF-374E-8C61-9F3A6C456EDF}" type="pres">
      <dgm:prSet presAssocID="{9B95AA24-81EF-184A-A990-FB5AF8039675}" presName="Name9" presStyleLbl="sibTrans2D1" presStyleIdx="0" presStyleCnt="3"/>
      <dgm:spPr/>
    </dgm:pt>
    <dgm:pt modelId="{B0D2416D-2A25-9D42-BD84-976C693AE698}" type="pres">
      <dgm:prSet presAssocID="{6A31A1CA-2FE5-EA4C-9EF6-9944F96CCE0C}" presName="composite2" presStyleCnt="0"/>
      <dgm:spPr/>
    </dgm:pt>
    <dgm:pt modelId="{00FED423-DCD7-C143-BD8E-EF3B61A8E273}" type="pres">
      <dgm:prSet presAssocID="{6A31A1CA-2FE5-EA4C-9EF6-9944F96CCE0C}" presName="dummyNode2" presStyleLbl="node1" presStyleIdx="0" presStyleCnt="4"/>
      <dgm:spPr/>
    </dgm:pt>
    <dgm:pt modelId="{3330CF2F-6975-0B48-AEF2-40744DCE7447}" type="pres">
      <dgm:prSet presAssocID="{6A31A1CA-2FE5-EA4C-9EF6-9944F96CCE0C}" presName="childNode2" presStyleLbl="bgAcc1" presStyleIdx="1" presStyleCnt="4">
        <dgm:presLayoutVars>
          <dgm:bulletEnabled val="1"/>
        </dgm:presLayoutVars>
      </dgm:prSet>
      <dgm:spPr/>
    </dgm:pt>
    <dgm:pt modelId="{B2B310A9-5C70-D749-9509-9712DBE8EEC2}" type="pres">
      <dgm:prSet presAssocID="{6A31A1CA-2FE5-EA4C-9EF6-9944F96CCE0C}" presName="childNode2tx" presStyleLbl="bgAcc1" presStyleIdx="1" presStyleCnt="4">
        <dgm:presLayoutVars>
          <dgm:bulletEnabled val="1"/>
        </dgm:presLayoutVars>
      </dgm:prSet>
      <dgm:spPr/>
    </dgm:pt>
    <dgm:pt modelId="{3BC6884F-926B-3B4D-87E7-7DB7CAF964FA}" type="pres">
      <dgm:prSet presAssocID="{6A31A1CA-2FE5-EA4C-9EF6-9944F96CCE0C}" presName="parentNode2" presStyleLbl="node1" presStyleIdx="1" presStyleCnt="4">
        <dgm:presLayoutVars>
          <dgm:chMax val="0"/>
          <dgm:bulletEnabled val="1"/>
        </dgm:presLayoutVars>
      </dgm:prSet>
      <dgm:spPr/>
    </dgm:pt>
    <dgm:pt modelId="{4E041C1A-9654-F64F-AEEB-31FB15EE98C3}" type="pres">
      <dgm:prSet presAssocID="{6A31A1CA-2FE5-EA4C-9EF6-9944F96CCE0C}" presName="connSite2" presStyleCnt="0"/>
      <dgm:spPr/>
    </dgm:pt>
    <dgm:pt modelId="{F5325035-6EFF-F349-B4CB-2BCB8B1D4683}" type="pres">
      <dgm:prSet presAssocID="{9C70D7E5-0F43-EB4F-B0FB-8A77B8724DF2}" presName="Name18" presStyleLbl="sibTrans2D1" presStyleIdx="1" presStyleCnt="3"/>
      <dgm:spPr/>
    </dgm:pt>
    <dgm:pt modelId="{04646CB2-62C5-CE41-97BE-9091327F02EB}" type="pres">
      <dgm:prSet presAssocID="{A738450E-8229-D343-97FF-AD3C3D51CE34}" presName="composite1" presStyleCnt="0"/>
      <dgm:spPr/>
    </dgm:pt>
    <dgm:pt modelId="{218F8FA6-4C29-A54E-A3CF-DBA3CA406256}" type="pres">
      <dgm:prSet presAssocID="{A738450E-8229-D343-97FF-AD3C3D51CE34}" presName="dummyNode1" presStyleLbl="node1" presStyleIdx="1" presStyleCnt="4"/>
      <dgm:spPr/>
    </dgm:pt>
    <dgm:pt modelId="{D503BF49-F31C-8F4B-A329-FB9DF24D8759}" type="pres">
      <dgm:prSet presAssocID="{A738450E-8229-D343-97FF-AD3C3D51CE34}" presName="childNode1" presStyleLbl="bgAcc1" presStyleIdx="2" presStyleCnt="4">
        <dgm:presLayoutVars>
          <dgm:bulletEnabled val="1"/>
        </dgm:presLayoutVars>
      </dgm:prSet>
      <dgm:spPr/>
    </dgm:pt>
    <dgm:pt modelId="{8CD1F0EA-4F5E-3442-8C9E-729217054FB0}" type="pres">
      <dgm:prSet presAssocID="{A738450E-8229-D343-97FF-AD3C3D51CE34}" presName="childNode1tx" presStyleLbl="bgAcc1" presStyleIdx="2" presStyleCnt="4">
        <dgm:presLayoutVars>
          <dgm:bulletEnabled val="1"/>
        </dgm:presLayoutVars>
      </dgm:prSet>
      <dgm:spPr/>
    </dgm:pt>
    <dgm:pt modelId="{B8C0AE52-94F1-A643-BEBE-E4DF63CC2AD8}" type="pres">
      <dgm:prSet presAssocID="{A738450E-8229-D343-97FF-AD3C3D51CE34}" presName="parentNode1" presStyleLbl="node1" presStyleIdx="2" presStyleCnt="4" custLinFactNeighborX="851" custLinFactNeighborY="24348">
        <dgm:presLayoutVars>
          <dgm:chMax val="1"/>
          <dgm:bulletEnabled val="1"/>
        </dgm:presLayoutVars>
      </dgm:prSet>
      <dgm:spPr/>
    </dgm:pt>
    <dgm:pt modelId="{8D00AEE0-CE23-E146-8E51-6264A8C8FC7B}" type="pres">
      <dgm:prSet presAssocID="{A738450E-8229-D343-97FF-AD3C3D51CE34}" presName="connSite1" presStyleCnt="0"/>
      <dgm:spPr/>
    </dgm:pt>
    <dgm:pt modelId="{B464F322-4C29-6C42-BD4C-13A741EDF219}" type="pres">
      <dgm:prSet presAssocID="{56976163-693F-F847-BE90-541B8410E67D}" presName="Name9" presStyleLbl="sibTrans2D1" presStyleIdx="2" presStyleCnt="3"/>
      <dgm:spPr/>
    </dgm:pt>
    <dgm:pt modelId="{56B348EC-6EF6-1C4E-80A0-3CE360B77002}" type="pres">
      <dgm:prSet presAssocID="{3AEDFA84-F552-054C-9EDF-2F166BB06FD3}" presName="composite2" presStyleCnt="0"/>
      <dgm:spPr/>
    </dgm:pt>
    <dgm:pt modelId="{F13B97D0-E0E3-0B45-AC65-E39F0BDC36A3}" type="pres">
      <dgm:prSet presAssocID="{3AEDFA84-F552-054C-9EDF-2F166BB06FD3}" presName="dummyNode2" presStyleLbl="node1" presStyleIdx="2" presStyleCnt="4"/>
      <dgm:spPr/>
    </dgm:pt>
    <dgm:pt modelId="{14A5716C-F29B-3245-8488-AB15C60B434F}" type="pres">
      <dgm:prSet presAssocID="{3AEDFA84-F552-054C-9EDF-2F166BB06FD3}" presName="childNode2" presStyleLbl="bgAcc1" presStyleIdx="3" presStyleCnt="4">
        <dgm:presLayoutVars>
          <dgm:bulletEnabled val="1"/>
        </dgm:presLayoutVars>
      </dgm:prSet>
      <dgm:spPr/>
    </dgm:pt>
    <dgm:pt modelId="{22DED524-8687-9D43-B6BD-369323C91E48}" type="pres">
      <dgm:prSet presAssocID="{3AEDFA84-F552-054C-9EDF-2F166BB06FD3}" presName="childNode2tx" presStyleLbl="bgAcc1" presStyleIdx="3" presStyleCnt="4">
        <dgm:presLayoutVars>
          <dgm:bulletEnabled val="1"/>
        </dgm:presLayoutVars>
      </dgm:prSet>
      <dgm:spPr/>
    </dgm:pt>
    <dgm:pt modelId="{C466BF6C-B613-2E40-B0D5-7E756AAADBA2}" type="pres">
      <dgm:prSet presAssocID="{3AEDFA84-F552-054C-9EDF-2F166BB06FD3}" presName="parentNode2" presStyleLbl="node1" presStyleIdx="3" presStyleCnt="4">
        <dgm:presLayoutVars>
          <dgm:chMax val="0"/>
          <dgm:bulletEnabled val="1"/>
        </dgm:presLayoutVars>
      </dgm:prSet>
      <dgm:spPr/>
    </dgm:pt>
    <dgm:pt modelId="{870A9A3B-48C5-744D-926B-2EA3BCFF0F12}" type="pres">
      <dgm:prSet presAssocID="{3AEDFA84-F552-054C-9EDF-2F166BB06FD3}" presName="connSite2" presStyleCnt="0"/>
      <dgm:spPr/>
    </dgm:pt>
  </dgm:ptLst>
  <dgm:cxnLst>
    <dgm:cxn modelId="{B0DC6A01-FD3E-D14F-B925-56CEE2FDA50E}" type="presOf" srcId="{C5FFF06B-D6B2-5A49-B52B-5C8424D69897}" destId="{D503BF49-F31C-8F4B-A329-FB9DF24D8759}" srcOrd="0" destOrd="0" presId="urn:microsoft.com/office/officeart/2005/8/layout/hProcess4"/>
    <dgm:cxn modelId="{A4F48C04-9FCA-474E-882A-45C9A0D7C653}" type="presOf" srcId="{0A583997-AE40-CB4D-84EC-54C4ACAD7D72}" destId="{D503BF49-F31C-8F4B-A329-FB9DF24D8759}" srcOrd="0" destOrd="1" presId="urn:microsoft.com/office/officeart/2005/8/layout/hProcess4"/>
    <dgm:cxn modelId="{AFE3960B-5A98-4B48-89AD-2A289934636E}" srcId="{3AEDFA84-F552-054C-9EDF-2F166BB06FD3}" destId="{3EA1FD17-36C7-8146-A45A-90EDAF7FA879}" srcOrd="1" destOrd="0" parTransId="{C9C185EC-278E-F24B-8106-F44097DAAAB5}" sibTransId="{B4E2E5FB-A7C9-BE49-8CB7-A911B894A28D}"/>
    <dgm:cxn modelId="{609F780C-A6C8-2047-848A-31A5167ED8C4}" type="presOf" srcId="{3AEDFA84-F552-054C-9EDF-2F166BB06FD3}" destId="{C466BF6C-B613-2E40-B0D5-7E756AAADBA2}" srcOrd="0" destOrd="0" presId="urn:microsoft.com/office/officeart/2005/8/layout/hProcess4"/>
    <dgm:cxn modelId="{6E629813-AC2E-034E-90CA-512579318F8C}" type="presOf" srcId="{0A583997-AE40-CB4D-84EC-54C4ACAD7D72}" destId="{8CD1F0EA-4F5E-3442-8C9E-729217054FB0}" srcOrd="1" destOrd="1" presId="urn:microsoft.com/office/officeart/2005/8/layout/hProcess4"/>
    <dgm:cxn modelId="{5E6EF914-D3EC-3840-B3D8-5E0482FA3B72}" type="presOf" srcId="{56976163-693F-F847-BE90-541B8410E67D}" destId="{B464F322-4C29-6C42-BD4C-13A741EDF219}" srcOrd="0" destOrd="0" presId="urn:microsoft.com/office/officeart/2005/8/layout/hProcess4"/>
    <dgm:cxn modelId="{22A80720-A762-574E-B9B4-1BB6F54D2485}" type="presOf" srcId="{87E59360-B809-2C4A-9379-9245EC124FC1}" destId="{01276EEB-8286-1047-A678-49479581A014}" srcOrd="1" destOrd="0" presId="urn:microsoft.com/office/officeart/2005/8/layout/hProcess4"/>
    <dgm:cxn modelId="{8B351729-B363-2E4A-9170-744E5EE3F76D}" type="presOf" srcId="{9B95AA24-81EF-184A-A990-FB5AF8039675}" destId="{E28A1B07-71EF-374E-8C61-9F3A6C456EDF}" srcOrd="0" destOrd="0" presId="urn:microsoft.com/office/officeart/2005/8/layout/hProcess4"/>
    <dgm:cxn modelId="{7562992F-A61F-1047-96EB-4478C3B41A54}" srcId="{3AEDFA84-F552-054C-9EDF-2F166BB06FD3}" destId="{CE8CC9F7-B15D-B649-BBCA-D65350DA64A7}" srcOrd="0" destOrd="0" parTransId="{A69B7B5D-AB63-2F42-9415-BEF4A61FE02B}" sibTransId="{527A4A95-679F-AF42-9BDE-51AD25DB362D}"/>
    <dgm:cxn modelId="{48A6DB33-768D-F045-B303-3A425EC7C129}" type="presOf" srcId="{CE8CC9F7-B15D-B649-BBCA-D65350DA64A7}" destId="{22DED524-8687-9D43-B6BD-369323C91E48}" srcOrd="1" destOrd="0" presId="urn:microsoft.com/office/officeart/2005/8/layout/hProcess4"/>
    <dgm:cxn modelId="{FFEBC063-ACA9-7743-9C7B-1C923A6A1B13}" srcId="{6A31A1CA-2FE5-EA4C-9EF6-9944F96CCE0C}" destId="{F7792CE5-6C2D-7C40-9F83-C9BCB5C206CA}" srcOrd="0" destOrd="0" parTransId="{D2F196A7-8E5B-3B42-A7A1-D7194766E27E}" sibTransId="{0F1C17FF-FDC0-6847-AFB2-C77B85E5EEAF}"/>
    <dgm:cxn modelId="{D038FD4A-8FFA-D544-8D38-5B0B61555D66}" type="presOf" srcId="{F7792CE5-6C2D-7C40-9F83-C9BCB5C206CA}" destId="{B2B310A9-5C70-D749-9509-9712DBE8EEC2}" srcOrd="1" destOrd="0" presId="urn:microsoft.com/office/officeart/2005/8/layout/hProcess4"/>
    <dgm:cxn modelId="{0BD9984E-6445-FC45-93BA-69FBACB83C47}" srcId="{A738450E-8229-D343-97FF-AD3C3D51CE34}" destId="{C5FFF06B-D6B2-5A49-B52B-5C8424D69897}" srcOrd="0" destOrd="0" parTransId="{71C97AAB-B226-4944-95DE-65C54C5C5C2E}" sibTransId="{930519CA-D866-E149-AA37-97CC92A3B579}"/>
    <dgm:cxn modelId="{73CEF452-E7E4-C542-A6CE-19AD45517401}" srcId="{6A31A1CA-2FE5-EA4C-9EF6-9944F96CCE0C}" destId="{81FA0C3E-723D-F447-814A-257487B908DD}" srcOrd="1" destOrd="0" parTransId="{E2864C1C-96C3-3846-B5F2-FB5E579050BE}" sibTransId="{FD186DDA-20B4-AC4F-BE53-F9C1E1B886F1}"/>
    <dgm:cxn modelId="{ABCACD56-65BB-5341-9CE1-834E0BD244F9}" srcId="{E209C910-E888-F048-AAD5-94F10CF8A565}" destId="{3AEDFA84-F552-054C-9EDF-2F166BB06FD3}" srcOrd="3" destOrd="0" parTransId="{D937A2B9-8F38-2340-B607-DF8635B42826}" sibTransId="{4BC39E68-AF74-C745-9707-F4E7CECB5C7E}"/>
    <dgm:cxn modelId="{3DE14177-A270-C74A-9C0C-E6E125E13D9B}" type="presOf" srcId="{6A31A1CA-2FE5-EA4C-9EF6-9944F96CCE0C}" destId="{3BC6884F-926B-3B4D-87E7-7DB7CAF964FA}" srcOrd="0" destOrd="0" presId="urn:microsoft.com/office/officeart/2005/8/layout/hProcess4"/>
    <dgm:cxn modelId="{4FCFAA77-9AE5-1144-8698-0E829B10D43E}" type="presOf" srcId="{CE8CC9F7-B15D-B649-BBCA-D65350DA64A7}" destId="{14A5716C-F29B-3245-8488-AB15C60B434F}" srcOrd="0" destOrd="0" presId="urn:microsoft.com/office/officeart/2005/8/layout/hProcess4"/>
    <dgm:cxn modelId="{48646C7A-28D5-C14E-B2DE-A55159B74A29}" srcId="{0C76A140-6DEA-1343-8CED-7729FF855151}" destId="{E4B19096-FBEF-1B4A-9C41-135AF5B93DC9}" srcOrd="1" destOrd="0" parTransId="{8D154FEC-60AA-BC41-8B6B-C161AC472AA7}" sibTransId="{65CDAF95-0C58-A34B-ABF0-0D20B54F41D7}"/>
    <dgm:cxn modelId="{A03AB87F-70F0-3D41-A29A-C0E368128DC9}" type="presOf" srcId="{0C76A140-6DEA-1343-8CED-7729FF855151}" destId="{E031E004-BCE5-F340-9B65-2F141F78FE16}" srcOrd="0" destOrd="0" presId="urn:microsoft.com/office/officeart/2005/8/layout/hProcess4"/>
    <dgm:cxn modelId="{A8129187-870E-CE40-A744-54589F3093C8}" type="presOf" srcId="{E209C910-E888-F048-AAD5-94F10CF8A565}" destId="{2F90F21C-011F-EA43-8569-05D481E6FD3C}" srcOrd="0" destOrd="0" presId="urn:microsoft.com/office/officeart/2005/8/layout/hProcess4"/>
    <dgm:cxn modelId="{73306989-4D4C-7746-8684-15E2565A2D2D}" type="presOf" srcId="{C5FFF06B-D6B2-5A49-B52B-5C8424D69897}" destId="{8CD1F0EA-4F5E-3442-8C9E-729217054FB0}" srcOrd="1" destOrd="0" presId="urn:microsoft.com/office/officeart/2005/8/layout/hProcess4"/>
    <dgm:cxn modelId="{8387269B-3A0F-264F-B41A-18B12340DFA6}" type="presOf" srcId="{87E59360-B809-2C4A-9379-9245EC124FC1}" destId="{CBBEB95B-400F-2043-BAF8-6D28B129D0DC}" srcOrd="0" destOrd="0" presId="urn:microsoft.com/office/officeart/2005/8/layout/hProcess4"/>
    <dgm:cxn modelId="{035181AB-7AB6-1E4A-8ECD-C367AC197FE5}" type="presOf" srcId="{F7792CE5-6C2D-7C40-9F83-C9BCB5C206CA}" destId="{3330CF2F-6975-0B48-AEF2-40744DCE7447}" srcOrd="0" destOrd="0" presId="urn:microsoft.com/office/officeart/2005/8/layout/hProcess4"/>
    <dgm:cxn modelId="{CF858AB9-D4F8-544B-ACE5-662BC9322D27}" type="presOf" srcId="{81FA0C3E-723D-F447-814A-257487B908DD}" destId="{3330CF2F-6975-0B48-AEF2-40744DCE7447}" srcOrd="0" destOrd="1" presId="urn:microsoft.com/office/officeart/2005/8/layout/hProcess4"/>
    <dgm:cxn modelId="{5F0B7ABE-D472-F743-9566-BCD9CF4CAED3}" srcId="{E209C910-E888-F048-AAD5-94F10CF8A565}" destId="{6A31A1CA-2FE5-EA4C-9EF6-9944F96CCE0C}" srcOrd="1" destOrd="0" parTransId="{97E417DA-A4D7-6243-BE57-AC8672BA3726}" sibTransId="{9C70D7E5-0F43-EB4F-B0FB-8A77B8724DF2}"/>
    <dgm:cxn modelId="{528C7CBE-4C18-FA40-B64E-EF8C0CB77673}" type="presOf" srcId="{81FA0C3E-723D-F447-814A-257487B908DD}" destId="{B2B310A9-5C70-D749-9509-9712DBE8EEC2}" srcOrd="1" destOrd="1" presId="urn:microsoft.com/office/officeart/2005/8/layout/hProcess4"/>
    <dgm:cxn modelId="{A8061AC0-D561-BA4A-B577-6A5B93DD1265}" type="presOf" srcId="{E4B19096-FBEF-1B4A-9C41-135AF5B93DC9}" destId="{CBBEB95B-400F-2043-BAF8-6D28B129D0DC}" srcOrd="0" destOrd="1" presId="urn:microsoft.com/office/officeart/2005/8/layout/hProcess4"/>
    <dgm:cxn modelId="{4DADC1C1-1F19-014E-9ACB-BB9C4B917C3C}" srcId="{0C76A140-6DEA-1343-8CED-7729FF855151}" destId="{87E59360-B809-2C4A-9379-9245EC124FC1}" srcOrd="0" destOrd="0" parTransId="{C1915B3C-4FAA-3745-A03B-2BDB7492AEE8}" sibTransId="{91CAB47F-8080-5C43-86EF-8055A7FA712B}"/>
    <dgm:cxn modelId="{F8EF71C9-310B-2D4B-BB19-17B0AC4506AE}" type="presOf" srcId="{9C70D7E5-0F43-EB4F-B0FB-8A77B8724DF2}" destId="{F5325035-6EFF-F349-B4CB-2BCB8B1D4683}" srcOrd="0" destOrd="0" presId="urn:microsoft.com/office/officeart/2005/8/layout/hProcess4"/>
    <dgm:cxn modelId="{0806F8CE-4059-7B4E-94E9-B71E0A82B8E3}" type="presOf" srcId="{3EA1FD17-36C7-8146-A45A-90EDAF7FA879}" destId="{14A5716C-F29B-3245-8488-AB15C60B434F}" srcOrd="0" destOrd="1" presId="urn:microsoft.com/office/officeart/2005/8/layout/hProcess4"/>
    <dgm:cxn modelId="{DBDC60DC-A77E-824D-B332-57E742396E72}" srcId="{A738450E-8229-D343-97FF-AD3C3D51CE34}" destId="{0A583997-AE40-CB4D-84EC-54C4ACAD7D72}" srcOrd="1" destOrd="0" parTransId="{6DA51C9E-4F4C-9946-8F36-78CEF6828514}" sibTransId="{C3543ACD-FEED-1548-92C1-E405A89B21F7}"/>
    <dgm:cxn modelId="{F57416E6-17D1-054D-ABDB-84FD1939FE38}" srcId="{E209C910-E888-F048-AAD5-94F10CF8A565}" destId="{A738450E-8229-D343-97FF-AD3C3D51CE34}" srcOrd="2" destOrd="0" parTransId="{F0810732-56FB-C34D-AECF-6DCF013F6C97}" sibTransId="{56976163-693F-F847-BE90-541B8410E67D}"/>
    <dgm:cxn modelId="{122D4EE6-DCAF-5B4C-A50D-F057437265C5}" type="presOf" srcId="{E4B19096-FBEF-1B4A-9C41-135AF5B93DC9}" destId="{01276EEB-8286-1047-A678-49479581A014}" srcOrd="1" destOrd="1" presId="urn:microsoft.com/office/officeart/2005/8/layout/hProcess4"/>
    <dgm:cxn modelId="{4C6F5EEC-A5EA-3846-8F66-70512BF99FA3}" type="presOf" srcId="{3EA1FD17-36C7-8146-A45A-90EDAF7FA879}" destId="{22DED524-8687-9D43-B6BD-369323C91E48}" srcOrd="1" destOrd="1" presId="urn:microsoft.com/office/officeart/2005/8/layout/hProcess4"/>
    <dgm:cxn modelId="{FDDBFAF2-E8B3-8944-B577-38AAA9F19E8D}" type="presOf" srcId="{A738450E-8229-D343-97FF-AD3C3D51CE34}" destId="{B8C0AE52-94F1-A643-BEBE-E4DF63CC2AD8}" srcOrd="0" destOrd="0" presId="urn:microsoft.com/office/officeart/2005/8/layout/hProcess4"/>
    <dgm:cxn modelId="{AA6711FD-465D-F34D-9ADD-8C17E1F0E9E2}" srcId="{E209C910-E888-F048-AAD5-94F10CF8A565}" destId="{0C76A140-6DEA-1343-8CED-7729FF855151}" srcOrd="0" destOrd="0" parTransId="{8F650C32-8428-3645-9BBB-F741ED4527B1}" sibTransId="{9B95AA24-81EF-184A-A990-FB5AF8039675}"/>
    <dgm:cxn modelId="{DDD6F12D-F3F2-754B-A526-35FC8234E489}" type="presParOf" srcId="{2F90F21C-011F-EA43-8569-05D481E6FD3C}" destId="{BE4512AC-82C6-6A48-A0DC-D3D4DD663DDE}" srcOrd="0" destOrd="0" presId="urn:microsoft.com/office/officeart/2005/8/layout/hProcess4"/>
    <dgm:cxn modelId="{50608886-4A69-CB4D-B114-BA3576E006B2}" type="presParOf" srcId="{2F90F21C-011F-EA43-8569-05D481E6FD3C}" destId="{784D99CB-ADEA-AC42-A844-EF652ABED434}" srcOrd="1" destOrd="0" presId="urn:microsoft.com/office/officeart/2005/8/layout/hProcess4"/>
    <dgm:cxn modelId="{F4C52CBE-1EB2-1840-A577-9D52C429F632}" type="presParOf" srcId="{2F90F21C-011F-EA43-8569-05D481E6FD3C}" destId="{EA95ADBB-7FBB-314A-816D-C9912FD6DBCE}" srcOrd="2" destOrd="0" presId="urn:microsoft.com/office/officeart/2005/8/layout/hProcess4"/>
    <dgm:cxn modelId="{A2001689-72E9-8F4C-AE14-606180F43746}" type="presParOf" srcId="{EA95ADBB-7FBB-314A-816D-C9912FD6DBCE}" destId="{93D1B1AC-85D6-9B44-95E2-36427B79E95C}" srcOrd="0" destOrd="0" presId="urn:microsoft.com/office/officeart/2005/8/layout/hProcess4"/>
    <dgm:cxn modelId="{A1582CE9-60AA-C746-8E7F-B03FE011F80E}" type="presParOf" srcId="{93D1B1AC-85D6-9B44-95E2-36427B79E95C}" destId="{1EE920C3-37D6-6C4C-A6A3-AF7BD8B43305}" srcOrd="0" destOrd="0" presId="urn:microsoft.com/office/officeart/2005/8/layout/hProcess4"/>
    <dgm:cxn modelId="{E301DA68-B896-DB4E-A136-A485F1712D3C}" type="presParOf" srcId="{93D1B1AC-85D6-9B44-95E2-36427B79E95C}" destId="{CBBEB95B-400F-2043-BAF8-6D28B129D0DC}" srcOrd="1" destOrd="0" presId="urn:microsoft.com/office/officeart/2005/8/layout/hProcess4"/>
    <dgm:cxn modelId="{05401DC3-DA83-DE44-9A89-236B84CE9BAD}" type="presParOf" srcId="{93D1B1AC-85D6-9B44-95E2-36427B79E95C}" destId="{01276EEB-8286-1047-A678-49479581A014}" srcOrd="2" destOrd="0" presId="urn:microsoft.com/office/officeart/2005/8/layout/hProcess4"/>
    <dgm:cxn modelId="{39D4B6B9-81E2-9949-964F-86AF2F2DE7D7}" type="presParOf" srcId="{93D1B1AC-85D6-9B44-95E2-36427B79E95C}" destId="{E031E004-BCE5-F340-9B65-2F141F78FE16}" srcOrd="3" destOrd="0" presId="urn:microsoft.com/office/officeart/2005/8/layout/hProcess4"/>
    <dgm:cxn modelId="{F71A5D70-6163-ED4E-B41F-3C0EA52C52D9}" type="presParOf" srcId="{93D1B1AC-85D6-9B44-95E2-36427B79E95C}" destId="{CADEE032-4446-EE4A-B874-BA0C921AE344}" srcOrd="4" destOrd="0" presId="urn:microsoft.com/office/officeart/2005/8/layout/hProcess4"/>
    <dgm:cxn modelId="{991294F4-0475-EC4A-BF5E-AD751A33D1E0}" type="presParOf" srcId="{EA95ADBB-7FBB-314A-816D-C9912FD6DBCE}" destId="{E28A1B07-71EF-374E-8C61-9F3A6C456EDF}" srcOrd="1" destOrd="0" presId="urn:microsoft.com/office/officeart/2005/8/layout/hProcess4"/>
    <dgm:cxn modelId="{CB93A8CD-3A46-4F4C-AC7F-32D0DAB1C19D}" type="presParOf" srcId="{EA95ADBB-7FBB-314A-816D-C9912FD6DBCE}" destId="{B0D2416D-2A25-9D42-BD84-976C693AE698}" srcOrd="2" destOrd="0" presId="urn:microsoft.com/office/officeart/2005/8/layout/hProcess4"/>
    <dgm:cxn modelId="{1A99AED1-1793-9044-904A-AA4FEABD8CA8}" type="presParOf" srcId="{B0D2416D-2A25-9D42-BD84-976C693AE698}" destId="{00FED423-DCD7-C143-BD8E-EF3B61A8E273}" srcOrd="0" destOrd="0" presId="urn:microsoft.com/office/officeart/2005/8/layout/hProcess4"/>
    <dgm:cxn modelId="{85EB1ADB-B18B-1243-9147-DCFC1B93EBFD}" type="presParOf" srcId="{B0D2416D-2A25-9D42-BD84-976C693AE698}" destId="{3330CF2F-6975-0B48-AEF2-40744DCE7447}" srcOrd="1" destOrd="0" presId="urn:microsoft.com/office/officeart/2005/8/layout/hProcess4"/>
    <dgm:cxn modelId="{10B7773A-860C-154C-8AC2-D96413FD5679}" type="presParOf" srcId="{B0D2416D-2A25-9D42-BD84-976C693AE698}" destId="{B2B310A9-5C70-D749-9509-9712DBE8EEC2}" srcOrd="2" destOrd="0" presId="urn:microsoft.com/office/officeart/2005/8/layout/hProcess4"/>
    <dgm:cxn modelId="{47DA88EB-0636-2D47-A2DB-878807DC9AAC}" type="presParOf" srcId="{B0D2416D-2A25-9D42-BD84-976C693AE698}" destId="{3BC6884F-926B-3B4D-87E7-7DB7CAF964FA}" srcOrd="3" destOrd="0" presId="urn:microsoft.com/office/officeart/2005/8/layout/hProcess4"/>
    <dgm:cxn modelId="{7C06EFF3-A11B-FF4E-8682-CF023EA4C306}" type="presParOf" srcId="{B0D2416D-2A25-9D42-BD84-976C693AE698}" destId="{4E041C1A-9654-F64F-AEEB-31FB15EE98C3}" srcOrd="4" destOrd="0" presId="urn:microsoft.com/office/officeart/2005/8/layout/hProcess4"/>
    <dgm:cxn modelId="{2D17772F-2804-F744-9035-9A87960287BE}" type="presParOf" srcId="{EA95ADBB-7FBB-314A-816D-C9912FD6DBCE}" destId="{F5325035-6EFF-F349-B4CB-2BCB8B1D4683}" srcOrd="3" destOrd="0" presId="urn:microsoft.com/office/officeart/2005/8/layout/hProcess4"/>
    <dgm:cxn modelId="{C7ABCB7C-9DB8-D348-B2D4-F17FBECBBBF8}" type="presParOf" srcId="{EA95ADBB-7FBB-314A-816D-C9912FD6DBCE}" destId="{04646CB2-62C5-CE41-97BE-9091327F02EB}" srcOrd="4" destOrd="0" presId="urn:microsoft.com/office/officeart/2005/8/layout/hProcess4"/>
    <dgm:cxn modelId="{E55D8FC6-2C77-154A-9800-BA748E093CC4}" type="presParOf" srcId="{04646CB2-62C5-CE41-97BE-9091327F02EB}" destId="{218F8FA6-4C29-A54E-A3CF-DBA3CA406256}" srcOrd="0" destOrd="0" presId="urn:microsoft.com/office/officeart/2005/8/layout/hProcess4"/>
    <dgm:cxn modelId="{0FBE22C1-D08D-FF41-AFA9-B50C21F4D9E7}" type="presParOf" srcId="{04646CB2-62C5-CE41-97BE-9091327F02EB}" destId="{D503BF49-F31C-8F4B-A329-FB9DF24D8759}" srcOrd="1" destOrd="0" presId="urn:microsoft.com/office/officeart/2005/8/layout/hProcess4"/>
    <dgm:cxn modelId="{37C8A2F7-D1EA-7442-83F8-A7D6579C0A5B}" type="presParOf" srcId="{04646CB2-62C5-CE41-97BE-9091327F02EB}" destId="{8CD1F0EA-4F5E-3442-8C9E-729217054FB0}" srcOrd="2" destOrd="0" presId="urn:microsoft.com/office/officeart/2005/8/layout/hProcess4"/>
    <dgm:cxn modelId="{5CD49800-F346-3F40-BBCF-B21AE3349D8B}" type="presParOf" srcId="{04646CB2-62C5-CE41-97BE-9091327F02EB}" destId="{B8C0AE52-94F1-A643-BEBE-E4DF63CC2AD8}" srcOrd="3" destOrd="0" presId="urn:microsoft.com/office/officeart/2005/8/layout/hProcess4"/>
    <dgm:cxn modelId="{19ADEDEC-FD0D-DD43-8A37-365E6B04A885}" type="presParOf" srcId="{04646CB2-62C5-CE41-97BE-9091327F02EB}" destId="{8D00AEE0-CE23-E146-8E51-6264A8C8FC7B}" srcOrd="4" destOrd="0" presId="urn:microsoft.com/office/officeart/2005/8/layout/hProcess4"/>
    <dgm:cxn modelId="{7FB77698-F56C-AC49-B437-283BD5819A1D}" type="presParOf" srcId="{EA95ADBB-7FBB-314A-816D-C9912FD6DBCE}" destId="{B464F322-4C29-6C42-BD4C-13A741EDF219}" srcOrd="5" destOrd="0" presId="urn:microsoft.com/office/officeart/2005/8/layout/hProcess4"/>
    <dgm:cxn modelId="{B9570C92-5BCE-654F-BB9A-A27F80DBBAD4}" type="presParOf" srcId="{EA95ADBB-7FBB-314A-816D-C9912FD6DBCE}" destId="{56B348EC-6EF6-1C4E-80A0-3CE360B77002}" srcOrd="6" destOrd="0" presId="urn:microsoft.com/office/officeart/2005/8/layout/hProcess4"/>
    <dgm:cxn modelId="{FCAB1666-C559-B944-B517-9700152B0B0B}" type="presParOf" srcId="{56B348EC-6EF6-1C4E-80A0-3CE360B77002}" destId="{F13B97D0-E0E3-0B45-AC65-E39F0BDC36A3}" srcOrd="0" destOrd="0" presId="urn:microsoft.com/office/officeart/2005/8/layout/hProcess4"/>
    <dgm:cxn modelId="{A0083EF9-0A88-5E45-B46E-36796ADE8F52}" type="presParOf" srcId="{56B348EC-6EF6-1C4E-80A0-3CE360B77002}" destId="{14A5716C-F29B-3245-8488-AB15C60B434F}" srcOrd="1" destOrd="0" presId="urn:microsoft.com/office/officeart/2005/8/layout/hProcess4"/>
    <dgm:cxn modelId="{BB0E876B-6358-F542-97F1-AA6E563D5B56}" type="presParOf" srcId="{56B348EC-6EF6-1C4E-80A0-3CE360B77002}" destId="{22DED524-8687-9D43-B6BD-369323C91E48}" srcOrd="2" destOrd="0" presId="urn:microsoft.com/office/officeart/2005/8/layout/hProcess4"/>
    <dgm:cxn modelId="{A1C8BC4C-384B-8A4B-9743-2F1AB03FB0BB}" type="presParOf" srcId="{56B348EC-6EF6-1C4E-80A0-3CE360B77002}" destId="{C466BF6C-B613-2E40-B0D5-7E756AAADBA2}" srcOrd="3" destOrd="0" presId="urn:microsoft.com/office/officeart/2005/8/layout/hProcess4"/>
    <dgm:cxn modelId="{8C003133-1EEF-8544-932D-06B3E935B35F}" type="presParOf" srcId="{56B348EC-6EF6-1C4E-80A0-3CE360B77002}" destId="{870A9A3B-48C5-744D-926B-2EA3BCFF0F12}"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224B0F-3C45-C548-BA42-165BBE6916E6}" type="doc">
      <dgm:prSet loTypeId="urn:microsoft.com/office/officeart/2005/8/layout/cycle8" loCatId="" qsTypeId="urn:microsoft.com/office/officeart/2005/8/quickstyle/simple1" qsCatId="simple" csTypeId="urn:microsoft.com/office/officeart/2005/8/colors/accent1_2" csCatId="accent1" phldr="1"/>
      <dgm:spPr/>
    </dgm:pt>
    <dgm:pt modelId="{8711D8EF-2C18-F24A-B28B-162DC52CCB47}">
      <dgm:prSet phldrT="[Text]"/>
      <dgm:spPr>
        <a:solidFill>
          <a:srgbClr val="495B6F"/>
        </a:solidFill>
      </dgm:spPr>
      <dgm:t>
        <a:bodyPr/>
        <a:lstStyle/>
        <a:p>
          <a:r>
            <a:rPr lang="en-US">
              <a:latin typeface="Lucida Bright" panose="02040602050505020304" pitchFamily="18" charset="77"/>
            </a:rPr>
            <a:t>Increase Type A Campaigns</a:t>
          </a:r>
        </a:p>
      </dgm:t>
    </dgm:pt>
    <dgm:pt modelId="{3CA879C0-3F44-BB46-AD69-1EE22CFDCB82}" type="parTrans" cxnId="{6238F5A6-DD7C-2E44-AC28-9D0169F3FA46}">
      <dgm:prSet/>
      <dgm:spPr/>
      <dgm:t>
        <a:bodyPr/>
        <a:lstStyle/>
        <a:p>
          <a:endParaRPr lang="en-US">
            <a:latin typeface="Lucida Bright" panose="02040602050505020304" pitchFamily="18" charset="77"/>
          </a:endParaRPr>
        </a:p>
      </dgm:t>
    </dgm:pt>
    <dgm:pt modelId="{A95DF922-45EB-A645-B668-15DB7BA5C03F}" type="sibTrans" cxnId="{6238F5A6-DD7C-2E44-AC28-9D0169F3FA46}">
      <dgm:prSet/>
      <dgm:spPr/>
      <dgm:t>
        <a:bodyPr/>
        <a:lstStyle/>
        <a:p>
          <a:endParaRPr lang="en-US">
            <a:latin typeface="Lucida Bright" panose="02040602050505020304" pitchFamily="18" charset="77"/>
          </a:endParaRPr>
        </a:p>
      </dgm:t>
    </dgm:pt>
    <dgm:pt modelId="{07A123DE-6CAA-F541-A35C-709AEDC52A17}">
      <dgm:prSet phldrT="[Text]"/>
      <dgm:spPr>
        <a:solidFill>
          <a:srgbClr val="507CBA"/>
        </a:solidFill>
      </dgm:spPr>
      <dgm:t>
        <a:bodyPr/>
        <a:lstStyle/>
        <a:p>
          <a:r>
            <a:rPr lang="en-US">
              <a:latin typeface="Lucida Bright" panose="02040602050505020304" pitchFamily="18" charset="77"/>
            </a:rPr>
            <a:t>Reconstruct Promotional Placements</a:t>
          </a:r>
        </a:p>
      </dgm:t>
    </dgm:pt>
    <dgm:pt modelId="{C9C90435-881C-9140-BA38-B35ACF4EEC29}" type="parTrans" cxnId="{0742A527-DC02-454E-931A-CF8E9F39DA54}">
      <dgm:prSet/>
      <dgm:spPr/>
      <dgm:t>
        <a:bodyPr/>
        <a:lstStyle/>
        <a:p>
          <a:endParaRPr lang="en-US">
            <a:latin typeface="Lucida Bright" panose="02040602050505020304" pitchFamily="18" charset="77"/>
          </a:endParaRPr>
        </a:p>
      </dgm:t>
    </dgm:pt>
    <dgm:pt modelId="{2F5E60E4-7DB7-A749-A91B-D5591E5F0EE0}" type="sibTrans" cxnId="{0742A527-DC02-454E-931A-CF8E9F39DA54}">
      <dgm:prSet/>
      <dgm:spPr/>
      <dgm:t>
        <a:bodyPr/>
        <a:lstStyle/>
        <a:p>
          <a:endParaRPr lang="en-US">
            <a:latin typeface="Lucida Bright" panose="02040602050505020304" pitchFamily="18" charset="77"/>
          </a:endParaRPr>
        </a:p>
      </dgm:t>
    </dgm:pt>
    <dgm:pt modelId="{88510EFF-F28F-C549-8BD8-B6ED564CC096}">
      <dgm:prSet phldrT="[Text]"/>
      <dgm:spPr>
        <a:solidFill>
          <a:srgbClr val="0E51A2"/>
        </a:solidFill>
      </dgm:spPr>
      <dgm:t>
        <a:bodyPr/>
        <a:lstStyle/>
        <a:p>
          <a:r>
            <a:rPr lang="en-US">
              <a:latin typeface="Lucida Bright" panose="02040602050505020304" pitchFamily="18" charset="77"/>
            </a:rPr>
            <a:t>Increase National-Brand Product Promotions</a:t>
          </a:r>
        </a:p>
      </dgm:t>
    </dgm:pt>
    <dgm:pt modelId="{C9E8E084-EC8A-6C4B-893B-23C369D01F74}" type="parTrans" cxnId="{5628C508-80C9-4642-BF80-90F4982DACAF}">
      <dgm:prSet/>
      <dgm:spPr/>
      <dgm:t>
        <a:bodyPr/>
        <a:lstStyle/>
        <a:p>
          <a:endParaRPr lang="en-US">
            <a:latin typeface="Lucida Bright" panose="02040602050505020304" pitchFamily="18" charset="77"/>
          </a:endParaRPr>
        </a:p>
      </dgm:t>
    </dgm:pt>
    <dgm:pt modelId="{CDCA3F56-4F64-C042-B7CE-BB2127B8B505}" type="sibTrans" cxnId="{5628C508-80C9-4642-BF80-90F4982DACAF}">
      <dgm:prSet/>
      <dgm:spPr/>
      <dgm:t>
        <a:bodyPr/>
        <a:lstStyle/>
        <a:p>
          <a:endParaRPr lang="en-US">
            <a:latin typeface="Lucida Bright" panose="02040602050505020304" pitchFamily="18" charset="77"/>
          </a:endParaRPr>
        </a:p>
      </dgm:t>
    </dgm:pt>
    <dgm:pt modelId="{613F6D28-A7BB-1847-8DBA-DC33A235757B}" type="pres">
      <dgm:prSet presAssocID="{E9224B0F-3C45-C548-BA42-165BBE6916E6}" presName="compositeShape" presStyleCnt="0">
        <dgm:presLayoutVars>
          <dgm:chMax val="7"/>
          <dgm:dir/>
          <dgm:resizeHandles val="exact"/>
        </dgm:presLayoutVars>
      </dgm:prSet>
      <dgm:spPr/>
    </dgm:pt>
    <dgm:pt modelId="{663D862A-BF6F-A242-B5AF-495C87EAEFAC}" type="pres">
      <dgm:prSet presAssocID="{E9224B0F-3C45-C548-BA42-165BBE6916E6}" presName="wedge1" presStyleLbl="node1" presStyleIdx="0" presStyleCnt="3"/>
      <dgm:spPr/>
    </dgm:pt>
    <dgm:pt modelId="{316FD800-D668-A543-9A0D-7B38E82A413B}" type="pres">
      <dgm:prSet presAssocID="{E9224B0F-3C45-C548-BA42-165BBE6916E6}" presName="dummy1a" presStyleCnt="0"/>
      <dgm:spPr/>
    </dgm:pt>
    <dgm:pt modelId="{B647AF6A-C506-594E-BFAC-9CF36B6B6D6F}" type="pres">
      <dgm:prSet presAssocID="{E9224B0F-3C45-C548-BA42-165BBE6916E6}" presName="dummy1b" presStyleCnt="0"/>
      <dgm:spPr/>
    </dgm:pt>
    <dgm:pt modelId="{967920A0-7F72-4741-8154-4CFDFF3F54D6}" type="pres">
      <dgm:prSet presAssocID="{E9224B0F-3C45-C548-BA42-165BBE6916E6}" presName="wedge1Tx" presStyleLbl="node1" presStyleIdx="0" presStyleCnt="3">
        <dgm:presLayoutVars>
          <dgm:chMax val="0"/>
          <dgm:chPref val="0"/>
          <dgm:bulletEnabled val="1"/>
        </dgm:presLayoutVars>
      </dgm:prSet>
      <dgm:spPr/>
    </dgm:pt>
    <dgm:pt modelId="{1DE71D9D-7551-6542-B656-F5EB4DBDC984}" type="pres">
      <dgm:prSet presAssocID="{E9224B0F-3C45-C548-BA42-165BBE6916E6}" presName="wedge2" presStyleLbl="node1" presStyleIdx="1" presStyleCnt="3"/>
      <dgm:spPr/>
    </dgm:pt>
    <dgm:pt modelId="{7EBACC1F-8F00-544F-8623-94F092D33E27}" type="pres">
      <dgm:prSet presAssocID="{E9224B0F-3C45-C548-BA42-165BBE6916E6}" presName="dummy2a" presStyleCnt="0"/>
      <dgm:spPr/>
    </dgm:pt>
    <dgm:pt modelId="{22F028D3-8A9A-184E-89B6-06AB44F6CE9B}" type="pres">
      <dgm:prSet presAssocID="{E9224B0F-3C45-C548-BA42-165BBE6916E6}" presName="dummy2b" presStyleCnt="0"/>
      <dgm:spPr/>
    </dgm:pt>
    <dgm:pt modelId="{20298934-A385-CA44-B9B3-ADDC3AD3623D}" type="pres">
      <dgm:prSet presAssocID="{E9224B0F-3C45-C548-BA42-165BBE6916E6}" presName="wedge2Tx" presStyleLbl="node1" presStyleIdx="1" presStyleCnt="3">
        <dgm:presLayoutVars>
          <dgm:chMax val="0"/>
          <dgm:chPref val="0"/>
          <dgm:bulletEnabled val="1"/>
        </dgm:presLayoutVars>
      </dgm:prSet>
      <dgm:spPr/>
    </dgm:pt>
    <dgm:pt modelId="{19DD26B8-0CCA-354F-AB59-FF9DA9F7E61A}" type="pres">
      <dgm:prSet presAssocID="{E9224B0F-3C45-C548-BA42-165BBE6916E6}" presName="wedge3" presStyleLbl="node1" presStyleIdx="2" presStyleCnt="3"/>
      <dgm:spPr/>
    </dgm:pt>
    <dgm:pt modelId="{82553600-72CD-FC4F-97C3-3FF9918F6E33}" type="pres">
      <dgm:prSet presAssocID="{E9224B0F-3C45-C548-BA42-165BBE6916E6}" presName="dummy3a" presStyleCnt="0"/>
      <dgm:spPr/>
    </dgm:pt>
    <dgm:pt modelId="{236316AD-E94A-634A-A67C-6988B51ADB14}" type="pres">
      <dgm:prSet presAssocID="{E9224B0F-3C45-C548-BA42-165BBE6916E6}" presName="dummy3b" presStyleCnt="0"/>
      <dgm:spPr/>
    </dgm:pt>
    <dgm:pt modelId="{B1918EA6-92CE-D945-8159-3581BA253D8A}" type="pres">
      <dgm:prSet presAssocID="{E9224B0F-3C45-C548-BA42-165BBE6916E6}" presName="wedge3Tx" presStyleLbl="node1" presStyleIdx="2" presStyleCnt="3">
        <dgm:presLayoutVars>
          <dgm:chMax val="0"/>
          <dgm:chPref val="0"/>
          <dgm:bulletEnabled val="1"/>
        </dgm:presLayoutVars>
      </dgm:prSet>
      <dgm:spPr/>
    </dgm:pt>
    <dgm:pt modelId="{E134E5CD-3419-E243-9B5B-2B6410BB3601}" type="pres">
      <dgm:prSet presAssocID="{A95DF922-45EB-A645-B668-15DB7BA5C03F}" presName="arrowWedge1" presStyleLbl="fgSibTrans2D1" presStyleIdx="0" presStyleCnt="3"/>
      <dgm:spPr/>
    </dgm:pt>
    <dgm:pt modelId="{16DA7795-8706-114D-8439-0206C6E4AC85}" type="pres">
      <dgm:prSet presAssocID="{2F5E60E4-7DB7-A749-A91B-D5591E5F0EE0}" presName="arrowWedge2" presStyleLbl="fgSibTrans2D1" presStyleIdx="1" presStyleCnt="3"/>
      <dgm:spPr/>
    </dgm:pt>
    <dgm:pt modelId="{7640F0AD-19DB-7342-9865-12EE17E87D46}" type="pres">
      <dgm:prSet presAssocID="{CDCA3F56-4F64-C042-B7CE-BB2127B8B505}" presName="arrowWedge3" presStyleLbl="fgSibTrans2D1" presStyleIdx="2" presStyleCnt="3"/>
      <dgm:spPr/>
    </dgm:pt>
  </dgm:ptLst>
  <dgm:cxnLst>
    <dgm:cxn modelId="{5628C508-80C9-4642-BF80-90F4982DACAF}" srcId="{E9224B0F-3C45-C548-BA42-165BBE6916E6}" destId="{88510EFF-F28F-C549-8BD8-B6ED564CC096}" srcOrd="2" destOrd="0" parTransId="{C9E8E084-EC8A-6C4B-893B-23C369D01F74}" sibTransId="{CDCA3F56-4F64-C042-B7CE-BB2127B8B505}"/>
    <dgm:cxn modelId="{9BF23C0A-373C-4842-ABB2-F717BE376518}" type="presOf" srcId="{8711D8EF-2C18-F24A-B28B-162DC52CCB47}" destId="{967920A0-7F72-4741-8154-4CFDFF3F54D6}" srcOrd="1" destOrd="0" presId="urn:microsoft.com/office/officeart/2005/8/layout/cycle8"/>
    <dgm:cxn modelId="{CBE1A71F-4E18-2A48-AE19-95285C5DD309}" type="presOf" srcId="{88510EFF-F28F-C549-8BD8-B6ED564CC096}" destId="{19DD26B8-0CCA-354F-AB59-FF9DA9F7E61A}" srcOrd="0" destOrd="0" presId="urn:microsoft.com/office/officeart/2005/8/layout/cycle8"/>
    <dgm:cxn modelId="{97258A23-222D-544C-A801-E5AC44BAF66F}" type="presOf" srcId="{88510EFF-F28F-C549-8BD8-B6ED564CC096}" destId="{B1918EA6-92CE-D945-8159-3581BA253D8A}" srcOrd="1" destOrd="0" presId="urn:microsoft.com/office/officeart/2005/8/layout/cycle8"/>
    <dgm:cxn modelId="{0742A527-DC02-454E-931A-CF8E9F39DA54}" srcId="{E9224B0F-3C45-C548-BA42-165BBE6916E6}" destId="{07A123DE-6CAA-F541-A35C-709AEDC52A17}" srcOrd="1" destOrd="0" parTransId="{C9C90435-881C-9140-BA38-B35ACF4EEC29}" sibTransId="{2F5E60E4-7DB7-A749-A91B-D5591E5F0EE0}"/>
    <dgm:cxn modelId="{8C45A05A-05A5-2242-9268-8A40508894AA}" type="presOf" srcId="{8711D8EF-2C18-F24A-B28B-162DC52CCB47}" destId="{663D862A-BF6F-A242-B5AF-495C87EAEFAC}" srcOrd="0" destOrd="0" presId="urn:microsoft.com/office/officeart/2005/8/layout/cycle8"/>
    <dgm:cxn modelId="{74B22DA3-01AF-E846-BDDF-9A79C1F523E5}" type="presOf" srcId="{E9224B0F-3C45-C548-BA42-165BBE6916E6}" destId="{613F6D28-A7BB-1847-8DBA-DC33A235757B}" srcOrd="0" destOrd="0" presId="urn:microsoft.com/office/officeart/2005/8/layout/cycle8"/>
    <dgm:cxn modelId="{6238F5A6-DD7C-2E44-AC28-9D0169F3FA46}" srcId="{E9224B0F-3C45-C548-BA42-165BBE6916E6}" destId="{8711D8EF-2C18-F24A-B28B-162DC52CCB47}" srcOrd="0" destOrd="0" parTransId="{3CA879C0-3F44-BB46-AD69-1EE22CFDCB82}" sibTransId="{A95DF922-45EB-A645-B668-15DB7BA5C03F}"/>
    <dgm:cxn modelId="{E154A1B2-4946-1A46-9EF9-94067D3A6C40}" type="presOf" srcId="{07A123DE-6CAA-F541-A35C-709AEDC52A17}" destId="{1DE71D9D-7551-6542-B656-F5EB4DBDC984}" srcOrd="0" destOrd="0" presId="urn:microsoft.com/office/officeart/2005/8/layout/cycle8"/>
    <dgm:cxn modelId="{83F25ED0-F864-264C-93B9-9D057E7C4B56}" type="presOf" srcId="{07A123DE-6CAA-F541-A35C-709AEDC52A17}" destId="{20298934-A385-CA44-B9B3-ADDC3AD3623D}" srcOrd="1" destOrd="0" presId="urn:microsoft.com/office/officeart/2005/8/layout/cycle8"/>
    <dgm:cxn modelId="{417060DE-C88A-3C41-86C2-B609A4828183}" type="presParOf" srcId="{613F6D28-A7BB-1847-8DBA-DC33A235757B}" destId="{663D862A-BF6F-A242-B5AF-495C87EAEFAC}" srcOrd="0" destOrd="0" presId="urn:microsoft.com/office/officeart/2005/8/layout/cycle8"/>
    <dgm:cxn modelId="{E2D35FC5-D7C9-2A45-93CB-E906C6F4BD4E}" type="presParOf" srcId="{613F6D28-A7BB-1847-8DBA-DC33A235757B}" destId="{316FD800-D668-A543-9A0D-7B38E82A413B}" srcOrd="1" destOrd="0" presId="urn:microsoft.com/office/officeart/2005/8/layout/cycle8"/>
    <dgm:cxn modelId="{C5414DC6-8192-6C4A-9688-A67FD6897BE3}" type="presParOf" srcId="{613F6D28-A7BB-1847-8DBA-DC33A235757B}" destId="{B647AF6A-C506-594E-BFAC-9CF36B6B6D6F}" srcOrd="2" destOrd="0" presId="urn:microsoft.com/office/officeart/2005/8/layout/cycle8"/>
    <dgm:cxn modelId="{3EB3CE79-7079-224B-BC87-669F682F025A}" type="presParOf" srcId="{613F6D28-A7BB-1847-8DBA-DC33A235757B}" destId="{967920A0-7F72-4741-8154-4CFDFF3F54D6}" srcOrd="3" destOrd="0" presId="urn:microsoft.com/office/officeart/2005/8/layout/cycle8"/>
    <dgm:cxn modelId="{F7D4117C-1D00-9046-9A92-429431E6D5F2}" type="presParOf" srcId="{613F6D28-A7BB-1847-8DBA-DC33A235757B}" destId="{1DE71D9D-7551-6542-B656-F5EB4DBDC984}" srcOrd="4" destOrd="0" presId="urn:microsoft.com/office/officeart/2005/8/layout/cycle8"/>
    <dgm:cxn modelId="{088C6DF0-ABF0-134C-A717-6775B4D645CF}" type="presParOf" srcId="{613F6D28-A7BB-1847-8DBA-DC33A235757B}" destId="{7EBACC1F-8F00-544F-8623-94F092D33E27}" srcOrd="5" destOrd="0" presId="urn:microsoft.com/office/officeart/2005/8/layout/cycle8"/>
    <dgm:cxn modelId="{048F85E3-2AEA-EE43-B494-20407ED4AFB9}" type="presParOf" srcId="{613F6D28-A7BB-1847-8DBA-DC33A235757B}" destId="{22F028D3-8A9A-184E-89B6-06AB44F6CE9B}" srcOrd="6" destOrd="0" presId="urn:microsoft.com/office/officeart/2005/8/layout/cycle8"/>
    <dgm:cxn modelId="{0DDA140D-50F6-A840-B3AF-39630726E6A2}" type="presParOf" srcId="{613F6D28-A7BB-1847-8DBA-DC33A235757B}" destId="{20298934-A385-CA44-B9B3-ADDC3AD3623D}" srcOrd="7" destOrd="0" presId="urn:microsoft.com/office/officeart/2005/8/layout/cycle8"/>
    <dgm:cxn modelId="{BC58C34A-4E7C-6041-9364-1BFA880B3B13}" type="presParOf" srcId="{613F6D28-A7BB-1847-8DBA-DC33A235757B}" destId="{19DD26B8-0CCA-354F-AB59-FF9DA9F7E61A}" srcOrd="8" destOrd="0" presId="urn:microsoft.com/office/officeart/2005/8/layout/cycle8"/>
    <dgm:cxn modelId="{BC6B534B-2177-CA46-8025-ADFF5F065B5F}" type="presParOf" srcId="{613F6D28-A7BB-1847-8DBA-DC33A235757B}" destId="{82553600-72CD-FC4F-97C3-3FF9918F6E33}" srcOrd="9" destOrd="0" presId="urn:microsoft.com/office/officeart/2005/8/layout/cycle8"/>
    <dgm:cxn modelId="{6EB95BE5-BC3B-FD4A-88D8-6CDB38351F29}" type="presParOf" srcId="{613F6D28-A7BB-1847-8DBA-DC33A235757B}" destId="{236316AD-E94A-634A-A67C-6988B51ADB14}" srcOrd="10" destOrd="0" presId="urn:microsoft.com/office/officeart/2005/8/layout/cycle8"/>
    <dgm:cxn modelId="{4B81B596-45AB-D742-B6BD-7A74C3A4F8A5}" type="presParOf" srcId="{613F6D28-A7BB-1847-8DBA-DC33A235757B}" destId="{B1918EA6-92CE-D945-8159-3581BA253D8A}" srcOrd="11" destOrd="0" presId="urn:microsoft.com/office/officeart/2005/8/layout/cycle8"/>
    <dgm:cxn modelId="{ADE98407-F5E5-C542-B262-D68E2AA1A34A}" type="presParOf" srcId="{613F6D28-A7BB-1847-8DBA-DC33A235757B}" destId="{E134E5CD-3419-E243-9B5B-2B6410BB3601}" srcOrd="12" destOrd="0" presId="urn:microsoft.com/office/officeart/2005/8/layout/cycle8"/>
    <dgm:cxn modelId="{35C698A6-2321-9D49-8E30-23230C7AF508}" type="presParOf" srcId="{613F6D28-A7BB-1847-8DBA-DC33A235757B}" destId="{16DA7795-8706-114D-8439-0206C6E4AC85}" srcOrd="13" destOrd="0" presId="urn:microsoft.com/office/officeart/2005/8/layout/cycle8"/>
    <dgm:cxn modelId="{F90BD4E2-F6CD-4049-A0BC-1191D7A5E233}" type="presParOf" srcId="{613F6D28-A7BB-1847-8DBA-DC33A235757B}" destId="{7640F0AD-19DB-7342-9865-12EE17E87D46}"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A39D43-1CF6-2D43-BADD-15AAA23FB6D8}" type="doc">
      <dgm:prSet loTypeId="urn:microsoft.com/office/officeart/2005/8/layout/vList6" loCatId="" qsTypeId="urn:microsoft.com/office/officeart/2005/8/quickstyle/simple1" qsCatId="simple" csTypeId="urn:microsoft.com/office/officeart/2005/8/colors/accent1_2" csCatId="accent1" phldr="1"/>
      <dgm:spPr/>
      <dgm:t>
        <a:bodyPr/>
        <a:lstStyle/>
        <a:p>
          <a:endParaRPr lang="en-US"/>
        </a:p>
      </dgm:t>
    </dgm:pt>
    <dgm:pt modelId="{0458141E-DD92-D04F-927A-52331A2040F3}">
      <dgm:prSet phldrT="[Text]"/>
      <dgm:spPr>
        <a:solidFill>
          <a:srgbClr val="8AA6D1"/>
        </a:solidFill>
      </dgm:spPr>
      <dgm:t>
        <a:bodyPr/>
        <a:lstStyle/>
        <a:p>
          <a:r>
            <a:rPr lang="en-US">
              <a:solidFill>
                <a:schemeClr val="tx1"/>
              </a:solidFill>
              <a:latin typeface="Lucida Bright"/>
            </a:rPr>
            <a:t>Strategic Approach</a:t>
          </a:r>
        </a:p>
      </dgm:t>
    </dgm:pt>
    <dgm:pt modelId="{CC18C9FF-D494-8144-9755-202E46DAAD95}" type="parTrans" cxnId="{71E9C5F8-13E2-2548-840A-15760E21327C}">
      <dgm:prSet/>
      <dgm:spPr/>
      <dgm:t>
        <a:bodyPr/>
        <a:lstStyle/>
        <a:p>
          <a:endParaRPr lang="en-US">
            <a:latin typeface="Lucida Bright" panose="02040602050505020304" pitchFamily="18" charset="77"/>
          </a:endParaRPr>
        </a:p>
      </dgm:t>
    </dgm:pt>
    <dgm:pt modelId="{E95B0E7F-CD39-D24D-B442-6DDE87284BA5}" type="sibTrans" cxnId="{71E9C5F8-13E2-2548-840A-15760E21327C}">
      <dgm:prSet/>
      <dgm:spPr/>
      <dgm:t>
        <a:bodyPr/>
        <a:lstStyle/>
        <a:p>
          <a:endParaRPr lang="en-US">
            <a:latin typeface="Lucida Bright" panose="02040602050505020304" pitchFamily="18" charset="77"/>
          </a:endParaRPr>
        </a:p>
      </dgm:t>
    </dgm:pt>
    <dgm:pt modelId="{54530BD3-7754-7E45-9218-44B7F9B8C326}">
      <dgm:prSet phldrT="[Text]"/>
      <dgm:spPr>
        <a:solidFill>
          <a:srgbClr val="8AA6D1">
            <a:alpha val="90000"/>
          </a:srgbClr>
        </a:solidFill>
      </dgm:spPr>
      <dgm:t>
        <a:bodyPr/>
        <a:lstStyle/>
        <a:p>
          <a:r>
            <a:rPr lang="en-US">
              <a:latin typeface="Lucida Bright"/>
            </a:rPr>
            <a:t>Seasonal Variation Timeline</a:t>
          </a:r>
        </a:p>
      </dgm:t>
    </dgm:pt>
    <dgm:pt modelId="{31BEB3B4-603C-F34D-8646-86685052B0AE}" type="parTrans" cxnId="{63746F81-B410-5444-AB1D-0ABF7306610D}">
      <dgm:prSet/>
      <dgm:spPr/>
      <dgm:t>
        <a:bodyPr/>
        <a:lstStyle/>
        <a:p>
          <a:endParaRPr lang="en-US">
            <a:latin typeface="Lucida Bright" panose="02040602050505020304" pitchFamily="18" charset="77"/>
          </a:endParaRPr>
        </a:p>
      </dgm:t>
    </dgm:pt>
    <dgm:pt modelId="{251CC596-CB93-5443-85ED-56DC9928E323}" type="sibTrans" cxnId="{63746F81-B410-5444-AB1D-0ABF7306610D}">
      <dgm:prSet/>
      <dgm:spPr/>
      <dgm:t>
        <a:bodyPr/>
        <a:lstStyle/>
        <a:p>
          <a:endParaRPr lang="en-US">
            <a:latin typeface="Lucida Bright" panose="02040602050505020304" pitchFamily="18" charset="77"/>
          </a:endParaRPr>
        </a:p>
      </dgm:t>
    </dgm:pt>
    <dgm:pt modelId="{F4FC868C-430C-2F46-AFD1-A141BCAD5EBE}">
      <dgm:prSet phldrT="[Text]"/>
      <dgm:spPr>
        <a:solidFill>
          <a:srgbClr val="8AA6D1">
            <a:alpha val="90000"/>
          </a:srgbClr>
        </a:solidFill>
      </dgm:spPr>
      <dgm:t>
        <a:bodyPr/>
        <a:lstStyle/>
        <a:p>
          <a:r>
            <a:rPr lang="en-US">
              <a:latin typeface="Lucida Bright"/>
            </a:rPr>
            <a:t>3-5 Year Scope</a:t>
          </a:r>
        </a:p>
      </dgm:t>
    </dgm:pt>
    <dgm:pt modelId="{4096EAF9-F160-CE47-ADA2-4AAD3E9E645E}" type="parTrans" cxnId="{FAB50CAE-D39C-7945-AEBF-721599B31A70}">
      <dgm:prSet/>
      <dgm:spPr/>
      <dgm:t>
        <a:bodyPr/>
        <a:lstStyle/>
        <a:p>
          <a:endParaRPr lang="en-US">
            <a:latin typeface="Lucida Bright" panose="02040602050505020304" pitchFamily="18" charset="77"/>
          </a:endParaRPr>
        </a:p>
      </dgm:t>
    </dgm:pt>
    <dgm:pt modelId="{460247A0-0386-3342-BF2E-85A8DB6CBF8A}" type="sibTrans" cxnId="{FAB50CAE-D39C-7945-AEBF-721599B31A70}">
      <dgm:prSet/>
      <dgm:spPr/>
      <dgm:t>
        <a:bodyPr/>
        <a:lstStyle/>
        <a:p>
          <a:endParaRPr lang="en-US">
            <a:latin typeface="Lucida Bright" panose="02040602050505020304" pitchFamily="18" charset="77"/>
          </a:endParaRPr>
        </a:p>
      </dgm:t>
    </dgm:pt>
    <dgm:pt modelId="{9C583DD4-4D39-F441-8746-2F7D40D0F4E4}" type="pres">
      <dgm:prSet presAssocID="{9EA39D43-1CF6-2D43-BADD-15AAA23FB6D8}" presName="Name0" presStyleCnt="0">
        <dgm:presLayoutVars>
          <dgm:dir/>
          <dgm:animLvl val="lvl"/>
          <dgm:resizeHandles/>
        </dgm:presLayoutVars>
      </dgm:prSet>
      <dgm:spPr/>
    </dgm:pt>
    <dgm:pt modelId="{AAC8C651-851F-BE45-94DD-ABEBFCDF8607}" type="pres">
      <dgm:prSet presAssocID="{0458141E-DD92-D04F-927A-52331A2040F3}" presName="linNode" presStyleCnt="0"/>
      <dgm:spPr/>
    </dgm:pt>
    <dgm:pt modelId="{55E2E911-81F9-0247-82F5-267E68A81D09}" type="pres">
      <dgm:prSet presAssocID="{0458141E-DD92-D04F-927A-52331A2040F3}" presName="parentShp" presStyleLbl="node1" presStyleIdx="0" presStyleCnt="1">
        <dgm:presLayoutVars>
          <dgm:bulletEnabled val="1"/>
        </dgm:presLayoutVars>
      </dgm:prSet>
      <dgm:spPr/>
    </dgm:pt>
    <dgm:pt modelId="{CA852B7B-73F1-614D-9296-3469CDA82F9D}" type="pres">
      <dgm:prSet presAssocID="{0458141E-DD92-D04F-927A-52331A2040F3}" presName="childShp" presStyleLbl="bgAccFollowNode1" presStyleIdx="0" presStyleCnt="1" custLinFactNeighborX="455">
        <dgm:presLayoutVars>
          <dgm:bulletEnabled val="1"/>
        </dgm:presLayoutVars>
      </dgm:prSet>
      <dgm:spPr/>
    </dgm:pt>
  </dgm:ptLst>
  <dgm:cxnLst>
    <dgm:cxn modelId="{12DB1B45-D2DB-7E4A-B837-6B78CE2F0E7B}" type="presOf" srcId="{F4FC868C-430C-2F46-AFD1-A141BCAD5EBE}" destId="{CA852B7B-73F1-614D-9296-3469CDA82F9D}" srcOrd="0" destOrd="1" presId="urn:microsoft.com/office/officeart/2005/8/layout/vList6"/>
    <dgm:cxn modelId="{63746F81-B410-5444-AB1D-0ABF7306610D}" srcId="{0458141E-DD92-D04F-927A-52331A2040F3}" destId="{54530BD3-7754-7E45-9218-44B7F9B8C326}" srcOrd="0" destOrd="0" parTransId="{31BEB3B4-603C-F34D-8646-86685052B0AE}" sibTransId="{251CC596-CB93-5443-85ED-56DC9928E323}"/>
    <dgm:cxn modelId="{FAB50CAE-D39C-7945-AEBF-721599B31A70}" srcId="{0458141E-DD92-D04F-927A-52331A2040F3}" destId="{F4FC868C-430C-2F46-AFD1-A141BCAD5EBE}" srcOrd="1" destOrd="0" parTransId="{4096EAF9-F160-CE47-ADA2-4AAD3E9E645E}" sibTransId="{460247A0-0386-3342-BF2E-85A8DB6CBF8A}"/>
    <dgm:cxn modelId="{5843C3E8-F6C8-9F44-8158-4AEEEECD4D6F}" type="presOf" srcId="{9EA39D43-1CF6-2D43-BADD-15AAA23FB6D8}" destId="{9C583DD4-4D39-F441-8746-2F7D40D0F4E4}" srcOrd="0" destOrd="0" presId="urn:microsoft.com/office/officeart/2005/8/layout/vList6"/>
    <dgm:cxn modelId="{7BCBDEF0-71B3-CB49-8C63-9098D40FF000}" type="presOf" srcId="{54530BD3-7754-7E45-9218-44B7F9B8C326}" destId="{CA852B7B-73F1-614D-9296-3469CDA82F9D}" srcOrd="0" destOrd="0" presId="urn:microsoft.com/office/officeart/2005/8/layout/vList6"/>
    <dgm:cxn modelId="{71E9C5F8-13E2-2548-840A-15760E21327C}" srcId="{9EA39D43-1CF6-2D43-BADD-15AAA23FB6D8}" destId="{0458141E-DD92-D04F-927A-52331A2040F3}" srcOrd="0" destOrd="0" parTransId="{CC18C9FF-D494-8144-9755-202E46DAAD95}" sibTransId="{E95B0E7F-CD39-D24D-B442-6DDE87284BA5}"/>
    <dgm:cxn modelId="{FBF9F4FB-21D7-8049-8256-71A65F2BCB61}" type="presOf" srcId="{0458141E-DD92-D04F-927A-52331A2040F3}" destId="{55E2E911-81F9-0247-82F5-267E68A81D09}" srcOrd="0" destOrd="0" presId="urn:microsoft.com/office/officeart/2005/8/layout/vList6"/>
    <dgm:cxn modelId="{2589351D-F509-904A-92C0-5ECC6EB7CECD}" type="presParOf" srcId="{9C583DD4-4D39-F441-8746-2F7D40D0F4E4}" destId="{AAC8C651-851F-BE45-94DD-ABEBFCDF8607}" srcOrd="0" destOrd="0" presId="urn:microsoft.com/office/officeart/2005/8/layout/vList6"/>
    <dgm:cxn modelId="{BD46DE25-7580-454B-BC19-D83728EC8D50}" type="presParOf" srcId="{AAC8C651-851F-BE45-94DD-ABEBFCDF8607}" destId="{55E2E911-81F9-0247-82F5-267E68A81D09}" srcOrd="0" destOrd="0" presId="urn:microsoft.com/office/officeart/2005/8/layout/vList6"/>
    <dgm:cxn modelId="{0AD6605C-963D-AF40-8000-D13C048B1F1A}" type="presParOf" srcId="{AAC8C651-851F-BE45-94DD-ABEBFCDF8607}" destId="{CA852B7B-73F1-614D-9296-3469CDA82F9D}" srcOrd="1" destOrd="0" presId="urn:microsoft.com/office/officeart/2005/8/layout/v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B7659-E0F0-AB4B-99A0-BFF3300F1C58}">
      <dsp:nvSpPr>
        <dsp:cNvPr id="0" name=""/>
        <dsp:cNvSpPr/>
      </dsp:nvSpPr>
      <dsp:spPr>
        <a:xfrm>
          <a:off x="0" y="220587"/>
          <a:ext cx="2449344" cy="1502182"/>
        </a:xfrm>
        <a:prstGeom prst="pie">
          <a:avLst>
            <a:gd name="adj1" fmla="val 5400000"/>
            <a:gd name="adj2" fmla="val 16200000"/>
          </a:avLst>
        </a:prstGeom>
        <a:solidFill>
          <a:srgbClr val="0E51A2"/>
        </a:solidFill>
        <a:ln w="19050" cap="flat" cmpd="sng" algn="ctr">
          <a:solidFill>
            <a:srgbClr val="0D284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3BB62A-B137-9B4D-BEBC-348FF4FC33F2}">
      <dsp:nvSpPr>
        <dsp:cNvPr id="0" name=""/>
        <dsp:cNvSpPr/>
      </dsp:nvSpPr>
      <dsp:spPr>
        <a:xfrm>
          <a:off x="1224672" y="244934"/>
          <a:ext cx="3434416" cy="1959475"/>
        </a:xfrm>
        <a:prstGeom prst="rect">
          <a:avLst/>
        </a:prstGeom>
        <a:solidFill>
          <a:srgbClr val="E8E8E8"/>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latin typeface="Lucida Bright" panose="02040602050505020304" pitchFamily="18" charset="77"/>
            </a:rPr>
            <a:t>27 Campaigns </a:t>
          </a:r>
        </a:p>
      </dsp:txBody>
      <dsp:txXfrm>
        <a:off x="1224672" y="244934"/>
        <a:ext cx="3434416" cy="587843"/>
      </dsp:txXfrm>
    </dsp:sp>
    <dsp:sp modelId="{1C4EAD51-096A-E142-9CA6-FD3BADD80494}">
      <dsp:nvSpPr>
        <dsp:cNvPr id="0" name=""/>
        <dsp:cNvSpPr/>
      </dsp:nvSpPr>
      <dsp:spPr>
        <a:xfrm>
          <a:off x="212997" y="777392"/>
          <a:ext cx="1960366" cy="1068423"/>
        </a:xfrm>
        <a:prstGeom prst="pie">
          <a:avLst>
            <a:gd name="adj1" fmla="val 5400000"/>
            <a:gd name="adj2" fmla="val 16200000"/>
          </a:avLst>
        </a:prstGeom>
        <a:solidFill>
          <a:srgbClr val="507CBA"/>
        </a:solidFill>
        <a:ln w="19050" cap="flat" cmpd="sng" algn="ctr">
          <a:solidFill>
            <a:srgbClr val="507C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161978-8D29-E848-980F-96C6E217956B}">
      <dsp:nvSpPr>
        <dsp:cNvPr id="0" name=""/>
        <dsp:cNvSpPr/>
      </dsp:nvSpPr>
      <dsp:spPr>
        <a:xfrm>
          <a:off x="1224672" y="857266"/>
          <a:ext cx="3434416" cy="1347147"/>
        </a:xfrm>
        <a:prstGeom prst="rect">
          <a:avLst/>
        </a:prstGeom>
        <a:solidFill>
          <a:schemeClr val="tx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latin typeface="Lucida Bright" panose="02040602050505020304" pitchFamily="18" charset="77"/>
            </a:rPr>
            <a:t>116,204 Coupons Sent </a:t>
          </a:r>
        </a:p>
      </dsp:txBody>
      <dsp:txXfrm>
        <a:off x="1224672" y="857266"/>
        <a:ext cx="3434416" cy="621760"/>
      </dsp:txXfrm>
    </dsp:sp>
    <dsp:sp modelId="{2A326F70-F9F7-7349-B1E4-F33A972CF9DE}">
      <dsp:nvSpPr>
        <dsp:cNvPr id="0" name=""/>
        <dsp:cNvSpPr/>
      </dsp:nvSpPr>
      <dsp:spPr>
        <a:xfrm>
          <a:off x="573221" y="1337125"/>
          <a:ext cx="1254021" cy="847366"/>
        </a:xfrm>
        <a:prstGeom prst="pie">
          <a:avLst>
            <a:gd name="adj1" fmla="val 5400000"/>
            <a:gd name="adj2" fmla="val 16200000"/>
          </a:avLst>
        </a:prstGeom>
        <a:solidFill>
          <a:schemeClr val="tx1">
            <a:lumMod val="95000"/>
          </a:schemeClr>
        </a:solidFill>
        <a:ln w="19050"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8C3400-EEBD-5640-B217-7ED423EEE135}">
      <dsp:nvSpPr>
        <dsp:cNvPr id="0" name=""/>
        <dsp:cNvSpPr/>
      </dsp:nvSpPr>
      <dsp:spPr>
        <a:xfrm>
          <a:off x="1224672" y="1469607"/>
          <a:ext cx="3434416" cy="734802"/>
        </a:xfrm>
        <a:prstGeom prst="rect">
          <a:avLst/>
        </a:prstGeom>
        <a:solidFill>
          <a:schemeClr val="tx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latin typeface="Lucida Bright" panose="02040602050505020304" pitchFamily="18" charset="77"/>
            </a:rPr>
            <a:t>2,102 Coupons Utilized</a:t>
          </a:r>
        </a:p>
      </dsp:txBody>
      <dsp:txXfrm>
        <a:off x="1224672" y="1469607"/>
        <a:ext cx="3434416" cy="7348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C6717-C38C-3544-9A9C-3B4A2A6214EF}">
      <dsp:nvSpPr>
        <dsp:cNvPr id="0" name=""/>
        <dsp:cNvSpPr/>
      </dsp:nvSpPr>
      <dsp:spPr>
        <a:xfrm>
          <a:off x="1096208" y="0"/>
          <a:ext cx="1182434" cy="656907"/>
        </a:xfrm>
        <a:prstGeom prst="roundRect">
          <a:avLst>
            <a:gd name="adj" fmla="val 10000"/>
          </a:avLst>
        </a:prstGeom>
        <a:solidFill>
          <a:srgbClr val="FFFFFF"/>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Lucida Bright" panose="02040602050505020304" pitchFamily="18" charset="77"/>
            </a:rPr>
            <a:t>Revenue </a:t>
          </a:r>
        </a:p>
      </dsp:txBody>
      <dsp:txXfrm>
        <a:off x="1115448" y="19240"/>
        <a:ext cx="1143954" cy="618427"/>
      </dsp:txXfrm>
    </dsp:sp>
    <dsp:sp modelId="{25966193-157B-5A43-887B-939DAC903FD7}">
      <dsp:nvSpPr>
        <dsp:cNvPr id="0" name=""/>
        <dsp:cNvSpPr/>
      </dsp:nvSpPr>
      <dsp:spPr>
        <a:xfrm>
          <a:off x="2804168" y="0"/>
          <a:ext cx="1182434" cy="656907"/>
        </a:xfrm>
        <a:prstGeom prst="roundRect">
          <a:avLst>
            <a:gd name="adj" fmla="val 10000"/>
          </a:avLst>
        </a:prstGeom>
        <a:solidFill>
          <a:srgbClr val="FFFFFF"/>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Lucida Bright" panose="02040602050505020304" pitchFamily="18" charset="77"/>
            </a:rPr>
            <a:t>Expenses</a:t>
          </a:r>
        </a:p>
      </dsp:txBody>
      <dsp:txXfrm>
        <a:off x="2823408" y="19240"/>
        <a:ext cx="1143954" cy="618427"/>
      </dsp:txXfrm>
    </dsp:sp>
    <dsp:sp modelId="{298EA87C-0760-3D47-9136-5AE09855749B}">
      <dsp:nvSpPr>
        <dsp:cNvPr id="0" name=""/>
        <dsp:cNvSpPr/>
      </dsp:nvSpPr>
      <dsp:spPr>
        <a:xfrm>
          <a:off x="2295065" y="2791858"/>
          <a:ext cx="492680" cy="492680"/>
        </a:xfrm>
        <a:prstGeom prst="triangle">
          <a:avLst/>
        </a:prstGeom>
        <a:solidFill>
          <a:srgbClr val="FFFFFF"/>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1DD3A5-69CB-034B-844A-6C82FC1A88A4}">
      <dsp:nvSpPr>
        <dsp:cNvPr id="0" name=""/>
        <dsp:cNvSpPr/>
      </dsp:nvSpPr>
      <dsp:spPr>
        <a:xfrm rot="240000">
          <a:off x="1062911" y="2580738"/>
          <a:ext cx="2956987" cy="206772"/>
        </a:xfrm>
        <a:prstGeom prst="rect">
          <a:avLst/>
        </a:prstGeom>
        <a:solidFill>
          <a:srgbClr val="FFFFFF"/>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5EBEC1-9623-E441-A205-BAF32EEBC252}">
      <dsp:nvSpPr>
        <dsp:cNvPr id="0" name=""/>
        <dsp:cNvSpPr/>
      </dsp:nvSpPr>
      <dsp:spPr>
        <a:xfrm rot="240000">
          <a:off x="2838325" y="2063756"/>
          <a:ext cx="1179810" cy="549671"/>
        </a:xfrm>
        <a:prstGeom prst="roundRect">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latin typeface="Lucida Bright" panose="02040602050505020304" pitchFamily="18" charset="77"/>
            </a:rPr>
            <a:t>Promotions Based on Season</a:t>
          </a:r>
        </a:p>
      </dsp:txBody>
      <dsp:txXfrm>
        <a:off x="2865158" y="2090589"/>
        <a:ext cx="1126144" cy="496005"/>
      </dsp:txXfrm>
    </dsp:sp>
    <dsp:sp modelId="{4E30A4B9-9DE5-D24C-895A-128F9C8F2C05}">
      <dsp:nvSpPr>
        <dsp:cNvPr id="0" name=""/>
        <dsp:cNvSpPr/>
      </dsp:nvSpPr>
      <dsp:spPr>
        <a:xfrm rot="240000">
          <a:off x="2881024" y="1472539"/>
          <a:ext cx="1179810" cy="549671"/>
        </a:xfrm>
        <a:prstGeom prst="roundRect">
          <a:avLst/>
        </a:prstGeom>
        <a:solidFill>
          <a:srgbClr val="507CB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latin typeface="Lucida Bright" panose="02040602050505020304" pitchFamily="18" charset="77"/>
            </a:rPr>
            <a:t>Department Restructure</a:t>
          </a:r>
        </a:p>
      </dsp:txBody>
      <dsp:txXfrm>
        <a:off x="2907857" y="1499372"/>
        <a:ext cx="1126144" cy="496005"/>
      </dsp:txXfrm>
    </dsp:sp>
    <dsp:sp modelId="{0E49541C-A989-AB4A-819E-50D5E6670B12}">
      <dsp:nvSpPr>
        <dsp:cNvPr id="0" name=""/>
        <dsp:cNvSpPr/>
      </dsp:nvSpPr>
      <dsp:spPr>
        <a:xfrm rot="240000">
          <a:off x="2923723" y="894460"/>
          <a:ext cx="1179810" cy="549671"/>
        </a:xfrm>
        <a:prstGeom prst="roundRect">
          <a:avLst/>
        </a:prstGeom>
        <a:solidFill>
          <a:srgbClr val="0E51A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latin typeface="Lucida Bright" panose="02040602050505020304" pitchFamily="18" charset="77"/>
            </a:rPr>
            <a:t>Campaign Frequency</a:t>
          </a:r>
        </a:p>
      </dsp:txBody>
      <dsp:txXfrm>
        <a:off x="2950556" y="921293"/>
        <a:ext cx="1126144" cy="496005"/>
      </dsp:txXfrm>
    </dsp:sp>
    <dsp:sp modelId="{BB67CED8-CC96-A347-B721-E64D4BA4E7E9}">
      <dsp:nvSpPr>
        <dsp:cNvPr id="0" name=""/>
        <dsp:cNvSpPr/>
      </dsp:nvSpPr>
      <dsp:spPr>
        <a:xfrm rot="240000">
          <a:off x="1146788" y="1945512"/>
          <a:ext cx="1179810" cy="549671"/>
        </a:xfrm>
        <a:prstGeom prst="roundRect">
          <a:avLst/>
        </a:prstGeom>
        <a:solidFill>
          <a:srgbClr val="507CB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latin typeface="Lucida Bright" panose="02040602050505020304" pitchFamily="18" charset="77"/>
            </a:rPr>
            <a:t>Brand Loyalty</a:t>
          </a:r>
        </a:p>
      </dsp:txBody>
      <dsp:txXfrm>
        <a:off x="1173621" y="1972345"/>
        <a:ext cx="1126144" cy="496005"/>
      </dsp:txXfrm>
    </dsp:sp>
    <dsp:sp modelId="{9D8F7E1A-77C7-0746-8F58-1563BEFBF9F4}">
      <dsp:nvSpPr>
        <dsp:cNvPr id="0" name=""/>
        <dsp:cNvSpPr/>
      </dsp:nvSpPr>
      <dsp:spPr>
        <a:xfrm rot="240000">
          <a:off x="1189487" y="1354295"/>
          <a:ext cx="1179810" cy="549671"/>
        </a:xfrm>
        <a:prstGeom prst="roundRect">
          <a:avLst/>
        </a:prstGeom>
        <a:solidFill>
          <a:srgbClr val="0E51A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latin typeface="Lucida Bright" panose="02040602050505020304" pitchFamily="18" charset="77"/>
            </a:rPr>
            <a:t>Increase Units </a:t>
          </a:r>
        </a:p>
      </dsp:txBody>
      <dsp:txXfrm>
        <a:off x="1216320" y="1381128"/>
        <a:ext cx="1126144" cy="4960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50537-55D3-CD44-82B6-7F3E930838AD}">
      <dsp:nvSpPr>
        <dsp:cNvPr id="0" name=""/>
        <dsp:cNvSpPr/>
      </dsp:nvSpPr>
      <dsp:spPr>
        <a:xfrm>
          <a:off x="2335" y="0"/>
          <a:ext cx="1401470" cy="1227309"/>
        </a:xfrm>
        <a:prstGeom prst="upArrow">
          <a:avLst/>
        </a:prstGeom>
        <a:solidFill>
          <a:srgbClr val="0E51A2"/>
        </a:solidFill>
        <a:ln w="19050" cap="flat" cmpd="sng" algn="ctr">
          <a:solidFill>
            <a:srgbClr val="0E51A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DA4CB9-4F21-564F-94AE-FDE61D39FF51}">
      <dsp:nvSpPr>
        <dsp:cNvPr id="0" name=""/>
        <dsp:cNvSpPr/>
      </dsp:nvSpPr>
      <dsp:spPr>
        <a:xfrm>
          <a:off x="1444137" y="0"/>
          <a:ext cx="2609704" cy="1227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0"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a:latin typeface="Lucida Bright" panose="02040602050505020304" pitchFamily="18" charset="77"/>
            </a:rPr>
            <a:t>National-Brand Products </a:t>
          </a:r>
        </a:p>
      </dsp:txBody>
      <dsp:txXfrm>
        <a:off x="1444137" y="0"/>
        <a:ext cx="2609704" cy="1227309"/>
      </dsp:txXfrm>
    </dsp:sp>
    <dsp:sp modelId="{CC924D05-85A5-634C-9DF5-CA47EB8DA7B7}">
      <dsp:nvSpPr>
        <dsp:cNvPr id="0" name=""/>
        <dsp:cNvSpPr/>
      </dsp:nvSpPr>
      <dsp:spPr>
        <a:xfrm>
          <a:off x="422776" y="1329584"/>
          <a:ext cx="1401470" cy="1227309"/>
        </a:xfrm>
        <a:prstGeom prst="downArrow">
          <a:avLst/>
        </a:prstGeom>
        <a:solidFill>
          <a:srgbClr val="0E51A2"/>
        </a:solidFill>
        <a:ln w="19050" cap="flat" cmpd="sng" algn="ctr">
          <a:solidFill>
            <a:srgbClr val="0E51A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9A3FA-A6AD-5A44-9E2E-13D44FDABE65}">
      <dsp:nvSpPr>
        <dsp:cNvPr id="0" name=""/>
        <dsp:cNvSpPr/>
      </dsp:nvSpPr>
      <dsp:spPr>
        <a:xfrm>
          <a:off x="1866291" y="1329584"/>
          <a:ext cx="2378252" cy="1227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0"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a:latin typeface="Lucida Bright" panose="02040602050505020304" pitchFamily="18" charset="77"/>
            </a:rPr>
            <a:t>Private-Label Products</a:t>
          </a:r>
        </a:p>
      </dsp:txBody>
      <dsp:txXfrm>
        <a:off x="1866291" y="1329584"/>
        <a:ext cx="2378252" cy="12273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EB95B-400F-2043-BAF8-6D28B129D0DC}">
      <dsp:nvSpPr>
        <dsp:cNvPr id="0" name=""/>
        <dsp:cNvSpPr/>
      </dsp:nvSpPr>
      <dsp:spPr>
        <a:xfrm>
          <a:off x="4373" y="1367038"/>
          <a:ext cx="1440362" cy="1187998"/>
        </a:xfrm>
        <a:prstGeom prst="roundRect">
          <a:avLst>
            <a:gd name="adj" fmla="val 10000"/>
          </a:avLst>
        </a:prstGeom>
        <a:solidFill>
          <a:srgbClr val="507CBA"/>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2 Type A Campaigns</a:t>
          </a:r>
        </a:p>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Increase National Labels </a:t>
          </a:r>
        </a:p>
      </dsp:txBody>
      <dsp:txXfrm>
        <a:off x="31712" y="1394377"/>
        <a:ext cx="1385684" cy="878749"/>
      </dsp:txXfrm>
    </dsp:sp>
    <dsp:sp modelId="{E28A1B07-71EF-374E-8C61-9F3A6C456EDF}">
      <dsp:nvSpPr>
        <dsp:cNvPr id="0" name=""/>
        <dsp:cNvSpPr/>
      </dsp:nvSpPr>
      <dsp:spPr>
        <a:xfrm>
          <a:off x="784389" y="1726310"/>
          <a:ext cx="1561965" cy="1561965"/>
        </a:xfrm>
        <a:prstGeom prst="leftCircularArrow">
          <a:avLst>
            <a:gd name="adj1" fmla="val 2936"/>
            <a:gd name="adj2" fmla="val 359468"/>
            <a:gd name="adj3" fmla="val 1824552"/>
            <a:gd name="adj4" fmla="val 8714063"/>
            <a:gd name="adj5" fmla="val 34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31E004-BCE5-F340-9B65-2F141F78FE16}">
      <dsp:nvSpPr>
        <dsp:cNvPr id="0" name=""/>
        <dsp:cNvSpPr/>
      </dsp:nvSpPr>
      <dsp:spPr>
        <a:xfrm>
          <a:off x="324453" y="2415154"/>
          <a:ext cx="1280322" cy="509142"/>
        </a:xfrm>
        <a:prstGeom prst="roundRect">
          <a:avLst>
            <a:gd name="adj" fmla="val 10000"/>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solidFill>
                <a:srgbClr val="FFFFFF"/>
              </a:solidFill>
              <a:latin typeface="Lucida Bright" panose="02040602050505020304" pitchFamily="18" charset="77"/>
            </a:rPr>
            <a:t>Summer</a:t>
          </a:r>
        </a:p>
      </dsp:txBody>
      <dsp:txXfrm>
        <a:off x="339365" y="2430066"/>
        <a:ext cx="1250498" cy="479318"/>
      </dsp:txXfrm>
    </dsp:sp>
    <dsp:sp modelId="{3330CF2F-6975-0B48-AEF2-40744DCE7447}">
      <dsp:nvSpPr>
        <dsp:cNvPr id="0" name=""/>
        <dsp:cNvSpPr/>
      </dsp:nvSpPr>
      <dsp:spPr>
        <a:xfrm>
          <a:off x="1823158" y="1367038"/>
          <a:ext cx="1440362" cy="1187998"/>
        </a:xfrm>
        <a:prstGeom prst="roundRect">
          <a:avLst>
            <a:gd name="adj" fmla="val 10000"/>
          </a:avLst>
        </a:prstGeom>
        <a:solidFill>
          <a:srgbClr val="507CBA">
            <a:alpha val="90000"/>
          </a:srgb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2 Type A Campaigns</a:t>
          </a:r>
        </a:p>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Department Restructure</a:t>
          </a:r>
        </a:p>
      </dsp:txBody>
      <dsp:txXfrm>
        <a:off x="1850497" y="1648948"/>
        <a:ext cx="1385684" cy="878749"/>
      </dsp:txXfrm>
    </dsp:sp>
    <dsp:sp modelId="{F5325035-6EFF-F349-B4CB-2BCB8B1D4683}">
      <dsp:nvSpPr>
        <dsp:cNvPr id="0" name=""/>
        <dsp:cNvSpPr/>
      </dsp:nvSpPr>
      <dsp:spPr>
        <a:xfrm>
          <a:off x="2626716" y="647541"/>
          <a:ext cx="1740053" cy="1740053"/>
        </a:xfrm>
        <a:prstGeom prst="circularArrow">
          <a:avLst>
            <a:gd name="adj1" fmla="val 2636"/>
            <a:gd name="adj2" fmla="val 320420"/>
            <a:gd name="adj3" fmla="val 19504069"/>
            <a:gd name="adj4" fmla="val 12575511"/>
            <a:gd name="adj5" fmla="val 307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C6884F-926B-3B4D-87E7-7DB7CAF964FA}">
      <dsp:nvSpPr>
        <dsp:cNvPr id="0" name=""/>
        <dsp:cNvSpPr/>
      </dsp:nvSpPr>
      <dsp:spPr>
        <a:xfrm>
          <a:off x="2143238" y="1112467"/>
          <a:ext cx="1280322" cy="509142"/>
        </a:xfrm>
        <a:prstGeom prst="roundRect">
          <a:avLst>
            <a:gd name="adj" fmla="val 10000"/>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solidFill>
                <a:srgbClr val="FFFFFF"/>
              </a:solidFill>
              <a:latin typeface="Lucida Bright" panose="02040602050505020304" pitchFamily="18" charset="77"/>
            </a:rPr>
            <a:t>Fall</a:t>
          </a:r>
        </a:p>
      </dsp:txBody>
      <dsp:txXfrm>
        <a:off x="2158150" y="1127379"/>
        <a:ext cx="1250498" cy="479318"/>
      </dsp:txXfrm>
    </dsp:sp>
    <dsp:sp modelId="{D503BF49-F31C-8F4B-A329-FB9DF24D8759}">
      <dsp:nvSpPr>
        <dsp:cNvPr id="0" name=""/>
        <dsp:cNvSpPr/>
      </dsp:nvSpPr>
      <dsp:spPr>
        <a:xfrm>
          <a:off x="3641943" y="1367038"/>
          <a:ext cx="1440362" cy="1187998"/>
        </a:xfrm>
        <a:prstGeom prst="roundRect">
          <a:avLst>
            <a:gd name="adj" fmla="val 10000"/>
          </a:avLst>
        </a:prstGeom>
        <a:solidFill>
          <a:srgbClr val="507CBA"/>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2 Type A Campaigns</a:t>
          </a:r>
        </a:p>
        <a:p>
          <a:pPr marL="114300" lvl="1" indent="-114300" algn="l" defTabSz="622300">
            <a:lnSpc>
              <a:spcPct val="90000"/>
            </a:lnSpc>
            <a:spcBef>
              <a:spcPct val="0"/>
            </a:spcBef>
            <a:spcAft>
              <a:spcPct val="15000"/>
            </a:spcAft>
            <a:buChar char="•"/>
          </a:pPr>
          <a:r>
            <a:rPr lang="en-US" sz="1400" kern="1200">
              <a:solidFill>
                <a:srgbClr val="FFFFFF"/>
              </a:solidFill>
              <a:latin typeface="Lucida Bright" panose="02040602050505020304" pitchFamily="18" charset="77"/>
            </a:rPr>
            <a:t>Increase National Labels</a:t>
          </a:r>
        </a:p>
      </dsp:txBody>
      <dsp:txXfrm>
        <a:off x="3669282" y="1394377"/>
        <a:ext cx="1385684" cy="878749"/>
      </dsp:txXfrm>
    </dsp:sp>
    <dsp:sp modelId="{B464F322-4C29-6C42-BD4C-13A741EDF219}">
      <dsp:nvSpPr>
        <dsp:cNvPr id="0" name=""/>
        <dsp:cNvSpPr/>
      </dsp:nvSpPr>
      <dsp:spPr>
        <a:xfrm>
          <a:off x="4430508" y="1739777"/>
          <a:ext cx="1550496" cy="1550496"/>
        </a:xfrm>
        <a:prstGeom prst="leftCircularArrow">
          <a:avLst>
            <a:gd name="adj1" fmla="val 2958"/>
            <a:gd name="adj2" fmla="val 362312"/>
            <a:gd name="adj3" fmla="val 1799549"/>
            <a:gd name="adj4" fmla="val 8686216"/>
            <a:gd name="adj5" fmla="val 345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C0AE52-94F1-A643-BEBE-E4DF63CC2AD8}">
      <dsp:nvSpPr>
        <dsp:cNvPr id="0" name=""/>
        <dsp:cNvSpPr/>
      </dsp:nvSpPr>
      <dsp:spPr>
        <a:xfrm>
          <a:off x="3972919" y="2424431"/>
          <a:ext cx="1280322" cy="509142"/>
        </a:xfrm>
        <a:prstGeom prst="roundRect">
          <a:avLst>
            <a:gd name="adj" fmla="val 10000"/>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solidFill>
                <a:srgbClr val="FFFFFF"/>
              </a:solidFill>
              <a:latin typeface="Lucida Bright" panose="02040602050505020304" pitchFamily="18" charset="77"/>
            </a:rPr>
            <a:t>Winter</a:t>
          </a:r>
        </a:p>
      </dsp:txBody>
      <dsp:txXfrm>
        <a:off x="3987831" y="2439343"/>
        <a:ext cx="1250498" cy="479318"/>
      </dsp:txXfrm>
    </dsp:sp>
    <dsp:sp modelId="{14A5716C-F29B-3245-8488-AB15C60B434F}">
      <dsp:nvSpPr>
        <dsp:cNvPr id="0" name=""/>
        <dsp:cNvSpPr/>
      </dsp:nvSpPr>
      <dsp:spPr>
        <a:xfrm>
          <a:off x="5460728" y="1367038"/>
          <a:ext cx="1440362" cy="1187998"/>
        </a:xfrm>
        <a:prstGeom prst="roundRect">
          <a:avLst>
            <a:gd name="adj" fmla="val 10000"/>
          </a:avLst>
        </a:prstGeom>
        <a:solidFill>
          <a:srgbClr val="507CBA">
            <a:alpha val="90000"/>
          </a:srgb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a:solidFill>
                <a:srgbClr val="FFFFFF"/>
              </a:solidFill>
              <a:latin typeface="Lucida Bright" panose="02040602050505020304" pitchFamily="18" charset="77"/>
            </a:rPr>
            <a:t>2 Type A Campaigns</a:t>
          </a:r>
        </a:p>
        <a:p>
          <a:pPr marL="114300" lvl="1" indent="-114300" algn="l" defTabSz="666750">
            <a:lnSpc>
              <a:spcPct val="90000"/>
            </a:lnSpc>
            <a:spcBef>
              <a:spcPct val="0"/>
            </a:spcBef>
            <a:spcAft>
              <a:spcPct val="15000"/>
            </a:spcAft>
            <a:buChar char="•"/>
          </a:pPr>
          <a:r>
            <a:rPr lang="en-US" sz="1500" kern="1200">
              <a:solidFill>
                <a:srgbClr val="FFFFFF"/>
              </a:solidFill>
              <a:latin typeface="Lucida Bright" panose="02040602050505020304" pitchFamily="18" charset="77"/>
            </a:rPr>
            <a:t>Department Restructure</a:t>
          </a:r>
        </a:p>
      </dsp:txBody>
      <dsp:txXfrm>
        <a:off x="5488067" y="1648948"/>
        <a:ext cx="1385684" cy="878749"/>
      </dsp:txXfrm>
    </dsp:sp>
    <dsp:sp modelId="{C466BF6C-B613-2E40-B0D5-7E756AAADBA2}">
      <dsp:nvSpPr>
        <dsp:cNvPr id="0" name=""/>
        <dsp:cNvSpPr/>
      </dsp:nvSpPr>
      <dsp:spPr>
        <a:xfrm>
          <a:off x="5780809" y="1112467"/>
          <a:ext cx="1280322" cy="509142"/>
        </a:xfrm>
        <a:prstGeom prst="roundRect">
          <a:avLst>
            <a:gd name="adj" fmla="val 10000"/>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solidFill>
                <a:srgbClr val="FFFFFF"/>
              </a:solidFill>
              <a:latin typeface="Lucida Bright" panose="02040602050505020304" pitchFamily="18" charset="77"/>
            </a:rPr>
            <a:t>Spring</a:t>
          </a:r>
        </a:p>
      </dsp:txBody>
      <dsp:txXfrm>
        <a:off x="5795721" y="1127379"/>
        <a:ext cx="1250498" cy="4793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D862A-BF6F-A242-B5AF-495C87EAEFAC}">
      <dsp:nvSpPr>
        <dsp:cNvPr id="0" name=""/>
        <dsp:cNvSpPr/>
      </dsp:nvSpPr>
      <dsp:spPr>
        <a:xfrm>
          <a:off x="1392403" y="337723"/>
          <a:ext cx="4364422" cy="4364422"/>
        </a:xfrm>
        <a:prstGeom prst="pie">
          <a:avLst>
            <a:gd name="adj1" fmla="val 16200000"/>
            <a:gd name="adj2" fmla="val 1800000"/>
          </a:avLst>
        </a:prstGeom>
        <a:solidFill>
          <a:srgbClr val="495B6F"/>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Lucida Bright" panose="02040602050505020304" pitchFamily="18" charset="77"/>
            </a:rPr>
            <a:t>Increase Type A Campaigns</a:t>
          </a:r>
        </a:p>
      </dsp:txBody>
      <dsp:txXfrm>
        <a:off x="3692558" y="1262565"/>
        <a:ext cx="1558722" cy="1298935"/>
      </dsp:txXfrm>
    </dsp:sp>
    <dsp:sp modelId="{1DE71D9D-7551-6542-B656-F5EB4DBDC984}">
      <dsp:nvSpPr>
        <dsp:cNvPr id="0" name=""/>
        <dsp:cNvSpPr/>
      </dsp:nvSpPr>
      <dsp:spPr>
        <a:xfrm>
          <a:off x="1302517" y="493595"/>
          <a:ext cx="4364422" cy="4364422"/>
        </a:xfrm>
        <a:prstGeom prst="pie">
          <a:avLst>
            <a:gd name="adj1" fmla="val 1800000"/>
            <a:gd name="adj2" fmla="val 9000000"/>
          </a:avLst>
        </a:prstGeom>
        <a:solidFill>
          <a:srgbClr val="507CB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Lucida Bright" panose="02040602050505020304" pitchFamily="18" charset="77"/>
            </a:rPr>
            <a:t>Reconstruct Promotional Placements</a:t>
          </a:r>
        </a:p>
      </dsp:txBody>
      <dsp:txXfrm>
        <a:off x="2341665" y="3325274"/>
        <a:ext cx="2338083" cy="1143063"/>
      </dsp:txXfrm>
    </dsp:sp>
    <dsp:sp modelId="{19DD26B8-0CCA-354F-AB59-FF9DA9F7E61A}">
      <dsp:nvSpPr>
        <dsp:cNvPr id="0" name=""/>
        <dsp:cNvSpPr/>
      </dsp:nvSpPr>
      <dsp:spPr>
        <a:xfrm>
          <a:off x="1212630" y="337723"/>
          <a:ext cx="4364422" cy="4364422"/>
        </a:xfrm>
        <a:prstGeom prst="pie">
          <a:avLst>
            <a:gd name="adj1" fmla="val 9000000"/>
            <a:gd name="adj2" fmla="val 16200000"/>
          </a:avLst>
        </a:prstGeom>
        <a:solidFill>
          <a:srgbClr val="0E51A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Lucida Bright" panose="02040602050505020304" pitchFamily="18" charset="77"/>
            </a:rPr>
            <a:t>Increase National-Brand Product Promotions</a:t>
          </a:r>
        </a:p>
      </dsp:txBody>
      <dsp:txXfrm>
        <a:off x="1718176" y="1262565"/>
        <a:ext cx="1558722" cy="1298935"/>
      </dsp:txXfrm>
    </dsp:sp>
    <dsp:sp modelId="{E134E5CD-3419-E243-9B5B-2B6410BB3601}">
      <dsp:nvSpPr>
        <dsp:cNvPr id="0" name=""/>
        <dsp:cNvSpPr/>
      </dsp:nvSpPr>
      <dsp:spPr>
        <a:xfrm>
          <a:off x="1122585" y="67544"/>
          <a:ext cx="4904779" cy="4904779"/>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DA7795-8706-114D-8439-0206C6E4AC85}">
      <dsp:nvSpPr>
        <dsp:cNvPr id="0" name=""/>
        <dsp:cNvSpPr/>
      </dsp:nvSpPr>
      <dsp:spPr>
        <a:xfrm>
          <a:off x="1032338" y="223140"/>
          <a:ext cx="4904779" cy="4904779"/>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640F0AD-19DB-7342-9865-12EE17E87D46}">
      <dsp:nvSpPr>
        <dsp:cNvPr id="0" name=""/>
        <dsp:cNvSpPr/>
      </dsp:nvSpPr>
      <dsp:spPr>
        <a:xfrm>
          <a:off x="942092" y="67544"/>
          <a:ext cx="4904779" cy="4904779"/>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52B7B-73F1-614D-9296-3469CDA82F9D}">
      <dsp:nvSpPr>
        <dsp:cNvPr id="0" name=""/>
        <dsp:cNvSpPr/>
      </dsp:nvSpPr>
      <dsp:spPr>
        <a:xfrm>
          <a:off x="2683528" y="0"/>
          <a:ext cx="4025292" cy="970626"/>
        </a:xfrm>
        <a:prstGeom prst="rightArrow">
          <a:avLst>
            <a:gd name="adj1" fmla="val 75000"/>
            <a:gd name="adj2" fmla="val 50000"/>
          </a:avLst>
        </a:prstGeom>
        <a:solidFill>
          <a:srgbClr val="8AA6D1">
            <a:alpha val="90000"/>
          </a:srgb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a:latin typeface="Lucida Bright"/>
            </a:rPr>
            <a:t>Seasonal Variation Timeline</a:t>
          </a:r>
        </a:p>
        <a:p>
          <a:pPr marL="171450" lvl="1" indent="-171450" algn="l" defTabSz="844550">
            <a:lnSpc>
              <a:spcPct val="90000"/>
            </a:lnSpc>
            <a:spcBef>
              <a:spcPct val="0"/>
            </a:spcBef>
            <a:spcAft>
              <a:spcPct val="15000"/>
            </a:spcAft>
            <a:buChar char="•"/>
          </a:pPr>
          <a:r>
            <a:rPr lang="en-US" sz="1900" kern="1200">
              <a:latin typeface="Lucida Bright"/>
            </a:rPr>
            <a:t>3-5 Year Scope</a:t>
          </a:r>
        </a:p>
      </dsp:txBody>
      <dsp:txXfrm>
        <a:off x="2683528" y="121328"/>
        <a:ext cx="3661307" cy="727970"/>
      </dsp:txXfrm>
    </dsp:sp>
    <dsp:sp modelId="{55E2E911-81F9-0247-82F5-267E68A81D09}">
      <dsp:nvSpPr>
        <dsp:cNvPr id="0" name=""/>
        <dsp:cNvSpPr/>
      </dsp:nvSpPr>
      <dsp:spPr>
        <a:xfrm>
          <a:off x="0" y="0"/>
          <a:ext cx="2683528" cy="970626"/>
        </a:xfrm>
        <a:prstGeom prst="roundRect">
          <a:avLst/>
        </a:prstGeom>
        <a:solidFill>
          <a:srgbClr val="8AA6D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a:solidFill>
                <a:schemeClr val="tx1"/>
              </a:solidFill>
              <a:latin typeface="Lucida Bright"/>
            </a:rPr>
            <a:t>Strategic Approach</a:t>
          </a:r>
        </a:p>
      </dsp:txBody>
      <dsp:txXfrm>
        <a:off x="47382" y="47382"/>
        <a:ext cx="2588764" cy="875862"/>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A86E0-8E01-BE47-9096-38E439A8D744}"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753AC-78AB-EB4F-A413-EA11219B48B1}" type="slidenum">
              <a:rPr lang="en-US" smtClean="0"/>
              <a:t>‹#›</a:t>
            </a:fld>
            <a:endParaRPr lang="en-US"/>
          </a:p>
        </p:txBody>
      </p:sp>
    </p:spTree>
    <p:extLst>
      <p:ext uri="{BB962C8B-B14F-4D97-AF65-F5344CB8AC3E}">
        <p14:creationId xmlns:p14="http://schemas.microsoft.com/office/powerpoint/2010/main" val="401617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8753AC-78AB-EB4F-A413-EA11219B48B1}" type="slidenum">
              <a:rPr lang="en-US" smtClean="0"/>
              <a:t>3</a:t>
            </a:fld>
            <a:endParaRPr lang="en-US"/>
          </a:p>
        </p:txBody>
      </p:sp>
    </p:spTree>
    <p:extLst>
      <p:ext uri="{BB962C8B-B14F-4D97-AF65-F5344CB8AC3E}">
        <p14:creationId xmlns:p14="http://schemas.microsoft.com/office/powerpoint/2010/main" val="2211061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8753AC-78AB-EB4F-A413-EA11219B48B1}" type="slidenum">
              <a:rPr lang="en-US" smtClean="0"/>
              <a:t>4</a:t>
            </a:fld>
            <a:endParaRPr lang="en-US"/>
          </a:p>
        </p:txBody>
      </p:sp>
    </p:spTree>
    <p:extLst>
      <p:ext uri="{BB962C8B-B14F-4D97-AF65-F5344CB8AC3E}">
        <p14:creationId xmlns:p14="http://schemas.microsoft.com/office/powerpoint/2010/main" val="1707569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33333"/>
                </a:solidFill>
              </a:rPr>
              <a:t>season</a:t>
            </a:r>
          </a:p>
        </p:txBody>
      </p:sp>
      <p:sp>
        <p:nvSpPr>
          <p:cNvPr id="4" name="Slide Number Placeholder 3"/>
          <p:cNvSpPr>
            <a:spLocks noGrp="1"/>
          </p:cNvSpPr>
          <p:nvPr>
            <p:ph type="sldNum" sz="quarter" idx="5"/>
          </p:nvPr>
        </p:nvSpPr>
        <p:spPr/>
        <p:txBody>
          <a:bodyPr/>
          <a:lstStyle/>
          <a:p>
            <a:fld id="{2A8753AC-78AB-EB4F-A413-EA11219B48B1}" type="slidenum">
              <a:rPr lang="en-US" smtClean="0"/>
              <a:t>5</a:t>
            </a:fld>
            <a:endParaRPr lang="en-US"/>
          </a:p>
        </p:txBody>
      </p:sp>
    </p:spTree>
    <p:extLst>
      <p:ext uri="{BB962C8B-B14F-4D97-AF65-F5344CB8AC3E}">
        <p14:creationId xmlns:p14="http://schemas.microsoft.com/office/powerpoint/2010/main" val="2628006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6D9C-26EC-2493-75EE-E07F8EFB3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D69D0-2C27-C136-AEE1-545D9F96C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D773A-A115-1D0A-09B6-63BCE02D2BBB}"/>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8C3B9762-0CE3-D38C-506E-1DE5912A28DB}"/>
              </a:ext>
            </a:extLst>
          </p:cNvPr>
          <p:cNvSpPr>
            <a:spLocks noGrp="1"/>
          </p:cNvSpPr>
          <p:nvPr>
            <p:ph type="sldNum" sz="quarter" idx="5"/>
          </p:nvPr>
        </p:nvSpPr>
        <p:spPr/>
        <p:txBody>
          <a:bodyPr/>
          <a:lstStyle/>
          <a:p>
            <a:fld id="{2A8753AC-78AB-EB4F-A413-EA11219B48B1}" type="slidenum">
              <a:rPr lang="en-US" smtClean="0"/>
              <a:t>6</a:t>
            </a:fld>
            <a:endParaRPr lang="en-US"/>
          </a:p>
        </p:txBody>
      </p:sp>
    </p:spTree>
    <p:extLst>
      <p:ext uri="{BB962C8B-B14F-4D97-AF65-F5344CB8AC3E}">
        <p14:creationId xmlns:p14="http://schemas.microsoft.com/office/powerpoint/2010/main" val="4140334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8753AC-78AB-EB4F-A413-EA11219B48B1}" type="slidenum">
              <a:rPr lang="en-US" smtClean="0"/>
              <a:t>7</a:t>
            </a:fld>
            <a:endParaRPr lang="en-US"/>
          </a:p>
        </p:txBody>
      </p:sp>
    </p:spTree>
    <p:extLst>
      <p:ext uri="{BB962C8B-B14F-4D97-AF65-F5344CB8AC3E}">
        <p14:creationId xmlns:p14="http://schemas.microsoft.com/office/powerpoint/2010/main" val="3405097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8753AC-78AB-EB4F-A413-EA11219B48B1}" type="slidenum">
              <a:rPr lang="en-US" smtClean="0"/>
              <a:t>8</a:t>
            </a:fld>
            <a:endParaRPr lang="en-US"/>
          </a:p>
        </p:txBody>
      </p:sp>
    </p:spTree>
    <p:extLst>
      <p:ext uri="{BB962C8B-B14F-4D97-AF65-F5344CB8AC3E}">
        <p14:creationId xmlns:p14="http://schemas.microsoft.com/office/powerpoint/2010/main" val="3472831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9CBA-02F7-1A95-891D-EA4916799C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043546-3640-20B4-2F3C-E02730D67C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79F75D-E177-F964-4B5D-98331267965E}"/>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4F7C761D-FD97-71C8-8204-90AC8F76DD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09BDD-707D-A2B5-D491-39FAB935F34A}"/>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550839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FD3DF-91F4-63FE-BD21-8ADCC78964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CF4D8E-93D9-285B-6C93-39770345E0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10269A-A479-DE35-4E86-44DAA5CD1424}"/>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94B67281-3BD8-DB27-E068-A20B3FA6C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B0519-6DF1-4403-484B-737C834796FB}"/>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2969726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603DC-A0A6-163E-69AF-68009E40B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82DA8A-762F-F9EE-E7F5-D4C2DA4B79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39A612-A9E2-E63A-8739-6DD05D1CB776}"/>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F8E2D7D9-68E5-BC0C-3BAD-4F41845B4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3733B-A33F-2941-A091-3FA03B7F5775}"/>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33022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8B82-4F35-FD19-6844-EEB59EFA5F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659564-EA52-5CCD-BAE3-D2B409BF53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9521F-DDAD-9B3D-FB59-849E344AF1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572187-375B-7FBF-CEB1-0B1466FE6869}"/>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6" name="Footer Placeholder 5">
            <a:extLst>
              <a:ext uri="{FF2B5EF4-FFF2-40B4-BE49-F238E27FC236}">
                <a16:creationId xmlns:a16="http://schemas.microsoft.com/office/drawing/2014/main" id="{5737EF50-293F-FF16-9361-BFAB4D63D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961EB4-DFAF-C823-9076-F2CBDE322D1E}"/>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2714505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039B1-928C-0988-BB67-879E1174E8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9CE22E-374C-97F7-B496-437349D40F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F0AAC7-DCA8-D651-10F6-662F1B0739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378690-A501-50CB-2563-C06A31A0E8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36A084-D0BE-3F09-0029-254BA29892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849D3F-1557-DB06-C135-F0F0D8A3F2A9}"/>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8" name="Footer Placeholder 7">
            <a:extLst>
              <a:ext uri="{FF2B5EF4-FFF2-40B4-BE49-F238E27FC236}">
                <a16:creationId xmlns:a16="http://schemas.microsoft.com/office/drawing/2014/main" id="{BCB3C93C-CFEC-0179-C0CA-0750777ADC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DED229-126C-9744-66A8-5D176E2E346F}"/>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533347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AADBC-852F-0999-943F-5AEA0D5BA3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930530-595C-9BCA-7DB9-ECDAF1680446}"/>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4" name="Footer Placeholder 3">
            <a:extLst>
              <a:ext uri="{FF2B5EF4-FFF2-40B4-BE49-F238E27FC236}">
                <a16:creationId xmlns:a16="http://schemas.microsoft.com/office/drawing/2014/main" id="{060541B5-CC5C-230B-0CF0-512F78BBA8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AE8844-F3CB-D888-E77B-CB3834EC1ADE}"/>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823194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D46778-7906-13C9-BB43-801D5499129D}"/>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3" name="Footer Placeholder 2">
            <a:extLst>
              <a:ext uri="{FF2B5EF4-FFF2-40B4-BE49-F238E27FC236}">
                <a16:creationId xmlns:a16="http://schemas.microsoft.com/office/drawing/2014/main" id="{98A6C984-6252-C169-B227-3EE43A3CFA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6E5002-AD7B-7478-4678-F95099C3C3DC}"/>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407344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71D6-1075-A887-54C7-66B9420755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E12439-B6D7-4C5D-BEA3-FD47913A9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749ACE-D89C-565D-7E2F-18E1EC5044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11EB5C-8C52-8967-C2F8-A420F4AAA748}"/>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6" name="Footer Placeholder 5">
            <a:extLst>
              <a:ext uri="{FF2B5EF4-FFF2-40B4-BE49-F238E27FC236}">
                <a16:creationId xmlns:a16="http://schemas.microsoft.com/office/drawing/2014/main" id="{4623E56F-B73A-9064-CDA9-3D904FDD51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719C8-A107-CCC9-884A-6891A776A046}"/>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299748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05B6-EB9F-ACF1-D6F8-6B66EA3B0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D51951-394F-D739-F984-3EFF252CDB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1B9835-376A-F357-CA40-817994C84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F2BE6D-90D8-340F-66CA-65A52A068A8F}"/>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6" name="Footer Placeholder 5">
            <a:extLst>
              <a:ext uri="{FF2B5EF4-FFF2-40B4-BE49-F238E27FC236}">
                <a16:creationId xmlns:a16="http://schemas.microsoft.com/office/drawing/2014/main" id="{D937AB5E-A5A8-CBB7-560B-2EE262455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F87075-7101-D90A-F9FB-DA33A25134B7}"/>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126674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0D613-C04B-41B4-CCC4-E06211B115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C9E014-82A3-5A2D-F2DC-38002786C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21D0CE-F0BC-97C3-A1A4-8010FC8DC144}"/>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B8EC6AF6-D6B6-789A-926B-F2E30066C1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99952-4BFF-8260-547E-283D6C1D4E7C}"/>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152010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440C97-B3F0-7EA1-27BC-21E8331CCE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B878CF-5AD9-A64C-2D29-519B979B86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A2478-63B9-937B-F8F5-B2D245466AE8}"/>
              </a:ext>
            </a:extLst>
          </p:cNvPr>
          <p:cNvSpPr>
            <a:spLocks noGrp="1"/>
          </p:cNvSpPr>
          <p:nvPr>
            <p:ph type="dt" sz="half" idx="10"/>
          </p:nvPr>
        </p:nvSpPr>
        <p:spPr/>
        <p:txBody>
          <a:body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31461EED-D873-E2DE-A62F-F39C77DE19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39275-05AF-C2E7-DBA4-F90003F6DDD8}"/>
              </a:ext>
            </a:extLst>
          </p:cNvPr>
          <p:cNvSpPr>
            <a:spLocks noGrp="1"/>
          </p:cNvSpPr>
          <p:nvPr>
            <p:ph type="sldNum" sz="quarter" idx="12"/>
          </p:nvPr>
        </p:nvSpPr>
        <p:spPr/>
        <p:txBody>
          <a:bodyPr/>
          <a:lstStyle/>
          <a:p>
            <a:fld id="{06DE1A88-8DED-2142-A8EB-FFDC00B97111}" type="slidenum">
              <a:rPr lang="en-US" smtClean="0"/>
              <a:t>‹#›</a:t>
            </a:fld>
            <a:endParaRPr lang="en-US"/>
          </a:p>
        </p:txBody>
      </p:sp>
    </p:spTree>
    <p:extLst>
      <p:ext uri="{BB962C8B-B14F-4D97-AF65-F5344CB8AC3E}">
        <p14:creationId xmlns:p14="http://schemas.microsoft.com/office/powerpoint/2010/main" val="4141726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F17CE6-23AE-0C72-F4B1-3072E6FBD2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674743-259F-420F-F051-775D8BCBF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5B3BB-6460-8911-E136-C04BDEFE1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A6596E-0769-6A44-AE23-CACA3B082369}" type="datetimeFigureOut">
              <a:rPr lang="en-US" smtClean="0"/>
              <a:t>12/27/2025</a:t>
            </a:fld>
            <a:endParaRPr lang="en-US"/>
          </a:p>
        </p:txBody>
      </p:sp>
      <p:sp>
        <p:nvSpPr>
          <p:cNvPr id="5" name="Footer Placeholder 4">
            <a:extLst>
              <a:ext uri="{FF2B5EF4-FFF2-40B4-BE49-F238E27FC236}">
                <a16:creationId xmlns:a16="http://schemas.microsoft.com/office/drawing/2014/main" id="{D2F01252-5BA2-4E81-B210-064AF6ADE5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43FCB0-64F1-E8E8-4334-1D16FFADD4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DE1A88-8DED-2142-A8EB-FFDC00B97111}" type="slidenum">
              <a:rPr lang="en-US" smtClean="0"/>
              <a:t>‹#›</a:t>
            </a:fld>
            <a:endParaRPr lang="en-US"/>
          </a:p>
        </p:txBody>
      </p:sp>
    </p:spTree>
    <p:extLst>
      <p:ext uri="{BB962C8B-B14F-4D97-AF65-F5344CB8AC3E}">
        <p14:creationId xmlns:p14="http://schemas.microsoft.com/office/powerpoint/2010/main" val="262268073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chart" Target="../charts/chart1.xml"/><Relationship Id="rId7"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package" Target="../embeddings/Microsoft_Excel_Worksheet_914DE307.xlsx"/><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chart" Target="../charts/chart5.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oleObject" Target="../embeddings/oleObject1.bin"/><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 Id="rId9" Type="http://schemas.openxmlformats.org/officeDocument/2006/relationships/chart" Target="../charts/chart6.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svg"/><Relationship Id="rId18" Type="http://schemas.openxmlformats.org/officeDocument/2006/relationships/package" Target="../embeddings/Microsoft_Excel_Worksheet_DDC65E32.xlsx"/><Relationship Id="rId26" Type="http://schemas.openxmlformats.org/officeDocument/2006/relationships/image" Target="../media/image32.png"/><Relationship Id="rId3" Type="http://schemas.openxmlformats.org/officeDocument/2006/relationships/image" Target="../media/image11.png"/><Relationship Id="rId21" Type="http://schemas.openxmlformats.org/officeDocument/2006/relationships/image" Target="../media/image27.svg"/><Relationship Id="rId7" Type="http://schemas.openxmlformats.org/officeDocument/2006/relationships/image" Target="../media/image15.svg"/><Relationship Id="rId12" Type="http://schemas.openxmlformats.org/officeDocument/2006/relationships/image" Target="../media/image19.png"/><Relationship Id="rId17" Type="http://schemas.openxmlformats.org/officeDocument/2006/relationships/image" Target="../media/image24.svg"/><Relationship Id="rId25" Type="http://schemas.openxmlformats.org/officeDocument/2006/relationships/image" Target="../media/image31.sv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8.emf"/><Relationship Id="rId24" Type="http://schemas.openxmlformats.org/officeDocument/2006/relationships/image" Target="../media/image30.png"/><Relationship Id="rId5" Type="http://schemas.openxmlformats.org/officeDocument/2006/relationships/image" Target="../media/image13.svg"/><Relationship Id="rId15" Type="http://schemas.openxmlformats.org/officeDocument/2006/relationships/image" Target="../media/image22.svg"/><Relationship Id="rId23" Type="http://schemas.openxmlformats.org/officeDocument/2006/relationships/image" Target="../media/image29.svg"/><Relationship Id="rId28" Type="http://schemas.openxmlformats.org/officeDocument/2006/relationships/image" Target="../media/image34.svg"/><Relationship Id="rId10" Type="http://schemas.openxmlformats.org/officeDocument/2006/relationships/oleObject" Target="../embeddings/oleObject3.bin"/><Relationship Id="rId19" Type="http://schemas.openxmlformats.org/officeDocument/2006/relationships/image" Target="../media/image25.emf"/><Relationship Id="rId31" Type="http://schemas.openxmlformats.org/officeDocument/2006/relationships/image" Target="../media/image37.sv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1.png"/><Relationship Id="rId22" Type="http://schemas.openxmlformats.org/officeDocument/2006/relationships/image" Target="../media/image28.png"/><Relationship Id="rId27" Type="http://schemas.openxmlformats.org/officeDocument/2006/relationships/image" Target="../media/image33.svg"/><Relationship Id="rId30" Type="http://schemas.openxmlformats.org/officeDocument/2006/relationships/image" Target="../media/image36.sv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sv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42.png"/><Relationship Id="rId17" Type="http://schemas.openxmlformats.org/officeDocument/2006/relationships/image" Target="../media/image47.svg"/><Relationship Id="rId2" Type="http://schemas.openxmlformats.org/officeDocument/2006/relationships/notesSlide" Target="../notesSlides/notesSlide5.xml"/><Relationship Id="rId16"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41.svg"/><Relationship Id="rId5" Type="http://schemas.openxmlformats.org/officeDocument/2006/relationships/diagramQuickStyle" Target="../diagrams/quickStyle4.xml"/><Relationship Id="rId15" Type="http://schemas.openxmlformats.org/officeDocument/2006/relationships/image" Target="../media/image45.svg"/><Relationship Id="rId10" Type="http://schemas.openxmlformats.org/officeDocument/2006/relationships/image" Target="../media/image40.png"/><Relationship Id="rId4" Type="http://schemas.openxmlformats.org/officeDocument/2006/relationships/diagramLayout" Target="../diagrams/layout4.xml"/><Relationship Id="rId9" Type="http://schemas.openxmlformats.org/officeDocument/2006/relationships/image" Target="../media/image39.svg"/><Relationship Id="rId14" Type="http://schemas.openxmlformats.org/officeDocument/2006/relationships/image" Target="../media/image44.png"/></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82">
            <a:extLst>
              <a:ext uri="{FF2B5EF4-FFF2-40B4-BE49-F238E27FC236}">
                <a16:creationId xmlns:a16="http://schemas.microsoft.com/office/drawing/2014/main" id="{B9A1D9BC-1455-4308-9ABD-A3F8EDB6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Right Triangle 7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A878D-C0D3-C17C-F28D-1915A4F38D72}"/>
              </a:ext>
            </a:extLst>
          </p:cNvPr>
          <p:cNvSpPr>
            <a:spLocks noGrp="1"/>
          </p:cNvSpPr>
          <p:nvPr>
            <p:ph type="ctrTitle"/>
          </p:nvPr>
        </p:nvSpPr>
        <p:spPr>
          <a:xfrm>
            <a:off x="5775961" y="1631019"/>
            <a:ext cx="5057943" cy="2466474"/>
          </a:xfrm>
        </p:spPr>
        <p:txBody>
          <a:bodyPr anchor="b">
            <a:normAutofit/>
          </a:bodyPr>
          <a:lstStyle/>
          <a:p>
            <a:pPr algn="l"/>
            <a:r>
              <a:rPr lang="en-US">
                <a:latin typeface="Lucida Bright" panose="02040602050505020304" pitchFamily="18" charset="77"/>
              </a:rPr>
              <a:t>Cracking the Kroger Code</a:t>
            </a:r>
          </a:p>
        </p:txBody>
      </p:sp>
      <p:pic>
        <p:nvPicPr>
          <p:cNvPr id="8" name="Graphic 7" descr="Shopping cart with solid fill">
            <a:extLst>
              <a:ext uri="{FF2B5EF4-FFF2-40B4-BE49-F238E27FC236}">
                <a16:creationId xmlns:a16="http://schemas.microsoft.com/office/drawing/2014/main" id="{F2A676FB-A3D0-50F9-017D-65062746AD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9108457">
            <a:off x="1939625" y="1999746"/>
            <a:ext cx="716955" cy="716955"/>
          </a:xfrm>
          <a:prstGeom prst="rect">
            <a:avLst/>
          </a:prstGeom>
        </p:spPr>
      </p:pic>
      <p:pic>
        <p:nvPicPr>
          <p:cNvPr id="12" name="Graphic 11" descr="Bar graph with upward trend with solid fill">
            <a:extLst>
              <a:ext uri="{FF2B5EF4-FFF2-40B4-BE49-F238E27FC236}">
                <a16:creationId xmlns:a16="http://schemas.microsoft.com/office/drawing/2014/main" id="{43361B9F-1B11-431E-D51B-687D5335B2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1317" y="1487434"/>
            <a:ext cx="3878763" cy="3878763"/>
          </a:xfrm>
          <a:prstGeom prst="rect">
            <a:avLst/>
          </a:prstGeom>
        </p:spPr>
      </p:pic>
      <p:sp>
        <p:nvSpPr>
          <p:cNvPr id="3" name="TextBox 2">
            <a:extLst>
              <a:ext uri="{FF2B5EF4-FFF2-40B4-BE49-F238E27FC236}">
                <a16:creationId xmlns:a16="http://schemas.microsoft.com/office/drawing/2014/main" id="{D4ED27CA-9392-24B8-D008-9062F14C8060}"/>
              </a:ext>
            </a:extLst>
          </p:cNvPr>
          <p:cNvSpPr txBox="1"/>
          <p:nvPr/>
        </p:nvSpPr>
        <p:spPr>
          <a:xfrm>
            <a:off x="5775961" y="4148304"/>
            <a:ext cx="4601753" cy="584775"/>
          </a:xfrm>
          <a:prstGeom prst="rect">
            <a:avLst/>
          </a:prstGeom>
          <a:noFill/>
        </p:spPr>
        <p:txBody>
          <a:bodyPr wrap="square" rtlCol="0">
            <a:spAutoFit/>
          </a:bodyPr>
          <a:lstStyle/>
          <a:p>
            <a:r>
              <a:rPr lang="en-US" sz="1600">
                <a:latin typeface="Lucida Bright" panose="02040602050505020304" pitchFamily="18" charset="77"/>
              </a:rPr>
              <a:t>Leveraging Data for Smarter Promotions and Coupons</a:t>
            </a:r>
          </a:p>
        </p:txBody>
      </p:sp>
    </p:spTree>
    <p:extLst>
      <p:ext uri="{BB962C8B-B14F-4D97-AF65-F5344CB8AC3E}">
        <p14:creationId xmlns:p14="http://schemas.microsoft.com/office/powerpoint/2010/main" val="3094046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2317048-E985-57ED-71E1-4B647DA81284}"/>
              </a:ext>
            </a:extLst>
          </p:cNvPr>
          <p:cNvSpPr/>
          <p:nvPr/>
        </p:nvSpPr>
        <p:spPr>
          <a:xfrm>
            <a:off x="0" y="93789"/>
            <a:ext cx="7196529" cy="32192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latin typeface="Lucida Bright" panose="02040602050505020304" pitchFamily="18" charset="77"/>
              </a:rPr>
              <a:t>Strategic Identifications</a:t>
            </a:r>
            <a:r>
              <a:rPr lang="en-US" sz="1400">
                <a:latin typeface="Lucida Bright" panose="02040602050505020304" pitchFamily="18" charset="77"/>
              </a:rPr>
              <a:t>: </a:t>
            </a:r>
          </a:p>
          <a:p>
            <a:pPr algn="just"/>
            <a:r>
              <a:rPr lang="en-US" sz="1600">
                <a:latin typeface="Lucida Bright" panose="02040602050505020304" pitchFamily="18" charset="77"/>
              </a:rPr>
              <a:t>In regard to enhancing Kroger sales, there are additional factors to focus on besides price. This presentation will provide an in-depth analysis of Kroger’s previous sales on a national scale and incorporate fact-based suggestions to increase sales without decreasing revenue. This presentation will analyze the impact of company </a:t>
            </a:r>
            <a:r>
              <a:rPr lang="en-US" sz="1600" u="sng">
                <a:latin typeface="Lucida Bright" panose="02040602050505020304" pitchFamily="18" charset="77"/>
              </a:rPr>
              <a:t>campaigns</a:t>
            </a:r>
            <a:r>
              <a:rPr lang="en-US" sz="1600">
                <a:latin typeface="Lucida Bright" panose="02040602050505020304" pitchFamily="18" charset="77"/>
              </a:rPr>
              <a:t>, </a:t>
            </a:r>
            <a:r>
              <a:rPr lang="en-US" sz="1600" u="sng">
                <a:latin typeface="Lucida Bright" panose="02040602050505020304" pitchFamily="18" charset="77"/>
              </a:rPr>
              <a:t>coupons</a:t>
            </a:r>
            <a:r>
              <a:rPr lang="en-US" sz="1600">
                <a:latin typeface="Lucida Bright" panose="02040602050505020304" pitchFamily="18" charset="77"/>
              </a:rPr>
              <a:t>, </a:t>
            </a:r>
            <a:r>
              <a:rPr lang="en-US" sz="1600" u="sng">
                <a:latin typeface="Lucida Bright" panose="02040602050505020304" pitchFamily="18" charset="77"/>
              </a:rPr>
              <a:t>promotions</a:t>
            </a:r>
            <a:r>
              <a:rPr lang="en-US" sz="1600">
                <a:latin typeface="Lucida Bright" panose="02040602050505020304" pitchFamily="18" charset="77"/>
              </a:rPr>
              <a:t>, and </a:t>
            </a:r>
            <a:r>
              <a:rPr lang="en-US" sz="1600" u="sng">
                <a:latin typeface="Lucida Bright" panose="02040602050505020304" pitchFamily="18" charset="77"/>
              </a:rPr>
              <a:t>product placement</a:t>
            </a:r>
            <a:r>
              <a:rPr lang="en-US" sz="1600">
                <a:latin typeface="Lucida Bright" panose="02040602050505020304" pitchFamily="18" charset="77"/>
              </a:rPr>
              <a:t> on sales based on season. Target objectives, as well as relevant retail store information, will be incorporated into the presentation for guidance to allow an individual to make a well-informed decision regarding restructuring to boost sales. The vision of the presentation is to ensure that the cost of suggestions does not harm the profit margin or decrease Kroger’s liquidity. </a:t>
            </a:r>
          </a:p>
        </p:txBody>
      </p:sp>
      <p:graphicFrame>
        <p:nvGraphicFramePr>
          <p:cNvPr id="8" name="Diagram 7">
            <a:extLst>
              <a:ext uri="{FF2B5EF4-FFF2-40B4-BE49-F238E27FC236}">
                <a16:creationId xmlns:a16="http://schemas.microsoft.com/office/drawing/2014/main" id="{94F535AC-4134-26A5-4CE5-80491D3CF1CA}"/>
              </a:ext>
            </a:extLst>
          </p:cNvPr>
          <p:cNvGraphicFramePr/>
          <p:nvPr>
            <p:extLst>
              <p:ext uri="{D42A27DB-BD31-4B8C-83A1-F6EECF244321}">
                <p14:modId xmlns:p14="http://schemas.microsoft.com/office/powerpoint/2010/main" val="1534524968"/>
              </p:ext>
            </p:extLst>
          </p:nvPr>
        </p:nvGraphicFramePr>
        <p:xfrm>
          <a:off x="7404051" y="-34930"/>
          <a:ext cx="4659088" cy="24493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Rectangle 10">
            <a:extLst>
              <a:ext uri="{FF2B5EF4-FFF2-40B4-BE49-F238E27FC236}">
                <a16:creationId xmlns:a16="http://schemas.microsoft.com/office/drawing/2014/main" id="{D9F1ADF7-8907-AB32-4A1E-8EF90523AA56}"/>
              </a:ext>
            </a:extLst>
          </p:cNvPr>
          <p:cNvSpPr/>
          <p:nvPr/>
        </p:nvSpPr>
        <p:spPr>
          <a:xfrm>
            <a:off x="7383326" y="2259559"/>
            <a:ext cx="4679813" cy="105345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accent1">
                    <a:lumMod val="25000"/>
                  </a:schemeClr>
                </a:solidFill>
                <a:latin typeface="Lucida Bright"/>
              </a:rPr>
              <a:t>1.81% Coupon Redemption Rate Among: </a:t>
            </a:r>
          </a:p>
          <a:p>
            <a:pPr algn="ctr"/>
            <a:r>
              <a:rPr lang="en-US" sz="1200">
                <a:solidFill>
                  <a:schemeClr val="accent1">
                    <a:lumMod val="25000"/>
                  </a:schemeClr>
                </a:solidFill>
                <a:latin typeface="Lucida Bright"/>
              </a:rPr>
              <a:t>457 individual stores </a:t>
            </a:r>
          </a:p>
          <a:p>
            <a:pPr algn="ctr"/>
            <a:r>
              <a:rPr lang="en-US" sz="1200">
                <a:solidFill>
                  <a:schemeClr val="accent1">
                    <a:lumMod val="25000"/>
                  </a:schemeClr>
                </a:solidFill>
                <a:latin typeface="Lucida Bright"/>
              </a:rPr>
              <a:t>2,102 households </a:t>
            </a:r>
          </a:p>
          <a:p>
            <a:pPr algn="ctr"/>
            <a:r>
              <a:rPr lang="en-US" sz="1200">
                <a:solidFill>
                  <a:schemeClr val="accent1">
                    <a:lumMod val="25000"/>
                  </a:schemeClr>
                </a:solidFill>
                <a:latin typeface="Lucida Bright"/>
              </a:rPr>
              <a:t>32 departments </a:t>
            </a:r>
          </a:p>
          <a:p>
            <a:pPr algn="ctr"/>
            <a:r>
              <a:rPr lang="en-US" sz="1200">
                <a:solidFill>
                  <a:schemeClr val="accent1">
                    <a:lumMod val="25000"/>
                  </a:schemeClr>
                </a:solidFill>
                <a:latin typeface="Lucida Bright"/>
              </a:rPr>
              <a:t>304 Product Categories</a:t>
            </a:r>
          </a:p>
        </p:txBody>
      </p:sp>
      <p:graphicFrame>
        <p:nvGraphicFramePr>
          <p:cNvPr id="13" name="Diagram 12">
            <a:extLst>
              <a:ext uri="{FF2B5EF4-FFF2-40B4-BE49-F238E27FC236}">
                <a16:creationId xmlns:a16="http://schemas.microsoft.com/office/drawing/2014/main" id="{0C5DA5F1-EBC5-EF1A-E4EB-5C4C55474E86}"/>
              </a:ext>
            </a:extLst>
          </p:cNvPr>
          <p:cNvGraphicFramePr/>
          <p:nvPr>
            <p:extLst>
              <p:ext uri="{D42A27DB-BD31-4B8C-83A1-F6EECF244321}">
                <p14:modId xmlns:p14="http://schemas.microsoft.com/office/powerpoint/2010/main" val="2934455868"/>
              </p:ext>
            </p:extLst>
          </p:nvPr>
        </p:nvGraphicFramePr>
        <p:xfrm>
          <a:off x="149589" y="3479672"/>
          <a:ext cx="5082811" cy="32845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descr="A map of the united states&#10;&#10;AI-generated content may be incorrect.">
            <a:extLst>
              <a:ext uri="{FF2B5EF4-FFF2-40B4-BE49-F238E27FC236}">
                <a16:creationId xmlns:a16="http://schemas.microsoft.com/office/drawing/2014/main" id="{19F12E84-41CD-5035-AF4A-ECA9E6BC9307}"/>
              </a:ext>
            </a:extLst>
          </p:cNvPr>
          <p:cNvPicPr>
            <a:picLocks noChangeAspect="1"/>
          </p:cNvPicPr>
          <p:nvPr/>
        </p:nvPicPr>
        <p:blipFill>
          <a:blip r:embed="rId12"/>
          <a:srcRect t="3119" r="5237" b="5657"/>
          <a:stretch>
            <a:fillRect/>
          </a:stretch>
        </p:blipFill>
        <p:spPr>
          <a:xfrm>
            <a:off x="6189952" y="3429000"/>
            <a:ext cx="5550944" cy="3269897"/>
          </a:xfrm>
          <a:prstGeom prst="rect">
            <a:avLst/>
          </a:prstGeom>
        </p:spPr>
      </p:pic>
      <p:sp>
        <p:nvSpPr>
          <p:cNvPr id="2" name="TextBox 1">
            <a:extLst>
              <a:ext uri="{FF2B5EF4-FFF2-40B4-BE49-F238E27FC236}">
                <a16:creationId xmlns:a16="http://schemas.microsoft.com/office/drawing/2014/main" id="{4BFD06CE-B0B8-EA0F-B379-36792AD14746}"/>
              </a:ext>
            </a:extLst>
          </p:cNvPr>
          <p:cNvSpPr txBox="1"/>
          <p:nvPr/>
        </p:nvSpPr>
        <p:spPr>
          <a:xfrm>
            <a:off x="7997952" y="6329565"/>
            <a:ext cx="3072384" cy="369332"/>
          </a:xfrm>
          <a:prstGeom prst="rect">
            <a:avLst/>
          </a:prstGeom>
          <a:noFill/>
        </p:spPr>
        <p:txBody>
          <a:bodyPr wrap="square" rtlCol="0">
            <a:spAutoFit/>
          </a:bodyPr>
          <a:lstStyle/>
          <a:p>
            <a:r>
              <a:rPr lang="en-US">
                <a:solidFill>
                  <a:schemeClr val="bg2">
                    <a:lumMod val="85000"/>
                    <a:lumOff val="15000"/>
                  </a:schemeClr>
                </a:solidFill>
                <a:latin typeface="Lucida Bright" panose="02040602050505020304" pitchFamily="18" charset="77"/>
              </a:rPr>
              <a:t>Kroger locations by state </a:t>
            </a:r>
          </a:p>
        </p:txBody>
      </p:sp>
    </p:spTree>
    <p:extLst>
      <p:ext uri="{BB962C8B-B14F-4D97-AF65-F5344CB8AC3E}">
        <p14:creationId xmlns:p14="http://schemas.microsoft.com/office/powerpoint/2010/main" val="973804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15D6-091D-20D2-CF35-099EFCD30448}"/>
            </a:ext>
          </a:extLst>
        </p:cNvPr>
        <p:cNvGrpSpPr/>
        <p:nvPr/>
      </p:nvGrpSpPr>
      <p:grpSpPr>
        <a:xfrm>
          <a:off x="0" y="0"/>
          <a:ext cx="0" cy="0"/>
          <a:chOff x="0" y="0"/>
          <a:chExt cx="0" cy="0"/>
        </a:xfrm>
      </p:grpSpPr>
      <p:sp>
        <p:nvSpPr>
          <p:cNvPr id="72" name="Rectangle 71">
            <a:extLst>
              <a:ext uri="{FF2B5EF4-FFF2-40B4-BE49-F238E27FC236}">
                <a16:creationId xmlns:a16="http://schemas.microsoft.com/office/drawing/2014/main" id="{2DCB2EA3-351B-4B00-83AC-96DDBA14876A}"/>
              </a:ext>
            </a:extLst>
          </p:cNvPr>
          <p:cNvSpPr/>
          <p:nvPr/>
        </p:nvSpPr>
        <p:spPr>
          <a:xfrm>
            <a:off x="7264071" y="83817"/>
            <a:ext cx="4874643" cy="1880700"/>
          </a:xfrm>
          <a:prstGeom prst="rect">
            <a:avLst/>
          </a:prstGeom>
          <a:solidFill>
            <a:schemeClr val="bg2"/>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0516BD6-B5A3-22E9-47DE-8614CCD54DF2}"/>
              </a:ext>
            </a:extLst>
          </p:cNvPr>
          <p:cNvCxnSpPr/>
          <p:nvPr/>
        </p:nvCxnSpPr>
        <p:spPr>
          <a:xfrm>
            <a:off x="444708" y="6205927"/>
            <a:ext cx="11302584" cy="0"/>
          </a:xfrm>
          <a:prstGeom prst="line">
            <a:avLst/>
          </a:prstGeom>
          <a:ln>
            <a:solidFill>
              <a:schemeClr val="tx1"/>
            </a:solidFill>
          </a:ln>
        </p:spPr>
        <p:style>
          <a:lnRef idx="2">
            <a:schemeClr val="accent6"/>
          </a:lnRef>
          <a:fillRef idx="0">
            <a:schemeClr val="accent6"/>
          </a:fillRef>
          <a:effectRef idx="1">
            <a:schemeClr val="accent6"/>
          </a:effectRef>
          <a:fontRef idx="minor">
            <a:schemeClr val="tx1"/>
          </a:fontRef>
        </p:style>
      </p:cxnSp>
      <p:sp>
        <p:nvSpPr>
          <p:cNvPr id="12" name="TextBox 11">
            <a:extLst>
              <a:ext uri="{FF2B5EF4-FFF2-40B4-BE49-F238E27FC236}">
                <a16:creationId xmlns:a16="http://schemas.microsoft.com/office/drawing/2014/main" id="{63CF5174-E756-5F41-DC3E-50F9BAC775C2}"/>
              </a:ext>
            </a:extLst>
          </p:cNvPr>
          <p:cNvSpPr txBox="1"/>
          <p:nvPr/>
        </p:nvSpPr>
        <p:spPr>
          <a:xfrm>
            <a:off x="-132414" y="6334097"/>
            <a:ext cx="1154243" cy="261610"/>
          </a:xfrm>
          <a:prstGeom prst="rect">
            <a:avLst/>
          </a:prstGeom>
          <a:noFill/>
        </p:spPr>
        <p:txBody>
          <a:bodyPr wrap="square" rtlCol="0">
            <a:spAutoFit/>
          </a:bodyPr>
          <a:lstStyle/>
          <a:p>
            <a:pPr algn="ctr"/>
            <a:r>
              <a:rPr lang="en-US" sz="1100">
                <a:latin typeface="Lucida Bright" panose="02040602050505020304" pitchFamily="18" charset="77"/>
              </a:rPr>
              <a:t>Nov. 2016</a:t>
            </a:r>
          </a:p>
        </p:txBody>
      </p:sp>
      <p:sp>
        <p:nvSpPr>
          <p:cNvPr id="13" name="Oval 12">
            <a:extLst>
              <a:ext uri="{FF2B5EF4-FFF2-40B4-BE49-F238E27FC236}">
                <a16:creationId xmlns:a16="http://schemas.microsoft.com/office/drawing/2014/main" id="{6F32A2EB-133A-8E0F-878D-441E6B602F6B}"/>
              </a:ext>
            </a:extLst>
          </p:cNvPr>
          <p:cNvSpPr/>
          <p:nvPr/>
        </p:nvSpPr>
        <p:spPr>
          <a:xfrm flipH="1">
            <a:off x="314168" y="6141842"/>
            <a:ext cx="123669" cy="128170"/>
          </a:xfrm>
          <a:prstGeom prst="ellipse">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3266256-FBDF-2F69-4503-935A164591BB}"/>
              </a:ext>
            </a:extLst>
          </p:cNvPr>
          <p:cNvSpPr/>
          <p:nvPr/>
        </p:nvSpPr>
        <p:spPr>
          <a:xfrm flipH="1">
            <a:off x="11747292" y="6141842"/>
            <a:ext cx="123669" cy="128170"/>
          </a:xfrm>
          <a:prstGeom prst="ellipse">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144DC72-8878-AADB-B4F7-A0EE3B3C7453}"/>
              </a:ext>
            </a:extLst>
          </p:cNvPr>
          <p:cNvSpPr txBox="1"/>
          <p:nvPr/>
        </p:nvSpPr>
        <p:spPr>
          <a:xfrm>
            <a:off x="11037757" y="6327355"/>
            <a:ext cx="1154243" cy="261610"/>
          </a:xfrm>
          <a:prstGeom prst="rect">
            <a:avLst/>
          </a:prstGeom>
          <a:noFill/>
        </p:spPr>
        <p:txBody>
          <a:bodyPr wrap="square" rtlCol="0">
            <a:spAutoFit/>
          </a:bodyPr>
          <a:lstStyle/>
          <a:p>
            <a:pPr algn="ctr"/>
            <a:r>
              <a:rPr lang="en-US" sz="1100">
                <a:latin typeface="Lucida Bright" panose="02040602050505020304" pitchFamily="18" charset="77"/>
              </a:rPr>
              <a:t>Dec. 2017</a:t>
            </a:r>
          </a:p>
        </p:txBody>
      </p:sp>
      <p:sp>
        <p:nvSpPr>
          <p:cNvPr id="17" name="TextBox 16">
            <a:extLst>
              <a:ext uri="{FF2B5EF4-FFF2-40B4-BE49-F238E27FC236}">
                <a16:creationId xmlns:a16="http://schemas.microsoft.com/office/drawing/2014/main" id="{45DB5A04-FA0C-0FEC-7582-60B998469254}"/>
              </a:ext>
            </a:extLst>
          </p:cNvPr>
          <p:cNvSpPr txBox="1"/>
          <p:nvPr/>
        </p:nvSpPr>
        <p:spPr>
          <a:xfrm>
            <a:off x="3889400" y="6543789"/>
            <a:ext cx="4335593" cy="307777"/>
          </a:xfrm>
          <a:prstGeom prst="rect">
            <a:avLst/>
          </a:prstGeom>
          <a:noFill/>
        </p:spPr>
        <p:txBody>
          <a:bodyPr wrap="square" rtlCol="0">
            <a:spAutoFit/>
          </a:bodyPr>
          <a:lstStyle/>
          <a:p>
            <a:pPr algn="ctr"/>
            <a:r>
              <a:rPr lang="en-US" sz="1400">
                <a:latin typeface="Lucida Bright" panose="02040602050505020304" pitchFamily="18" charset="77"/>
              </a:rPr>
              <a:t>[Indicates time of campaign and type]</a:t>
            </a:r>
          </a:p>
        </p:txBody>
      </p:sp>
      <p:cxnSp>
        <p:nvCxnSpPr>
          <p:cNvPr id="21" name="Straight Connector 20">
            <a:extLst>
              <a:ext uri="{FF2B5EF4-FFF2-40B4-BE49-F238E27FC236}">
                <a16:creationId xmlns:a16="http://schemas.microsoft.com/office/drawing/2014/main" id="{3E90D434-4D08-F1E0-9F7A-93711B9B50C8}"/>
              </a:ext>
            </a:extLst>
          </p:cNvPr>
          <p:cNvCxnSpPr>
            <a:cxnSpLocks/>
          </p:cNvCxnSpPr>
          <p:nvPr/>
        </p:nvCxnSpPr>
        <p:spPr>
          <a:xfrm>
            <a:off x="2073639" y="6010556"/>
            <a:ext cx="0" cy="30577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EDE23647-4BC3-486F-5150-504365232066}"/>
              </a:ext>
            </a:extLst>
          </p:cNvPr>
          <p:cNvSpPr txBox="1"/>
          <p:nvPr/>
        </p:nvSpPr>
        <p:spPr>
          <a:xfrm>
            <a:off x="1476532" y="6334097"/>
            <a:ext cx="1154243" cy="261610"/>
          </a:xfrm>
          <a:prstGeom prst="rect">
            <a:avLst/>
          </a:prstGeom>
          <a:noFill/>
        </p:spPr>
        <p:txBody>
          <a:bodyPr wrap="square" rtlCol="0">
            <a:spAutoFit/>
          </a:bodyPr>
          <a:lstStyle/>
          <a:p>
            <a:pPr algn="ctr"/>
            <a:r>
              <a:rPr lang="en-US" sz="1100">
                <a:latin typeface="Lucida Bright" panose="02040602050505020304" pitchFamily="18" charset="77"/>
              </a:rPr>
              <a:t>Jan. 2017</a:t>
            </a:r>
          </a:p>
        </p:txBody>
      </p:sp>
      <p:cxnSp>
        <p:nvCxnSpPr>
          <p:cNvPr id="27" name="Straight Connector 26">
            <a:extLst>
              <a:ext uri="{FF2B5EF4-FFF2-40B4-BE49-F238E27FC236}">
                <a16:creationId xmlns:a16="http://schemas.microsoft.com/office/drawing/2014/main" id="{6E356E12-A68E-B9AE-0FA9-47BDD402095C}"/>
              </a:ext>
            </a:extLst>
          </p:cNvPr>
          <p:cNvCxnSpPr/>
          <p:nvPr/>
        </p:nvCxnSpPr>
        <p:spPr>
          <a:xfrm>
            <a:off x="826957" y="600162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28" name="Straight Connector 27">
            <a:extLst>
              <a:ext uri="{FF2B5EF4-FFF2-40B4-BE49-F238E27FC236}">
                <a16:creationId xmlns:a16="http://schemas.microsoft.com/office/drawing/2014/main" id="{C07FB2D8-E59A-1B1B-245E-D5DD0B2C9AAD}"/>
              </a:ext>
            </a:extLst>
          </p:cNvPr>
          <p:cNvCxnSpPr/>
          <p:nvPr/>
        </p:nvCxnSpPr>
        <p:spPr>
          <a:xfrm>
            <a:off x="1201711" y="6014489"/>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7BCDD7CB-E5F3-2611-996F-43A8214ACAE0}"/>
              </a:ext>
            </a:extLst>
          </p:cNvPr>
          <p:cNvCxnSpPr/>
          <p:nvPr/>
        </p:nvCxnSpPr>
        <p:spPr>
          <a:xfrm>
            <a:off x="1928733" y="5996722"/>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1" name="Straight Connector 30">
            <a:extLst>
              <a:ext uri="{FF2B5EF4-FFF2-40B4-BE49-F238E27FC236}">
                <a16:creationId xmlns:a16="http://schemas.microsoft.com/office/drawing/2014/main" id="{DC5A610B-18C1-685B-DA7F-21A30A85218F}"/>
              </a:ext>
            </a:extLst>
          </p:cNvPr>
          <p:cNvCxnSpPr/>
          <p:nvPr/>
        </p:nvCxnSpPr>
        <p:spPr>
          <a:xfrm>
            <a:off x="9501265" y="5988740"/>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2" name="Straight Connector 31">
            <a:extLst>
              <a:ext uri="{FF2B5EF4-FFF2-40B4-BE49-F238E27FC236}">
                <a16:creationId xmlns:a16="http://schemas.microsoft.com/office/drawing/2014/main" id="{F3ABD7DB-BE18-F92C-B825-A08136B94840}"/>
              </a:ext>
            </a:extLst>
          </p:cNvPr>
          <p:cNvCxnSpPr/>
          <p:nvPr/>
        </p:nvCxnSpPr>
        <p:spPr>
          <a:xfrm>
            <a:off x="9308891" y="5988740"/>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3" name="Straight Connector 32">
            <a:extLst>
              <a:ext uri="{FF2B5EF4-FFF2-40B4-BE49-F238E27FC236}">
                <a16:creationId xmlns:a16="http://schemas.microsoft.com/office/drawing/2014/main" id="{21D958A8-2155-19E5-84DA-685BE93D57DB}"/>
              </a:ext>
            </a:extLst>
          </p:cNvPr>
          <p:cNvCxnSpPr/>
          <p:nvPr/>
        </p:nvCxnSpPr>
        <p:spPr>
          <a:xfrm>
            <a:off x="8456950" y="598203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4" name="Straight Connector 33">
            <a:extLst>
              <a:ext uri="{FF2B5EF4-FFF2-40B4-BE49-F238E27FC236}">
                <a16:creationId xmlns:a16="http://schemas.microsoft.com/office/drawing/2014/main" id="{15A3C63B-0703-EF36-D883-AD50EF7C03C2}"/>
              </a:ext>
            </a:extLst>
          </p:cNvPr>
          <p:cNvCxnSpPr/>
          <p:nvPr/>
        </p:nvCxnSpPr>
        <p:spPr>
          <a:xfrm>
            <a:off x="7769901" y="599623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6" name="Straight Connector 35">
            <a:extLst>
              <a:ext uri="{FF2B5EF4-FFF2-40B4-BE49-F238E27FC236}">
                <a16:creationId xmlns:a16="http://schemas.microsoft.com/office/drawing/2014/main" id="{B443893C-8477-AAC9-C521-4388EAF2B3A0}"/>
              </a:ext>
            </a:extLst>
          </p:cNvPr>
          <p:cNvCxnSpPr/>
          <p:nvPr/>
        </p:nvCxnSpPr>
        <p:spPr>
          <a:xfrm>
            <a:off x="7346118" y="6010556"/>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7" name="Straight Connector 36">
            <a:extLst>
              <a:ext uri="{FF2B5EF4-FFF2-40B4-BE49-F238E27FC236}">
                <a16:creationId xmlns:a16="http://schemas.microsoft.com/office/drawing/2014/main" id="{9509839C-4BF0-12C5-7CDB-9F96A6778C27}"/>
              </a:ext>
            </a:extLst>
          </p:cNvPr>
          <p:cNvCxnSpPr/>
          <p:nvPr/>
        </p:nvCxnSpPr>
        <p:spPr>
          <a:xfrm>
            <a:off x="6845508" y="6014489"/>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8" name="Straight Connector 37">
            <a:extLst>
              <a:ext uri="{FF2B5EF4-FFF2-40B4-BE49-F238E27FC236}">
                <a16:creationId xmlns:a16="http://schemas.microsoft.com/office/drawing/2014/main" id="{5E2639EF-D9AA-BB10-90A6-8E13497384D8}"/>
              </a:ext>
            </a:extLst>
          </p:cNvPr>
          <p:cNvCxnSpPr/>
          <p:nvPr/>
        </p:nvCxnSpPr>
        <p:spPr>
          <a:xfrm>
            <a:off x="6110991" y="598203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39" name="Straight Connector 38">
            <a:extLst>
              <a:ext uri="{FF2B5EF4-FFF2-40B4-BE49-F238E27FC236}">
                <a16:creationId xmlns:a16="http://schemas.microsoft.com/office/drawing/2014/main" id="{863CBBB7-AD65-8937-369F-2A1F6C6D8A98}"/>
              </a:ext>
            </a:extLst>
          </p:cNvPr>
          <p:cNvCxnSpPr/>
          <p:nvPr/>
        </p:nvCxnSpPr>
        <p:spPr>
          <a:xfrm>
            <a:off x="5653791" y="6003639"/>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63CAE0FD-019C-D36C-D774-ADB371417E58}"/>
              </a:ext>
            </a:extLst>
          </p:cNvPr>
          <p:cNvCxnSpPr/>
          <p:nvPr/>
        </p:nvCxnSpPr>
        <p:spPr>
          <a:xfrm>
            <a:off x="5214078" y="5988740"/>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96FA22CA-B396-907F-9CDE-1B3A9B2F62FB}"/>
              </a:ext>
            </a:extLst>
          </p:cNvPr>
          <p:cNvCxnSpPr/>
          <p:nvPr/>
        </p:nvCxnSpPr>
        <p:spPr>
          <a:xfrm>
            <a:off x="5001717" y="6003639"/>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2" name="Straight Connector 41">
            <a:extLst>
              <a:ext uri="{FF2B5EF4-FFF2-40B4-BE49-F238E27FC236}">
                <a16:creationId xmlns:a16="http://schemas.microsoft.com/office/drawing/2014/main" id="{6EB20337-80B1-19A7-2841-715F17DCDB0C}"/>
              </a:ext>
            </a:extLst>
          </p:cNvPr>
          <p:cNvCxnSpPr/>
          <p:nvPr/>
        </p:nvCxnSpPr>
        <p:spPr>
          <a:xfrm>
            <a:off x="4562006" y="6010556"/>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3" name="Straight Connector 42">
            <a:extLst>
              <a:ext uri="{FF2B5EF4-FFF2-40B4-BE49-F238E27FC236}">
                <a16:creationId xmlns:a16="http://schemas.microsoft.com/office/drawing/2014/main" id="{4420E16A-7E94-542E-7BE5-1E49A50EC93E}"/>
              </a:ext>
            </a:extLst>
          </p:cNvPr>
          <p:cNvCxnSpPr/>
          <p:nvPr/>
        </p:nvCxnSpPr>
        <p:spPr>
          <a:xfrm>
            <a:off x="4197246" y="599623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4" name="Straight Connector 43">
            <a:extLst>
              <a:ext uri="{FF2B5EF4-FFF2-40B4-BE49-F238E27FC236}">
                <a16:creationId xmlns:a16="http://schemas.microsoft.com/office/drawing/2014/main" id="{CB06BCF3-035B-AA7A-0A50-8A89774DAE96}"/>
              </a:ext>
            </a:extLst>
          </p:cNvPr>
          <p:cNvCxnSpPr/>
          <p:nvPr/>
        </p:nvCxnSpPr>
        <p:spPr>
          <a:xfrm>
            <a:off x="3984417" y="5988740"/>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6" name="Straight Connector 45">
            <a:extLst>
              <a:ext uri="{FF2B5EF4-FFF2-40B4-BE49-F238E27FC236}">
                <a16:creationId xmlns:a16="http://schemas.microsoft.com/office/drawing/2014/main" id="{31649483-C68E-20B1-F4F8-65B90DC76F41}"/>
              </a:ext>
            </a:extLst>
          </p:cNvPr>
          <p:cNvCxnSpPr>
            <a:cxnSpLocks/>
          </p:cNvCxnSpPr>
          <p:nvPr/>
        </p:nvCxnSpPr>
        <p:spPr>
          <a:xfrm>
            <a:off x="3000063" y="6007747"/>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7" name="Straight Connector 46">
            <a:extLst>
              <a:ext uri="{FF2B5EF4-FFF2-40B4-BE49-F238E27FC236}">
                <a16:creationId xmlns:a16="http://schemas.microsoft.com/office/drawing/2014/main" id="{F7843B3E-436D-2A6B-4CAD-819C75900F78}"/>
              </a:ext>
            </a:extLst>
          </p:cNvPr>
          <p:cNvCxnSpPr/>
          <p:nvPr/>
        </p:nvCxnSpPr>
        <p:spPr>
          <a:xfrm>
            <a:off x="3797040" y="599623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50" name="Straight Connector 49">
            <a:extLst>
              <a:ext uri="{FF2B5EF4-FFF2-40B4-BE49-F238E27FC236}">
                <a16:creationId xmlns:a16="http://schemas.microsoft.com/office/drawing/2014/main" id="{30DB886D-AE58-3173-12F5-CCD2D739EE7C}"/>
              </a:ext>
            </a:extLst>
          </p:cNvPr>
          <p:cNvCxnSpPr/>
          <p:nvPr/>
        </p:nvCxnSpPr>
        <p:spPr>
          <a:xfrm>
            <a:off x="8946629" y="598203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sp>
        <p:nvSpPr>
          <p:cNvPr id="54" name="TextBox 53">
            <a:extLst>
              <a:ext uri="{FF2B5EF4-FFF2-40B4-BE49-F238E27FC236}">
                <a16:creationId xmlns:a16="http://schemas.microsoft.com/office/drawing/2014/main" id="{B6BDBE5B-7B47-985D-DE1A-5309FF042484}"/>
              </a:ext>
            </a:extLst>
          </p:cNvPr>
          <p:cNvSpPr txBox="1"/>
          <p:nvPr/>
        </p:nvSpPr>
        <p:spPr>
          <a:xfrm>
            <a:off x="9750751" y="5641224"/>
            <a:ext cx="374754" cy="369332"/>
          </a:xfrm>
          <a:prstGeom prst="rect">
            <a:avLst/>
          </a:prstGeom>
          <a:noFill/>
        </p:spPr>
        <p:txBody>
          <a:bodyPr wrap="square" rtlCol="0">
            <a:spAutoFit/>
          </a:bodyPr>
          <a:lstStyle/>
          <a:p>
            <a:r>
              <a:rPr lang="en-US">
                <a:latin typeface="Lucida Bright" panose="02040602050505020304" pitchFamily="18" charset="77"/>
              </a:rPr>
              <a:t>A</a:t>
            </a:r>
          </a:p>
        </p:txBody>
      </p:sp>
      <p:sp>
        <p:nvSpPr>
          <p:cNvPr id="55" name="TextBox 54">
            <a:extLst>
              <a:ext uri="{FF2B5EF4-FFF2-40B4-BE49-F238E27FC236}">
                <a16:creationId xmlns:a16="http://schemas.microsoft.com/office/drawing/2014/main" id="{7CC45744-69C0-5102-04DB-9D23FE200AB5}"/>
              </a:ext>
            </a:extLst>
          </p:cNvPr>
          <p:cNvSpPr txBox="1"/>
          <p:nvPr/>
        </p:nvSpPr>
        <p:spPr>
          <a:xfrm>
            <a:off x="8302052" y="5634307"/>
            <a:ext cx="374754" cy="369332"/>
          </a:xfrm>
          <a:prstGeom prst="rect">
            <a:avLst/>
          </a:prstGeom>
          <a:noFill/>
        </p:spPr>
        <p:txBody>
          <a:bodyPr wrap="square" rtlCol="0">
            <a:spAutoFit/>
          </a:bodyPr>
          <a:lstStyle/>
          <a:p>
            <a:r>
              <a:rPr lang="en-US">
                <a:latin typeface="Lucida Bright" panose="02040602050505020304" pitchFamily="18" charset="77"/>
              </a:rPr>
              <a:t>A</a:t>
            </a:r>
          </a:p>
        </p:txBody>
      </p:sp>
      <p:sp>
        <p:nvSpPr>
          <p:cNvPr id="59" name="TextBox 58">
            <a:extLst>
              <a:ext uri="{FF2B5EF4-FFF2-40B4-BE49-F238E27FC236}">
                <a16:creationId xmlns:a16="http://schemas.microsoft.com/office/drawing/2014/main" id="{952D750F-D480-76E9-2EFD-622AA73BBA4F}"/>
              </a:ext>
            </a:extLst>
          </p:cNvPr>
          <p:cNvSpPr txBox="1"/>
          <p:nvPr/>
        </p:nvSpPr>
        <p:spPr>
          <a:xfrm>
            <a:off x="2826233" y="5673472"/>
            <a:ext cx="374754" cy="369332"/>
          </a:xfrm>
          <a:prstGeom prst="rect">
            <a:avLst/>
          </a:prstGeom>
          <a:noFill/>
        </p:spPr>
        <p:txBody>
          <a:bodyPr wrap="square" rtlCol="0">
            <a:spAutoFit/>
          </a:bodyPr>
          <a:lstStyle/>
          <a:p>
            <a:r>
              <a:rPr lang="en-US">
                <a:latin typeface="Lucida Bright" panose="02040602050505020304" pitchFamily="18" charset="77"/>
              </a:rPr>
              <a:t>A</a:t>
            </a:r>
          </a:p>
        </p:txBody>
      </p:sp>
      <p:sp>
        <p:nvSpPr>
          <p:cNvPr id="62" name="TextBox 61">
            <a:extLst>
              <a:ext uri="{FF2B5EF4-FFF2-40B4-BE49-F238E27FC236}">
                <a16:creationId xmlns:a16="http://schemas.microsoft.com/office/drawing/2014/main" id="{A2CFF74F-A935-1B08-485E-0093E8F13984}"/>
              </a:ext>
            </a:extLst>
          </p:cNvPr>
          <p:cNvSpPr txBox="1"/>
          <p:nvPr/>
        </p:nvSpPr>
        <p:spPr>
          <a:xfrm>
            <a:off x="5515135" y="5651674"/>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3" name="TextBox 62">
            <a:extLst>
              <a:ext uri="{FF2B5EF4-FFF2-40B4-BE49-F238E27FC236}">
                <a16:creationId xmlns:a16="http://schemas.microsoft.com/office/drawing/2014/main" id="{93AB5936-5DFE-026C-659C-7F4BB2032461}"/>
              </a:ext>
            </a:extLst>
          </p:cNvPr>
          <p:cNvSpPr txBox="1"/>
          <p:nvPr/>
        </p:nvSpPr>
        <p:spPr>
          <a:xfrm>
            <a:off x="4409679" y="5638938"/>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4" name="TextBox 63">
            <a:extLst>
              <a:ext uri="{FF2B5EF4-FFF2-40B4-BE49-F238E27FC236}">
                <a16:creationId xmlns:a16="http://schemas.microsoft.com/office/drawing/2014/main" id="{0475FF98-8E70-CAF6-695E-9E2EFDF7144E}"/>
              </a:ext>
            </a:extLst>
          </p:cNvPr>
          <p:cNvSpPr txBox="1"/>
          <p:nvPr/>
        </p:nvSpPr>
        <p:spPr>
          <a:xfrm>
            <a:off x="4831829" y="5664030"/>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5" name="TextBox 64">
            <a:extLst>
              <a:ext uri="{FF2B5EF4-FFF2-40B4-BE49-F238E27FC236}">
                <a16:creationId xmlns:a16="http://schemas.microsoft.com/office/drawing/2014/main" id="{ACB84FF9-493A-A36C-437C-75B610895454}"/>
              </a:ext>
            </a:extLst>
          </p:cNvPr>
          <p:cNvSpPr txBox="1"/>
          <p:nvPr/>
        </p:nvSpPr>
        <p:spPr>
          <a:xfrm>
            <a:off x="3841543" y="5645184"/>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6" name="TextBox 65">
            <a:extLst>
              <a:ext uri="{FF2B5EF4-FFF2-40B4-BE49-F238E27FC236}">
                <a16:creationId xmlns:a16="http://schemas.microsoft.com/office/drawing/2014/main" id="{030AF2E7-A905-D326-CC05-95609D230B09}"/>
              </a:ext>
            </a:extLst>
          </p:cNvPr>
          <p:cNvSpPr txBox="1"/>
          <p:nvPr/>
        </p:nvSpPr>
        <p:spPr>
          <a:xfrm>
            <a:off x="3654166" y="5645184"/>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7" name="TextBox 66">
            <a:extLst>
              <a:ext uri="{FF2B5EF4-FFF2-40B4-BE49-F238E27FC236}">
                <a16:creationId xmlns:a16="http://schemas.microsoft.com/office/drawing/2014/main" id="{DBAA8782-6087-7FE8-5D3E-BBFFDA41EC20}"/>
              </a:ext>
            </a:extLst>
          </p:cNvPr>
          <p:cNvSpPr txBox="1"/>
          <p:nvPr/>
        </p:nvSpPr>
        <p:spPr>
          <a:xfrm>
            <a:off x="1783829" y="5655730"/>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8" name="TextBox 67">
            <a:extLst>
              <a:ext uri="{FF2B5EF4-FFF2-40B4-BE49-F238E27FC236}">
                <a16:creationId xmlns:a16="http://schemas.microsoft.com/office/drawing/2014/main" id="{9CCAA575-46CD-2910-EB26-B618C8DED310}"/>
              </a:ext>
            </a:extLst>
          </p:cNvPr>
          <p:cNvSpPr txBox="1"/>
          <p:nvPr/>
        </p:nvSpPr>
        <p:spPr>
          <a:xfrm>
            <a:off x="1051968" y="5655730"/>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69" name="TextBox 68">
            <a:extLst>
              <a:ext uri="{FF2B5EF4-FFF2-40B4-BE49-F238E27FC236}">
                <a16:creationId xmlns:a16="http://schemas.microsoft.com/office/drawing/2014/main" id="{F65B0F21-7DB3-92E7-89AB-001332CC4140}"/>
              </a:ext>
            </a:extLst>
          </p:cNvPr>
          <p:cNvSpPr txBox="1"/>
          <p:nvPr/>
        </p:nvSpPr>
        <p:spPr>
          <a:xfrm>
            <a:off x="4027359" y="5647791"/>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75" name="TextBox 74">
            <a:extLst>
              <a:ext uri="{FF2B5EF4-FFF2-40B4-BE49-F238E27FC236}">
                <a16:creationId xmlns:a16="http://schemas.microsoft.com/office/drawing/2014/main" id="{FCC598DE-DF5B-2A1F-62B0-D4510DF0BB3E}"/>
              </a:ext>
            </a:extLst>
          </p:cNvPr>
          <p:cNvSpPr txBox="1"/>
          <p:nvPr/>
        </p:nvSpPr>
        <p:spPr>
          <a:xfrm>
            <a:off x="650824" y="5658361"/>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76" name="TextBox 75">
            <a:extLst>
              <a:ext uri="{FF2B5EF4-FFF2-40B4-BE49-F238E27FC236}">
                <a16:creationId xmlns:a16="http://schemas.microsoft.com/office/drawing/2014/main" id="{D0D8E2D4-9130-C758-46E8-6F8A41B380E8}"/>
              </a:ext>
            </a:extLst>
          </p:cNvPr>
          <p:cNvSpPr txBox="1"/>
          <p:nvPr/>
        </p:nvSpPr>
        <p:spPr>
          <a:xfrm>
            <a:off x="8784240" y="5634307"/>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77" name="TextBox 76">
            <a:extLst>
              <a:ext uri="{FF2B5EF4-FFF2-40B4-BE49-F238E27FC236}">
                <a16:creationId xmlns:a16="http://schemas.microsoft.com/office/drawing/2014/main" id="{D26BB5EB-8B25-5A03-05E9-CE97C4E775A1}"/>
              </a:ext>
            </a:extLst>
          </p:cNvPr>
          <p:cNvSpPr txBox="1"/>
          <p:nvPr/>
        </p:nvSpPr>
        <p:spPr>
          <a:xfrm>
            <a:off x="5051219" y="5651674"/>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80" name="TextBox 79">
            <a:extLst>
              <a:ext uri="{FF2B5EF4-FFF2-40B4-BE49-F238E27FC236}">
                <a16:creationId xmlns:a16="http://schemas.microsoft.com/office/drawing/2014/main" id="{96F61ED2-267D-0212-E985-F6CA64C1AF9B}"/>
              </a:ext>
            </a:extLst>
          </p:cNvPr>
          <p:cNvSpPr txBox="1"/>
          <p:nvPr/>
        </p:nvSpPr>
        <p:spPr>
          <a:xfrm>
            <a:off x="10623030" y="5641773"/>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81" name="TextBox 80">
            <a:extLst>
              <a:ext uri="{FF2B5EF4-FFF2-40B4-BE49-F238E27FC236}">
                <a16:creationId xmlns:a16="http://schemas.microsoft.com/office/drawing/2014/main" id="{C5BED906-1253-4EDB-552E-FAA86A2F7015}"/>
              </a:ext>
            </a:extLst>
          </p:cNvPr>
          <p:cNvSpPr txBox="1"/>
          <p:nvPr/>
        </p:nvSpPr>
        <p:spPr>
          <a:xfrm>
            <a:off x="9123465" y="5634307"/>
            <a:ext cx="374754" cy="369332"/>
          </a:xfrm>
          <a:prstGeom prst="rect">
            <a:avLst/>
          </a:prstGeom>
          <a:noFill/>
        </p:spPr>
        <p:txBody>
          <a:bodyPr wrap="square" rtlCol="0">
            <a:spAutoFit/>
          </a:bodyPr>
          <a:lstStyle/>
          <a:p>
            <a:r>
              <a:rPr lang="en-US">
                <a:latin typeface="Lucida Bright" panose="02040602050505020304" pitchFamily="18" charset="77"/>
              </a:rPr>
              <a:t>C</a:t>
            </a:r>
          </a:p>
        </p:txBody>
      </p:sp>
      <p:sp>
        <p:nvSpPr>
          <p:cNvPr id="83" name="TextBox 82">
            <a:extLst>
              <a:ext uri="{FF2B5EF4-FFF2-40B4-BE49-F238E27FC236}">
                <a16:creationId xmlns:a16="http://schemas.microsoft.com/office/drawing/2014/main" id="{4AF10A77-5D50-B2FF-3FE7-7413A3136474}"/>
              </a:ext>
            </a:extLst>
          </p:cNvPr>
          <p:cNvSpPr txBox="1"/>
          <p:nvPr/>
        </p:nvSpPr>
        <p:spPr>
          <a:xfrm>
            <a:off x="9521255" y="5641224"/>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84" name="TextBox 83">
            <a:extLst>
              <a:ext uri="{FF2B5EF4-FFF2-40B4-BE49-F238E27FC236}">
                <a16:creationId xmlns:a16="http://schemas.microsoft.com/office/drawing/2014/main" id="{32D981CE-02D3-9934-6E4E-C6932C5D4EBC}"/>
              </a:ext>
            </a:extLst>
          </p:cNvPr>
          <p:cNvSpPr txBox="1"/>
          <p:nvPr/>
        </p:nvSpPr>
        <p:spPr>
          <a:xfrm>
            <a:off x="7530842" y="5635931"/>
            <a:ext cx="694935" cy="369332"/>
          </a:xfrm>
          <a:prstGeom prst="rect">
            <a:avLst/>
          </a:prstGeom>
          <a:noFill/>
        </p:spPr>
        <p:txBody>
          <a:bodyPr wrap="square" rtlCol="0">
            <a:spAutoFit/>
          </a:bodyPr>
          <a:lstStyle/>
          <a:p>
            <a:r>
              <a:rPr lang="en-US">
                <a:latin typeface="Lucida Bright" panose="02040602050505020304" pitchFamily="18" charset="77"/>
              </a:rPr>
              <a:t>B/B</a:t>
            </a:r>
          </a:p>
        </p:txBody>
      </p:sp>
      <p:sp>
        <p:nvSpPr>
          <p:cNvPr id="85" name="TextBox 84">
            <a:extLst>
              <a:ext uri="{FF2B5EF4-FFF2-40B4-BE49-F238E27FC236}">
                <a16:creationId xmlns:a16="http://schemas.microsoft.com/office/drawing/2014/main" id="{B6E69F14-1F3C-C05E-88E6-AE6C58A63F34}"/>
              </a:ext>
            </a:extLst>
          </p:cNvPr>
          <p:cNvSpPr txBox="1"/>
          <p:nvPr/>
        </p:nvSpPr>
        <p:spPr>
          <a:xfrm>
            <a:off x="7158741" y="5641256"/>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86" name="TextBox 85">
            <a:extLst>
              <a:ext uri="{FF2B5EF4-FFF2-40B4-BE49-F238E27FC236}">
                <a16:creationId xmlns:a16="http://schemas.microsoft.com/office/drawing/2014/main" id="{35547D8E-3956-DA4C-DA44-4240B8D589EC}"/>
              </a:ext>
            </a:extLst>
          </p:cNvPr>
          <p:cNvSpPr txBox="1"/>
          <p:nvPr/>
        </p:nvSpPr>
        <p:spPr>
          <a:xfrm>
            <a:off x="6679994" y="5658113"/>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87" name="TextBox 86">
            <a:extLst>
              <a:ext uri="{FF2B5EF4-FFF2-40B4-BE49-F238E27FC236}">
                <a16:creationId xmlns:a16="http://schemas.microsoft.com/office/drawing/2014/main" id="{E9A701CA-6B4D-57CC-3E39-E1875C4E9BF1}"/>
              </a:ext>
            </a:extLst>
          </p:cNvPr>
          <p:cNvSpPr txBox="1"/>
          <p:nvPr/>
        </p:nvSpPr>
        <p:spPr>
          <a:xfrm>
            <a:off x="5946099" y="5634307"/>
            <a:ext cx="374754" cy="369332"/>
          </a:xfrm>
          <a:prstGeom prst="rect">
            <a:avLst/>
          </a:prstGeom>
          <a:noFill/>
        </p:spPr>
        <p:txBody>
          <a:bodyPr wrap="square" rtlCol="0">
            <a:spAutoFit/>
          </a:bodyPr>
          <a:lstStyle/>
          <a:p>
            <a:r>
              <a:rPr lang="en-US">
                <a:latin typeface="Lucida Bright" panose="02040602050505020304" pitchFamily="18" charset="77"/>
              </a:rPr>
              <a:t>A</a:t>
            </a:r>
          </a:p>
        </p:txBody>
      </p:sp>
      <p:cxnSp>
        <p:nvCxnSpPr>
          <p:cNvPr id="88" name="Straight Connector 87">
            <a:extLst>
              <a:ext uri="{FF2B5EF4-FFF2-40B4-BE49-F238E27FC236}">
                <a16:creationId xmlns:a16="http://schemas.microsoft.com/office/drawing/2014/main" id="{E6DE90FA-6649-D959-D6AF-B6BC6D549D85}"/>
              </a:ext>
            </a:extLst>
          </p:cNvPr>
          <p:cNvCxnSpPr/>
          <p:nvPr/>
        </p:nvCxnSpPr>
        <p:spPr>
          <a:xfrm>
            <a:off x="9898510" y="598203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89" name="Straight Connector 88">
            <a:extLst>
              <a:ext uri="{FF2B5EF4-FFF2-40B4-BE49-F238E27FC236}">
                <a16:creationId xmlns:a16="http://schemas.microsoft.com/office/drawing/2014/main" id="{048BF3F1-5704-A3F0-5D6C-0E6CEB2DF8D4}"/>
              </a:ext>
            </a:extLst>
          </p:cNvPr>
          <p:cNvCxnSpPr/>
          <p:nvPr/>
        </p:nvCxnSpPr>
        <p:spPr>
          <a:xfrm>
            <a:off x="10360857" y="596634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0" name="Straight Connector 89">
            <a:extLst>
              <a:ext uri="{FF2B5EF4-FFF2-40B4-BE49-F238E27FC236}">
                <a16:creationId xmlns:a16="http://schemas.microsoft.com/office/drawing/2014/main" id="{6164BC91-CB37-7B56-C9CA-430BD70870F8}"/>
              </a:ext>
            </a:extLst>
          </p:cNvPr>
          <p:cNvCxnSpPr/>
          <p:nvPr/>
        </p:nvCxnSpPr>
        <p:spPr>
          <a:xfrm>
            <a:off x="10802599" y="596634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1" name="Straight Connector 90">
            <a:extLst>
              <a:ext uri="{FF2B5EF4-FFF2-40B4-BE49-F238E27FC236}">
                <a16:creationId xmlns:a16="http://schemas.microsoft.com/office/drawing/2014/main" id="{0AFC03D2-297B-F614-A3A4-8BE8F350D863}"/>
              </a:ext>
            </a:extLst>
          </p:cNvPr>
          <p:cNvCxnSpPr/>
          <p:nvPr/>
        </p:nvCxnSpPr>
        <p:spPr>
          <a:xfrm>
            <a:off x="11382530" y="5966345"/>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2" name="Straight Connector 91">
            <a:extLst>
              <a:ext uri="{FF2B5EF4-FFF2-40B4-BE49-F238E27FC236}">
                <a16:creationId xmlns:a16="http://schemas.microsoft.com/office/drawing/2014/main" id="{D31CC4CE-13C1-FDCA-5685-80AC1029DA30}"/>
              </a:ext>
            </a:extLst>
          </p:cNvPr>
          <p:cNvCxnSpPr/>
          <p:nvPr/>
        </p:nvCxnSpPr>
        <p:spPr>
          <a:xfrm>
            <a:off x="9661160" y="5982038"/>
            <a:ext cx="0" cy="319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sp>
        <p:nvSpPr>
          <p:cNvPr id="94" name="TextBox 93">
            <a:extLst>
              <a:ext uri="{FF2B5EF4-FFF2-40B4-BE49-F238E27FC236}">
                <a16:creationId xmlns:a16="http://schemas.microsoft.com/office/drawing/2014/main" id="{13AB3A52-F041-CF12-7D6C-002D9DD6CE8C}"/>
              </a:ext>
            </a:extLst>
          </p:cNvPr>
          <p:cNvSpPr txBox="1"/>
          <p:nvPr/>
        </p:nvSpPr>
        <p:spPr>
          <a:xfrm>
            <a:off x="10194210" y="5626903"/>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95" name="TextBox 94">
            <a:extLst>
              <a:ext uri="{FF2B5EF4-FFF2-40B4-BE49-F238E27FC236}">
                <a16:creationId xmlns:a16="http://schemas.microsoft.com/office/drawing/2014/main" id="{4E349CD0-F37D-5495-C991-DBEA128EEB4B}"/>
              </a:ext>
            </a:extLst>
          </p:cNvPr>
          <p:cNvSpPr txBox="1"/>
          <p:nvPr/>
        </p:nvSpPr>
        <p:spPr>
          <a:xfrm>
            <a:off x="11660749" y="5626903"/>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96" name="TextBox 95">
            <a:extLst>
              <a:ext uri="{FF2B5EF4-FFF2-40B4-BE49-F238E27FC236}">
                <a16:creationId xmlns:a16="http://schemas.microsoft.com/office/drawing/2014/main" id="{F92347B1-0F12-4FF4-7EF4-3CB8D9C98968}"/>
              </a:ext>
            </a:extLst>
          </p:cNvPr>
          <p:cNvSpPr txBox="1"/>
          <p:nvPr/>
        </p:nvSpPr>
        <p:spPr>
          <a:xfrm>
            <a:off x="9344420" y="5651674"/>
            <a:ext cx="374754" cy="369332"/>
          </a:xfrm>
          <a:prstGeom prst="rect">
            <a:avLst/>
          </a:prstGeom>
          <a:noFill/>
        </p:spPr>
        <p:txBody>
          <a:bodyPr wrap="square" rtlCol="0">
            <a:spAutoFit/>
          </a:bodyPr>
          <a:lstStyle/>
          <a:p>
            <a:r>
              <a:rPr lang="en-US">
                <a:latin typeface="Lucida Bright" panose="02040602050505020304" pitchFamily="18" charset="77"/>
              </a:rPr>
              <a:t>B</a:t>
            </a:r>
          </a:p>
        </p:txBody>
      </p:sp>
      <p:sp>
        <p:nvSpPr>
          <p:cNvPr id="97" name="TextBox 96">
            <a:extLst>
              <a:ext uri="{FF2B5EF4-FFF2-40B4-BE49-F238E27FC236}">
                <a16:creationId xmlns:a16="http://schemas.microsoft.com/office/drawing/2014/main" id="{A7194DD6-83C8-1C15-E991-7B7ADF5F318E}"/>
              </a:ext>
            </a:extLst>
          </p:cNvPr>
          <p:cNvSpPr txBox="1"/>
          <p:nvPr/>
        </p:nvSpPr>
        <p:spPr>
          <a:xfrm>
            <a:off x="11100569" y="5630417"/>
            <a:ext cx="694935" cy="369332"/>
          </a:xfrm>
          <a:prstGeom prst="rect">
            <a:avLst/>
          </a:prstGeom>
          <a:noFill/>
        </p:spPr>
        <p:txBody>
          <a:bodyPr wrap="square" rtlCol="0">
            <a:spAutoFit/>
          </a:bodyPr>
          <a:lstStyle/>
          <a:p>
            <a:r>
              <a:rPr lang="en-US">
                <a:latin typeface="Lucida Bright" panose="02040602050505020304" pitchFamily="18" charset="77"/>
              </a:rPr>
              <a:t>B/B</a:t>
            </a:r>
          </a:p>
        </p:txBody>
      </p:sp>
      <p:cxnSp>
        <p:nvCxnSpPr>
          <p:cNvPr id="99" name="Straight Connector 98">
            <a:extLst>
              <a:ext uri="{FF2B5EF4-FFF2-40B4-BE49-F238E27FC236}">
                <a16:creationId xmlns:a16="http://schemas.microsoft.com/office/drawing/2014/main" id="{E5B3630D-A317-0FA9-9F02-84B8E7925CAB}"/>
              </a:ext>
            </a:extLst>
          </p:cNvPr>
          <p:cNvCxnSpPr>
            <a:cxnSpLocks/>
          </p:cNvCxnSpPr>
          <p:nvPr/>
        </p:nvCxnSpPr>
        <p:spPr>
          <a:xfrm>
            <a:off x="4774213" y="6009916"/>
            <a:ext cx="0" cy="30577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1" name="TextBox 100">
            <a:extLst>
              <a:ext uri="{FF2B5EF4-FFF2-40B4-BE49-F238E27FC236}">
                <a16:creationId xmlns:a16="http://schemas.microsoft.com/office/drawing/2014/main" id="{5C0E38DD-E863-B960-80D3-C2476219AE5D}"/>
              </a:ext>
            </a:extLst>
          </p:cNvPr>
          <p:cNvSpPr txBox="1"/>
          <p:nvPr/>
        </p:nvSpPr>
        <p:spPr>
          <a:xfrm>
            <a:off x="4221293" y="6323247"/>
            <a:ext cx="1154243" cy="261610"/>
          </a:xfrm>
          <a:prstGeom prst="rect">
            <a:avLst/>
          </a:prstGeom>
          <a:noFill/>
        </p:spPr>
        <p:txBody>
          <a:bodyPr wrap="square" rtlCol="0">
            <a:spAutoFit/>
          </a:bodyPr>
          <a:lstStyle/>
          <a:p>
            <a:pPr algn="ctr"/>
            <a:r>
              <a:rPr lang="en-US" sz="1100">
                <a:latin typeface="Lucida Bright" panose="02040602050505020304" pitchFamily="18" charset="77"/>
              </a:rPr>
              <a:t>March 2017</a:t>
            </a:r>
          </a:p>
        </p:txBody>
      </p:sp>
      <p:sp>
        <p:nvSpPr>
          <p:cNvPr id="102" name="TextBox 101">
            <a:extLst>
              <a:ext uri="{FF2B5EF4-FFF2-40B4-BE49-F238E27FC236}">
                <a16:creationId xmlns:a16="http://schemas.microsoft.com/office/drawing/2014/main" id="{B0FDF8BD-7DF1-65D6-A912-C6FF380F3C9F}"/>
              </a:ext>
            </a:extLst>
          </p:cNvPr>
          <p:cNvSpPr txBox="1"/>
          <p:nvPr/>
        </p:nvSpPr>
        <p:spPr>
          <a:xfrm>
            <a:off x="8839587" y="6282179"/>
            <a:ext cx="1154243" cy="261610"/>
          </a:xfrm>
          <a:prstGeom prst="rect">
            <a:avLst/>
          </a:prstGeom>
          <a:noFill/>
        </p:spPr>
        <p:txBody>
          <a:bodyPr wrap="square" rtlCol="0">
            <a:spAutoFit/>
          </a:bodyPr>
          <a:lstStyle/>
          <a:p>
            <a:pPr algn="ctr"/>
            <a:r>
              <a:rPr lang="en-US" sz="1100">
                <a:latin typeface="Lucida Bright" panose="02040602050505020304" pitchFamily="18" charset="77"/>
              </a:rPr>
              <a:t>Oct. 2017</a:t>
            </a:r>
          </a:p>
        </p:txBody>
      </p:sp>
      <p:sp>
        <p:nvSpPr>
          <p:cNvPr id="103" name="TextBox 102">
            <a:extLst>
              <a:ext uri="{FF2B5EF4-FFF2-40B4-BE49-F238E27FC236}">
                <a16:creationId xmlns:a16="http://schemas.microsoft.com/office/drawing/2014/main" id="{F918FDAB-A1A3-C0DB-D0AF-F58FE9FBE8BF}"/>
              </a:ext>
            </a:extLst>
          </p:cNvPr>
          <p:cNvSpPr txBox="1"/>
          <p:nvPr/>
        </p:nvSpPr>
        <p:spPr>
          <a:xfrm>
            <a:off x="6958952" y="6315690"/>
            <a:ext cx="1154243" cy="261610"/>
          </a:xfrm>
          <a:prstGeom prst="rect">
            <a:avLst/>
          </a:prstGeom>
          <a:noFill/>
        </p:spPr>
        <p:txBody>
          <a:bodyPr wrap="square" rtlCol="0">
            <a:spAutoFit/>
          </a:bodyPr>
          <a:lstStyle/>
          <a:p>
            <a:pPr algn="ctr"/>
            <a:r>
              <a:rPr lang="en-US" sz="1100">
                <a:latin typeface="Lucida Bright" panose="02040602050505020304" pitchFamily="18" charset="77"/>
              </a:rPr>
              <a:t>June 2017</a:t>
            </a:r>
          </a:p>
        </p:txBody>
      </p:sp>
      <p:cxnSp>
        <p:nvCxnSpPr>
          <p:cNvPr id="104" name="Straight Connector 103">
            <a:extLst>
              <a:ext uri="{FF2B5EF4-FFF2-40B4-BE49-F238E27FC236}">
                <a16:creationId xmlns:a16="http://schemas.microsoft.com/office/drawing/2014/main" id="{95CCC152-F723-B43E-6C77-0C3187BEA06A}"/>
              </a:ext>
            </a:extLst>
          </p:cNvPr>
          <p:cNvCxnSpPr>
            <a:cxnSpLocks/>
          </p:cNvCxnSpPr>
          <p:nvPr/>
        </p:nvCxnSpPr>
        <p:spPr>
          <a:xfrm>
            <a:off x="9366754" y="6003639"/>
            <a:ext cx="0" cy="30577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5" name="Straight Connector 104">
            <a:extLst>
              <a:ext uri="{FF2B5EF4-FFF2-40B4-BE49-F238E27FC236}">
                <a16:creationId xmlns:a16="http://schemas.microsoft.com/office/drawing/2014/main" id="{246A149C-1CFF-754C-66C1-931EE41B0597}"/>
              </a:ext>
            </a:extLst>
          </p:cNvPr>
          <p:cNvCxnSpPr>
            <a:cxnSpLocks/>
          </p:cNvCxnSpPr>
          <p:nvPr/>
        </p:nvCxnSpPr>
        <p:spPr>
          <a:xfrm>
            <a:off x="7458391" y="6017473"/>
            <a:ext cx="0" cy="30577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itle 1">
            <a:extLst>
              <a:ext uri="{FF2B5EF4-FFF2-40B4-BE49-F238E27FC236}">
                <a16:creationId xmlns:a16="http://schemas.microsoft.com/office/drawing/2014/main" id="{960FF361-A4F0-DAD7-2591-A87D0E1363A5}"/>
              </a:ext>
            </a:extLst>
          </p:cNvPr>
          <p:cNvSpPr>
            <a:spLocks noGrp="1"/>
          </p:cNvSpPr>
          <p:nvPr>
            <p:ph type="title"/>
          </p:nvPr>
        </p:nvSpPr>
        <p:spPr>
          <a:xfrm>
            <a:off x="47648" y="-106428"/>
            <a:ext cx="10515600" cy="1325563"/>
          </a:xfrm>
        </p:spPr>
        <p:txBody>
          <a:bodyPr>
            <a:normAutofit/>
          </a:bodyPr>
          <a:lstStyle/>
          <a:p>
            <a:r>
              <a:rPr lang="en-US" sz="3600">
                <a:latin typeface="Lucida Bright" panose="02040602050505020304" pitchFamily="18" charset="77"/>
              </a:rPr>
              <a:t>Primary Data Identifications </a:t>
            </a:r>
          </a:p>
        </p:txBody>
      </p:sp>
      <p:sp>
        <p:nvSpPr>
          <p:cNvPr id="3" name="TextBox 2">
            <a:extLst>
              <a:ext uri="{FF2B5EF4-FFF2-40B4-BE49-F238E27FC236}">
                <a16:creationId xmlns:a16="http://schemas.microsoft.com/office/drawing/2014/main" id="{20AFA05C-C0DA-4501-C801-DF0966714ED0}"/>
              </a:ext>
            </a:extLst>
          </p:cNvPr>
          <p:cNvSpPr txBox="1"/>
          <p:nvPr/>
        </p:nvSpPr>
        <p:spPr>
          <a:xfrm>
            <a:off x="7634330" y="4745131"/>
            <a:ext cx="4401173" cy="646331"/>
          </a:xfrm>
          <a:prstGeom prst="rect">
            <a:avLst/>
          </a:prstGeom>
          <a:noFill/>
          <a:ln>
            <a:solidFill>
              <a:schemeClr val="tx1"/>
            </a:solidFill>
            <a:prstDash val="dash"/>
          </a:ln>
        </p:spPr>
        <p:txBody>
          <a:bodyPr wrap="square" rtlCol="0">
            <a:spAutoFit/>
          </a:bodyPr>
          <a:lstStyle/>
          <a:p>
            <a:pPr algn="ctr"/>
            <a:r>
              <a:rPr lang="en-US" sz="1200">
                <a:latin typeface="Lucida Bright" panose="02040602050505020304" pitchFamily="18" charset="77"/>
              </a:rPr>
              <a:t>Type A: 16 Coupons based on prior customer purchases</a:t>
            </a:r>
          </a:p>
          <a:p>
            <a:pPr algn="ctr"/>
            <a:r>
              <a:rPr lang="en-US" sz="1200">
                <a:latin typeface="Lucida Bright" panose="02040602050505020304" pitchFamily="18" charset="77"/>
              </a:rPr>
              <a:t>Type B: Coupons based on the campaign </a:t>
            </a:r>
          </a:p>
          <a:p>
            <a:pPr algn="ctr"/>
            <a:r>
              <a:rPr lang="en-US" sz="1200">
                <a:latin typeface="Lucida Bright" panose="02040602050505020304" pitchFamily="18" charset="77"/>
              </a:rPr>
              <a:t>Type C: Coupons based on the campaign </a:t>
            </a:r>
          </a:p>
        </p:txBody>
      </p:sp>
      <p:graphicFrame>
        <p:nvGraphicFramePr>
          <p:cNvPr id="18" name="Chart 17">
            <a:extLst>
              <a:ext uri="{FF2B5EF4-FFF2-40B4-BE49-F238E27FC236}">
                <a16:creationId xmlns:a16="http://schemas.microsoft.com/office/drawing/2014/main" id="{45A00491-DAC0-3747-FA85-57357C3D9CD4}"/>
              </a:ext>
            </a:extLst>
          </p:cNvPr>
          <p:cNvGraphicFramePr>
            <a:graphicFrameLocks/>
          </p:cNvGraphicFramePr>
          <p:nvPr>
            <p:extLst>
              <p:ext uri="{D42A27DB-BD31-4B8C-83A1-F6EECF244321}">
                <p14:modId xmlns:p14="http://schemas.microsoft.com/office/powerpoint/2010/main" val="2124628240"/>
              </p:ext>
            </p:extLst>
          </p:nvPr>
        </p:nvGraphicFramePr>
        <p:xfrm>
          <a:off x="7530842" y="377030"/>
          <a:ext cx="1167752" cy="103413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id="{BE1E7CCB-5DAB-1EA2-1896-467F7C99214D}"/>
              </a:ext>
            </a:extLst>
          </p:cNvPr>
          <p:cNvGraphicFramePr>
            <a:graphicFrameLocks/>
          </p:cNvGraphicFramePr>
          <p:nvPr>
            <p:extLst>
              <p:ext uri="{D42A27DB-BD31-4B8C-83A1-F6EECF244321}">
                <p14:modId xmlns:p14="http://schemas.microsoft.com/office/powerpoint/2010/main" val="2418302016"/>
              </p:ext>
            </p:extLst>
          </p:nvPr>
        </p:nvGraphicFramePr>
        <p:xfrm>
          <a:off x="9213835" y="337293"/>
          <a:ext cx="1167752" cy="10341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19">
            <a:extLst>
              <a:ext uri="{FF2B5EF4-FFF2-40B4-BE49-F238E27FC236}">
                <a16:creationId xmlns:a16="http://schemas.microsoft.com/office/drawing/2014/main" id="{34F66272-3E64-1751-15C8-9BAAB5731752}"/>
              </a:ext>
            </a:extLst>
          </p:cNvPr>
          <p:cNvGraphicFramePr>
            <a:graphicFrameLocks/>
          </p:cNvGraphicFramePr>
          <p:nvPr>
            <p:extLst>
              <p:ext uri="{D42A27DB-BD31-4B8C-83A1-F6EECF244321}">
                <p14:modId xmlns:p14="http://schemas.microsoft.com/office/powerpoint/2010/main" val="273376788"/>
              </p:ext>
            </p:extLst>
          </p:nvPr>
        </p:nvGraphicFramePr>
        <p:xfrm>
          <a:off x="10756197" y="346798"/>
          <a:ext cx="1167752" cy="1034136"/>
        </p:xfrm>
        <a:graphic>
          <a:graphicData uri="http://schemas.openxmlformats.org/drawingml/2006/chart">
            <c:chart xmlns:c="http://schemas.openxmlformats.org/drawingml/2006/chart" xmlns:r="http://schemas.openxmlformats.org/officeDocument/2006/relationships" r:id="rId5"/>
          </a:graphicData>
        </a:graphic>
      </p:graphicFrame>
      <p:cxnSp>
        <p:nvCxnSpPr>
          <p:cNvPr id="23" name="Straight Connector 22">
            <a:extLst>
              <a:ext uri="{FF2B5EF4-FFF2-40B4-BE49-F238E27FC236}">
                <a16:creationId xmlns:a16="http://schemas.microsoft.com/office/drawing/2014/main" id="{70E093F9-965A-BABB-3033-E91E29971DF6}"/>
              </a:ext>
            </a:extLst>
          </p:cNvPr>
          <p:cNvCxnSpPr>
            <a:cxnSpLocks/>
          </p:cNvCxnSpPr>
          <p:nvPr/>
        </p:nvCxnSpPr>
        <p:spPr>
          <a:xfrm>
            <a:off x="8302052" y="894098"/>
            <a:ext cx="299996" cy="325037"/>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DA38200D-9564-B1B3-2D46-7ECA1898E7A4}"/>
              </a:ext>
            </a:extLst>
          </p:cNvPr>
          <p:cNvSpPr txBox="1"/>
          <p:nvPr/>
        </p:nvSpPr>
        <p:spPr>
          <a:xfrm>
            <a:off x="8496597" y="1216855"/>
            <a:ext cx="542745" cy="246221"/>
          </a:xfrm>
          <a:prstGeom prst="rect">
            <a:avLst/>
          </a:prstGeom>
          <a:noFill/>
        </p:spPr>
        <p:txBody>
          <a:bodyPr wrap="square" rtlCol="0">
            <a:spAutoFit/>
          </a:bodyPr>
          <a:lstStyle/>
          <a:p>
            <a:r>
              <a:rPr lang="en-US" sz="1000">
                <a:latin typeface="Lucida Bright" panose="02040602050505020304" pitchFamily="18" charset="77"/>
              </a:rPr>
              <a:t>82%</a:t>
            </a:r>
          </a:p>
        </p:txBody>
      </p:sp>
      <p:cxnSp>
        <p:nvCxnSpPr>
          <p:cNvPr id="35" name="Straight Connector 34">
            <a:extLst>
              <a:ext uri="{FF2B5EF4-FFF2-40B4-BE49-F238E27FC236}">
                <a16:creationId xmlns:a16="http://schemas.microsoft.com/office/drawing/2014/main" id="{55EDD708-BAA6-E41E-5CCF-6C299D772566}"/>
              </a:ext>
            </a:extLst>
          </p:cNvPr>
          <p:cNvCxnSpPr>
            <a:cxnSpLocks/>
          </p:cNvCxnSpPr>
          <p:nvPr/>
        </p:nvCxnSpPr>
        <p:spPr>
          <a:xfrm flipV="1">
            <a:off x="9240177" y="551928"/>
            <a:ext cx="266900" cy="4425"/>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ACB5370-E304-1207-CAB8-6667FA09EC92}"/>
              </a:ext>
            </a:extLst>
          </p:cNvPr>
          <p:cNvCxnSpPr>
            <a:cxnSpLocks/>
          </p:cNvCxnSpPr>
          <p:nvPr/>
        </p:nvCxnSpPr>
        <p:spPr>
          <a:xfrm flipH="1">
            <a:off x="11297780" y="337293"/>
            <a:ext cx="362969" cy="126586"/>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C224544A-37E4-2AB7-FD89-2D7AD66865DB}"/>
              </a:ext>
            </a:extLst>
          </p:cNvPr>
          <p:cNvSpPr txBox="1"/>
          <p:nvPr/>
        </p:nvSpPr>
        <p:spPr>
          <a:xfrm>
            <a:off x="8845967" y="448222"/>
            <a:ext cx="542745" cy="246221"/>
          </a:xfrm>
          <a:prstGeom prst="rect">
            <a:avLst/>
          </a:prstGeom>
          <a:noFill/>
        </p:spPr>
        <p:txBody>
          <a:bodyPr wrap="square" rtlCol="0">
            <a:spAutoFit/>
          </a:bodyPr>
          <a:lstStyle/>
          <a:p>
            <a:r>
              <a:rPr lang="en-US" sz="1000">
                <a:latin typeface="Lucida Bright" panose="02040602050505020304" pitchFamily="18" charset="77"/>
              </a:rPr>
              <a:t>15%</a:t>
            </a:r>
          </a:p>
        </p:txBody>
      </p:sp>
      <p:sp>
        <p:nvSpPr>
          <p:cNvPr id="53" name="TextBox 52">
            <a:extLst>
              <a:ext uri="{FF2B5EF4-FFF2-40B4-BE49-F238E27FC236}">
                <a16:creationId xmlns:a16="http://schemas.microsoft.com/office/drawing/2014/main" id="{5624BF38-AB2C-AEC4-D66A-60DB3FEC7607}"/>
              </a:ext>
            </a:extLst>
          </p:cNvPr>
          <p:cNvSpPr txBox="1"/>
          <p:nvPr/>
        </p:nvSpPr>
        <p:spPr>
          <a:xfrm>
            <a:off x="11642478" y="203553"/>
            <a:ext cx="542745" cy="246221"/>
          </a:xfrm>
          <a:prstGeom prst="rect">
            <a:avLst/>
          </a:prstGeom>
          <a:noFill/>
        </p:spPr>
        <p:txBody>
          <a:bodyPr wrap="square" rtlCol="0">
            <a:spAutoFit/>
          </a:bodyPr>
          <a:lstStyle/>
          <a:p>
            <a:r>
              <a:rPr lang="en-US" sz="1000">
                <a:latin typeface="Lucida Bright" panose="02040602050505020304" pitchFamily="18" charset="77"/>
              </a:rPr>
              <a:t>3%</a:t>
            </a:r>
          </a:p>
        </p:txBody>
      </p:sp>
      <p:sp>
        <p:nvSpPr>
          <p:cNvPr id="57" name="TextBox 56">
            <a:extLst>
              <a:ext uri="{FF2B5EF4-FFF2-40B4-BE49-F238E27FC236}">
                <a16:creationId xmlns:a16="http://schemas.microsoft.com/office/drawing/2014/main" id="{5AB018F0-E52D-A9C4-0874-48DCA0BDC88F}"/>
              </a:ext>
            </a:extLst>
          </p:cNvPr>
          <p:cNvSpPr txBox="1"/>
          <p:nvPr/>
        </p:nvSpPr>
        <p:spPr>
          <a:xfrm>
            <a:off x="10896828" y="115354"/>
            <a:ext cx="856037" cy="246221"/>
          </a:xfrm>
          <a:prstGeom prst="rect">
            <a:avLst/>
          </a:prstGeom>
          <a:noFill/>
        </p:spPr>
        <p:txBody>
          <a:bodyPr wrap="square" rtlCol="0">
            <a:spAutoFit/>
          </a:bodyPr>
          <a:lstStyle/>
          <a:p>
            <a:pPr algn="ctr"/>
            <a:r>
              <a:rPr lang="en-US" sz="1000">
                <a:latin typeface="Lucida Bright" panose="02040602050505020304" pitchFamily="18" charset="77"/>
              </a:rPr>
              <a:t>Type C</a:t>
            </a:r>
          </a:p>
        </p:txBody>
      </p:sp>
      <p:sp>
        <p:nvSpPr>
          <p:cNvPr id="61" name="TextBox 60">
            <a:extLst>
              <a:ext uri="{FF2B5EF4-FFF2-40B4-BE49-F238E27FC236}">
                <a16:creationId xmlns:a16="http://schemas.microsoft.com/office/drawing/2014/main" id="{2FA889BB-5847-5D1E-8998-95232C60029B}"/>
              </a:ext>
            </a:extLst>
          </p:cNvPr>
          <p:cNvSpPr txBox="1"/>
          <p:nvPr/>
        </p:nvSpPr>
        <p:spPr>
          <a:xfrm>
            <a:off x="9322732" y="126455"/>
            <a:ext cx="856037" cy="246221"/>
          </a:xfrm>
          <a:prstGeom prst="rect">
            <a:avLst/>
          </a:prstGeom>
          <a:noFill/>
        </p:spPr>
        <p:txBody>
          <a:bodyPr wrap="square" rtlCol="0">
            <a:spAutoFit/>
          </a:bodyPr>
          <a:lstStyle/>
          <a:p>
            <a:pPr algn="ctr"/>
            <a:r>
              <a:rPr lang="en-US" sz="1000">
                <a:latin typeface="Lucida Bright" panose="02040602050505020304" pitchFamily="18" charset="77"/>
              </a:rPr>
              <a:t>Type B</a:t>
            </a:r>
          </a:p>
        </p:txBody>
      </p:sp>
      <p:sp>
        <p:nvSpPr>
          <p:cNvPr id="70" name="TextBox 69">
            <a:extLst>
              <a:ext uri="{FF2B5EF4-FFF2-40B4-BE49-F238E27FC236}">
                <a16:creationId xmlns:a16="http://schemas.microsoft.com/office/drawing/2014/main" id="{625C494F-0147-25E9-F07F-92D53768B8DC}"/>
              </a:ext>
            </a:extLst>
          </p:cNvPr>
          <p:cNvSpPr txBox="1"/>
          <p:nvPr/>
        </p:nvSpPr>
        <p:spPr>
          <a:xfrm>
            <a:off x="7597651" y="122044"/>
            <a:ext cx="856037" cy="246221"/>
          </a:xfrm>
          <a:prstGeom prst="rect">
            <a:avLst/>
          </a:prstGeom>
          <a:noFill/>
        </p:spPr>
        <p:txBody>
          <a:bodyPr wrap="square" rtlCol="0">
            <a:spAutoFit/>
          </a:bodyPr>
          <a:lstStyle/>
          <a:p>
            <a:pPr algn="ctr"/>
            <a:r>
              <a:rPr lang="en-US" sz="1000">
                <a:latin typeface="Lucida Bright" panose="02040602050505020304" pitchFamily="18" charset="77"/>
              </a:rPr>
              <a:t>Type A</a:t>
            </a:r>
          </a:p>
        </p:txBody>
      </p:sp>
      <p:sp>
        <p:nvSpPr>
          <p:cNvPr id="71" name="TextBox 70">
            <a:extLst>
              <a:ext uri="{FF2B5EF4-FFF2-40B4-BE49-F238E27FC236}">
                <a16:creationId xmlns:a16="http://schemas.microsoft.com/office/drawing/2014/main" id="{0ACF3655-EF76-D1D0-F061-335BC4B654C9}"/>
              </a:ext>
            </a:extLst>
          </p:cNvPr>
          <p:cNvSpPr txBox="1"/>
          <p:nvPr/>
        </p:nvSpPr>
        <p:spPr>
          <a:xfrm>
            <a:off x="7385527" y="1473098"/>
            <a:ext cx="4631730" cy="307777"/>
          </a:xfrm>
          <a:prstGeom prst="rect">
            <a:avLst/>
          </a:prstGeom>
          <a:noFill/>
        </p:spPr>
        <p:txBody>
          <a:bodyPr wrap="square" rtlCol="0">
            <a:spAutoFit/>
          </a:bodyPr>
          <a:lstStyle/>
          <a:p>
            <a:pPr algn="ctr"/>
            <a:r>
              <a:rPr lang="en-US" sz="1400">
                <a:latin typeface="Lucida Bright" panose="02040602050505020304" pitchFamily="18" charset="77"/>
              </a:rPr>
              <a:t>Utilization of each coupon type of the overall total </a:t>
            </a:r>
          </a:p>
        </p:txBody>
      </p:sp>
      <p:graphicFrame>
        <p:nvGraphicFramePr>
          <p:cNvPr id="115" name="Object 114">
            <a:extLst>
              <a:ext uri="{FF2B5EF4-FFF2-40B4-BE49-F238E27FC236}">
                <a16:creationId xmlns:a16="http://schemas.microsoft.com/office/drawing/2014/main" id="{188F6CB3-B689-CEC7-7F5B-AE9482BFADB7}"/>
              </a:ext>
            </a:extLst>
          </p:cNvPr>
          <p:cNvGraphicFramePr>
            <a:graphicFrameLocks noChangeAspect="1"/>
          </p:cNvGraphicFramePr>
          <p:nvPr>
            <p:extLst>
              <p:ext uri="{D42A27DB-BD31-4B8C-83A1-F6EECF244321}">
                <p14:modId xmlns:p14="http://schemas.microsoft.com/office/powerpoint/2010/main" val="119556340"/>
              </p:ext>
            </p:extLst>
          </p:nvPr>
        </p:nvGraphicFramePr>
        <p:xfrm>
          <a:off x="119063" y="823913"/>
          <a:ext cx="7021512" cy="1650343"/>
        </p:xfrm>
        <a:graphic>
          <a:graphicData uri="http://schemas.openxmlformats.org/presentationml/2006/ole">
            <mc:AlternateContent xmlns:mc="http://schemas.openxmlformats.org/markup-compatibility/2006">
              <mc:Choice xmlns:v="urn:schemas-microsoft-com:vml" Requires="v">
                <p:oleObj name="Worksheet" r:id="rId6" imgW="6324600" imgH="1231900" progId="Excel.Sheet.12">
                  <p:embed/>
                </p:oleObj>
              </mc:Choice>
              <mc:Fallback>
                <p:oleObj name="Worksheet" r:id="rId6" imgW="6324600" imgH="1231900" progId="Excel.Sheet.12">
                  <p:embed/>
                  <p:pic>
                    <p:nvPicPr>
                      <p:cNvPr id="115" name="Object 114">
                        <a:extLst>
                          <a:ext uri="{FF2B5EF4-FFF2-40B4-BE49-F238E27FC236}">
                            <a16:creationId xmlns:a16="http://schemas.microsoft.com/office/drawing/2014/main" id="{188F6CB3-B689-CEC7-7F5B-AE9482BFADB7}"/>
                          </a:ext>
                        </a:extLst>
                      </p:cNvPr>
                      <p:cNvPicPr/>
                      <p:nvPr/>
                    </p:nvPicPr>
                    <p:blipFill>
                      <a:blip r:embed="rId7"/>
                      <a:stretch>
                        <a:fillRect/>
                      </a:stretch>
                    </p:blipFill>
                    <p:spPr>
                      <a:xfrm>
                        <a:off x="119063" y="823913"/>
                        <a:ext cx="7021512" cy="1650343"/>
                      </a:xfrm>
                      <a:prstGeom prst="rect">
                        <a:avLst/>
                      </a:prstGeom>
                      <a:solidFill>
                        <a:schemeClr val="tx1"/>
                      </a:solidFill>
                    </p:spPr>
                  </p:pic>
                </p:oleObj>
              </mc:Fallback>
            </mc:AlternateContent>
          </a:graphicData>
        </a:graphic>
      </p:graphicFrame>
      <p:graphicFrame>
        <p:nvGraphicFramePr>
          <p:cNvPr id="128" name="Chart 127">
            <a:extLst>
              <a:ext uri="{FF2B5EF4-FFF2-40B4-BE49-F238E27FC236}">
                <a16:creationId xmlns:a16="http://schemas.microsoft.com/office/drawing/2014/main" id="{14B42FF4-B36D-06EA-DA6B-E026E2638FCC}"/>
              </a:ext>
            </a:extLst>
          </p:cNvPr>
          <p:cNvGraphicFramePr>
            <a:graphicFrameLocks/>
          </p:cNvGraphicFramePr>
          <p:nvPr>
            <p:extLst>
              <p:ext uri="{D42A27DB-BD31-4B8C-83A1-F6EECF244321}">
                <p14:modId xmlns:p14="http://schemas.microsoft.com/office/powerpoint/2010/main" val="2073531923"/>
              </p:ext>
            </p:extLst>
          </p:nvPr>
        </p:nvGraphicFramePr>
        <p:xfrm>
          <a:off x="122214" y="2708767"/>
          <a:ext cx="4168649" cy="296778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29" name="Chart 128">
            <a:extLst>
              <a:ext uri="{FF2B5EF4-FFF2-40B4-BE49-F238E27FC236}">
                <a16:creationId xmlns:a16="http://schemas.microsoft.com/office/drawing/2014/main" id="{9789B0CD-8FA5-74A6-FB6C-9D769677710D}"/>
              </a:ext>
            </a:extLst>
          </p:cNvPr>
          <p:cNvGraphicFramePr>
            <a:graphicFrameLocks/>
          </p:cNvGraphicFramePr>
          <p:nvPr>
            <p:extLst>
              <p:ext uri="{D42A27DB-BD31-4B8C-83A1-F6EECF244321}">
                <p14:modId xmlns:p14="http://schemas.microsoft.com/office/powerpoint/2010/main" val="3398401077"/>
              </p:ext>
            </p:extLst>
          </p:nvPr>
        </p:nvGraphicFramePr>
        <p:xfrm>
          <a:off x="3889400" y="2624516"/>
          <a:ext cx="3516475" cy="2936715"/>
        </p:xfrm>
        <a:graphic>
          <a:graphicData uri="http://schemas.openxmlformats.org/drawingml/2006/chart">
            <c:chart xmlns:c="http://schemas.openxmlformats.org/drawingml/2006/chart" xmlns:r="http://schemas.openxmlformats.org/officeDocument/2006/relationships" r:id="rId9"/>
          </a:graphicData>
        </a:graphic>
      </p:graphicFrame>
      <p:sp>
        <p:nvSpPr>
          <p:cNvPr id="4" name="TextBox 3">
            <a:extLst>
              <a:ext uri="{FF2B5EF4-FFF2-40B4-BE49-F238E27FC236}">
                <a16:creationId xmlns:a16="http://schemas.microsoft.com/office/drawing/2014/main" id="{DCF8D067-4341-0A0D-E9B4-3C872E89D739}"/>
              </a:ext>
            </a:extLst>
          </p:cNvPr>
          <p:cNvSpPr txBox="1"/>
          <p:nvPr/>
        </p:nvSpPr>
        <p:spPr>
          <a:xfrm>
            <a:off x="1113691" y="4806461"/>
            <a:ext cx="2784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0</a:t>
            </a:r>
          </a:p>
        </p:txBody>
      </p:sp>
      <p:sp>
        <p:nvSpPr>
          <p:cNvPr id="5" name="TextBox 4">
            <a:extLst>
              <a:ext uri="{FF2B5EF4-FFF2-40B4-BE49-F238E27FC236}">
                <a16:creationId xmlns:a16="http://schemas.microsoft.com/office/drawing/2014/main" id="{7D06694D-A1FF-4933-34B5-849262240F4F}"/>
              </a:ext>
            </a:extLst>
          </p:cNvPr>
          <p:cNvSpPr txBox="1"/>
          <p:nvPr/>
        </p:nvSpPr>
        <p:spPr>
          <a:xfrm>
            <a:off x="1656319" y="4810959"/>
            <a:ext cx="2344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5</a:t>
            </a:r>
          </a:p>
        </p:txBody>
      </p:sp>
      <p:sp>
        <p:nvSpPr>
          <p:cNvPr id="6" name="TextBox 5">
            <a:extLst>
              <a:ext uri="{FF2B5EF4-FFF2-40B4-BE49-F238E27FC236}">
                <a16:creationId xmlns:a16="http://schemas.microsoft.com/office/drawing/2014/main" id="{379D2B2E-1E69-36F4-8C56-8A37F65626F7}"/>
              </a:ext>
            </a:extLst>
          </p:cNvPr>
          <p:cNvSpPr txBox="1"/>
          <p:nvPr/>
        </p:nvSpPr>
        <p:spPr>
          <a:xfrm>
            <a:off x="2235122" y="4802607"/>
            <a:ext cx="3956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3</a:t>
            </a:r>
          </a:p>
        </p:txBody>
      </p:sp>
      <p:sp>
        <p:nvSpPr>
          <p:cNvPr id="7" name="TextBox 6">
            <a:extLst>
              <a:ext uri="{FF2B5EF4-FFF2-40B4-BE49-F238E27FC236}">
                <a16:creationId xmlns:a16="http://schemas.microsoft.com/office/drawing/2014/main" id="{2E20BC56-F83B-FBB1-B691-B9A4848FAB21}"/>
              </a:ext>
            </a:extLst>
          </p:cNvPr>
          <p:cNvSpPr txBox="1"/>
          <p:nvPr/>
        </p:nvSpPr>
        <p:spPr>
          <a:xfrm>
            <a:off x="2826233" y="4804082"/>
            <a:ext cx="2491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1</a:t>
            </a:r>
          </a:p>
        </p:txBody>
      </p:sp>
      <p:sp>
        <p:nvSpPr>
          <p:cNvPr id="8" name="TextBox 7">
            <a:extLst>
              <a:ext uri="{FF2B5EF4-FFF2-40B4-BE49-F238E27FC236}">
                <a16:creationId xmlns:a16="http://schemas.microsoft.com/office/drawing/2014/main" id="{FC87D995-F4D7-76F7-06D8-74DE3713888E}"/>
              </a:ext>
            </a:extLst>
          </p:cNvPr>
          <p:cNvSpPr txBox="1"/>
          <p:nvPr/>
        </p:nvSpPr>
        <p:spPr>
          <a:xfrm>
            <a:off x="3303475" y="4815658"/>
            <a:ext cx="249115" cy="3663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7</a:t>
            </a:r>
          </a:p>
        </p:txBody>
      </p:sp>
      <p:sp>
        <p:nvSpPr>
          <p:cNvPr id="9" name="TextBox 8">
            <a:extLst>
              <a:ext uri="{FF2B5EF4-FFF2-40B4-BE49-F238E27FC236}">
                <a16:creationId xmlns:a16="http://schemas.microsoft.com/office/drawing/2014/main" id="{B7B6A20D-1F38-F55E-BEBE-2E60997F6167}"/>
              </a:ext>
            </a:extLst>
          </p:cNvPr>
          <p:cNvSpPr txBox="1"/>
          <p:nvPr/>
        </p:nvSpPr>
        <p:spPr>
          <a:xfrm>
            <a:off x="4680087" y="4909038"/>
            <a:ext cx="2198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L</a:t>
            </a:r>
          </a:p>
        </p:txBody>
      </p:sp>
      <p:sp>
        <p:nvSpPr>
          <p:cNvPr id="10" name="TextBox 9">
            <a:extLst>
              <a:ext uri="{FF2B5EF4-FFF2-40B4-BE49-F238E27FC236}">
                <a16:creationId xmlns:a16="http://schemas.microsoft.com/office/drawing/2014/main" id="{19E99F6A-2850-43C8-2442-59CFA037C811}"/>
              </a:ext>
            </a:extLst>
          </p:cNvPr>
          <p:cNvSpPr txBox="1"/>
          <p:nvPr/>
        </p:nvSpPr>
        <p:spPr>
          <a:xfrm>
            <a:off x="5158154" y="4905992"/>
            <a:ext cx="307730" cy="3663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D</a:t>
            </a:r>
          </a:p>
        </p:txBody>
      </p:sp>
      <p:sp>
        <p:nvSpPr>
          <p:cNvPr id="16" name="TextBox 15">
            <a:extLst>
              <a:ext uri="{FF2B5EF4-FFF2-40B4-BE49-F238E27FC236}">
                <a16:creationId xmlns:a16="http://schemas.microsoft.com/office/drawing/2014/main" id="{3FD5EACE-405F-BAC0-2F8F-3E698646F026}"/>
              </a:ext>
            </a:extLst>
          </p:cNvPr>
          <p:cNvSpPr txBox="1"/>
          <p:nvPr/>
        </p:nvSpPr>
        <p:spPr>
          <a:xfrm>
            <a:off x="5684386" y="4905556"/>
            <a:ext cx="2051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H</a:t>
            </a:r>
          </a:p>
        </p:txBody>
      </p:sp>
      <p:sp>
        <p:nvSpPr>
          <p:cNvPr id="22" name="TextBox 21">
            <a:extLst>
              <a:ext uri="{FF2B5EF4-FFF2-40B4-BE49-F238E27FC236}">
                <a16:creationId xmlns:a16="http://schemas.microsoft.com/office/drawing/2014/main" id="{AC61083A-E944-676D-049D-8BDA68AE7B72}"/>
              </a:ext>
            </a:extLst>
          </p:cNvPr>
          <p:cNvSpPr txBox="1"/>
          <p:nvPr/>
        </p:nvSpPr>
        <p:spPr>
          <a:xfrm>
            <a:off x="6198576" y="4911359"/>
            <a:ext cx="2491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C</a:t>
            </a:r>
          </a:p>
        </p:txBody>
      </p:sp>
      <p:sp>
        <p:nvSpPr>
          <p:cNvPr id="25" name="TextBox 24">
            <a:extLst>
              <a:ext uri="{FF2B5EF4-FFF2-40B4-BE49-F238E27FC236}">
                <a16:creationId xmlns:a16="http://schemas.microsoft.com/office/drawing/2014/main" id="{CEE6BC94-C9D5-1798-5518-F52E7A057079}"/>
              </a:ext>
            </a:extLst>
          </p:cNvPr>
          <p:cNvSpPr txBox="1"/>
          <p:nvPr/>
        </p:nvSpPr>
        <p:spPr>
          <a:xfrm>
            <a:off x="6748314" y="4911359"/>
            <a:ext cx="307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Lucida Bright" panose="02040602050505020304" pitchFamily="18" charset="77"/>
              </a:rPr>
              <a:t>J</a:t>
            </a:r>
          </a:p>
        </p:txBody>
      </p:sp>
      <p:graphicFrame>
        <p:nvGraphicFramePr>
          <p:cNvPr id="26" name="Table 25">
            <a:extLst>
              <a:ext uri="{FF2B5EF4-FFF2-40B4-BE49-F238E27FC236}">
                <a16:creationId xmlns:a16="http://schemas.microsoft.com/office/drawing/2014/main" id="{B3B15E4B-67DA-749B-BD57-9409C3C55C7B}"/>
              </a:ext>
            </a:extLst>
          </p:cNvPr>
          <p:cNvGraphicFramePr>
            <a:graphicFrameLocks noGrp="1"/>
          </p:cNvGraphicFramePr>
          <p:nvPr>
            <p:extLst>
              <p:ext uri="{D42A27DB-BD31-4B8C-83A1-F6EECF244321}">
                <p14:modId xmlns:p14="http://schemas.microsoft.com/office/powerpoint/2010/main" val="2453596619"/>
              </p:ext>
            </p:extLst>
          </p:nvPr>
        </p:nvGraphicFramePr>
        <p:xfrm>
          <a:off x="7696078" y="2445114"/>
          <a:ext cx="4203266" cy="1938057"/>
        </p:xfrm>
        <a:graphic>
          <a:graphicData uri="http://schemas.openxmlformats.org/drawingml/2006/table">
            <a:tbl>
              <a:tblPr firstRow="1" bandRow="1">
                <a:tableStyleId>{5C22544A-7EE6-4342-B048-85BDC9FD1C3A}</a:tableStyleId>
              </a:tblPr>
              <a:tblGrid>
                <a:gridCol w="2101633">
                  <a:extLst>
                    <a:ext uri="{9D8B030D-6E8A-4147-A177-3AD203B41FA5}">
                      <a16:colId xmlns:a16="http://schemas.microsoft.com/office/drawing/2014/main" val="36194132"/>
                    </a:ext>
                  </a:extLst>
                </a:gridCol>
                <a:gridCol w="2101633">
                  <a:extLst>
                    <a:ext uri="{9D8B030D-6E8A-4147-A177-3AD203B41FA5}">
                      <a16:colId xmlns:a16="http://schemas.microsoft.com/office/drawing/2014/main" val="1846281920"/>
                    </a:ext>
                  </a:extLst>
                </a:gridCol>
              </a:tblGrid>
              <a:tr h="313631">
                <a:tc>
                  <a:txBody>
                    <a:bodyPr/>
                    <a:lstStyle/>
                    <a:p>
                      <a:r>
                        <a:rPr lang="en-US" sz="1200">
                          <a:solidFill>
                            <a:schemeClr val="bg2"/>
                          </a:solidFill>
                          <a:latin typeface="Lucida Bright"/>
                        </a:rPr>
                        <a:t>Leading Displays</a:t>
                      </a:r>
                      <a:endParaRPr lang="en-US" sz="1200">
                        <a:solidFill>
                          <a:schemeClr val="bg2"/>
                        </a:solidFill>
                        <a:latin typeface="Lucida Bright" panose="02040602050505020304" pitchFamily="18" charset="77"/>
                      </a:endParaRPr>
                    </a:p>
                  </a:txBody>
                  <a:tcPr/>
                </a:tc>
                <a:tc>
                  <a:txBody>
                    <a:bodyPr/>
                    <a:lstStyle/>
                    <a:p>
                      <a:r>
                        <a:rPr lang="en-US" sz="1200">
                          <a:solidFill>
                            <a:schemeClr val="bg1"/>
                          </a:solidFill>
                          <a:latin typeface="Lucida Bright"/>
                        </a:rPr>
                        <a:t>Leading Mailers</a:t>
                      </a:r>
                      <a:endParaRPr lang="en-US" sz="1200">
                        <a:solidFill>
                          <a:schemeClr val="bg1"/>
                        </a:solidFill>
                        <a:latin typeface="Lucida Bright" panose="02040602050505020304" pitchFamily="18" charset="77"/>
                      </a:endParaRPr>
                    </a:p>
                  </a:txBody>
                  <a:tcPr/>
                </a:tc>
                <a:extLst>
                  <a:ext uri="{0D108BD9-81ED-4DB2-BD59-A6C34878D82A}">
                    <a16:rowId xmlns:a16="http://schemas.microsoft.com/office/drawing/2014/main" val="2827142660"/>
                  </a:ext>
                </a:extLst>
              </a:tr>
              <a:tr h="369902">
                <a:tc>
                  <a:txBody>
                    <a:bodyPr/>
                    <a:lstStyle/>
                    <a:p>
                      <a:pPr lvl="0">
                        <a:buNone/>
                      </a:pPr>
                      <a:r>
                        <a:rPr lang="en-US" sz="1200" b="0" i="0" u="none" strike="noStrike" noProof="0">
                          <a:solidFill>
                            <a:srgbClr val="000000"/>
                          </a:solidFill>
                          <a:latin typeface="Lucida Bright"/>
                        </a:rPr>
                        <a:t>0. No Display</a:t>
                      </a:r>
                      <a:endParaRPr lang="en-US" sz="1200"/>
                    </a:p>
                  </a:txBody>
                  <a:tcPr/>
                </a:tc>
                <a:tc>
                  <a:txBody>
                    <a:bodyPr/>
                    <a:lstStyle/>
                    <a:p>
                      <a:pPr marL="0" indent="0">
                        <a:buNone/>
                      </a:pPr>
                      <a:r>
                        <a:rPr lang="en-US" sz="1200" b="0" i="0" u="none" strike="noStrike" noProof="0">
                          <a:solidFill>
                            <a:srgbClr val="000000"/>
                          </a:solidFill>
                          <a:latin typeface="Lucida Bright"/>
                        </a:rPr>
                        <a:t>L. Wrap Back Feature</a:t>
                      </a:r>
                    </a:p>
                  </a:txBody>
                  <a:tcPr/>
                </a:tc>
                <a:extLst>
                  <a:ext uri="{0D108BD9-81ED-4DB2-BD59-A6C34878D82A}">
                    <a16:rowId xmlns:a16="http://schemas.microsoft.com/office/drawing/2014/main" val="2462607234"/>
                  </a:ext>
                </a:extLst>
              </a:tr>
              <a:tr h="313631">
                <a:tc>
                  <a:txBody>
                    <a:bodyPr/>
                    <a:lstStyle/>
                    <a:p>
                      <a:pPr lvl="0">
                        <a:buNone/>
                      </a:pPr>
                      <a:r>
                        <a:rPr lang="en-US" sz="1200" b="0" i="0" u="none" strike="noStrike" noProof="0">
                          <a:solidFill>
                            <a:srgbClr val="000000"/>
                          </a:solidFill>
                          <a:latin typeface="Lucida Bright"/>
                        </a:rPr>
                        <a:t>5. Rear-End Cap</a:t>
                      </a:r>
                      <a:endParaRPr lang="en-US" sz="1200"/>
                    </a:p>
                  </a:txBody>
                  <a:tcPr/>
                </a:tc>
                <a:tc>
                  <a:txBody>
                    <a:bodyPr/>
                    <a:lstStyle/>
                    <a:p>
                      <a:r>
                        <a:rPr lang="en-US" sz="1200">
                          <a:latin typeface="Lucida Bright"/>
                        </a:rPr>
                        <a:t>D. Front Page Feature</a:t>
                      </a:r>
                    </a:p>
                  </a:txBody>
                  <a:tcPr/>
                </a:tc>
                <a:extLst>
                  <a:ext uri="{0D108BD9-81ED-4DB2-BD59-A6C34878D82A}">
                    <a16:rowId xmlns:a16="http://schemas.microsoft.com/office/drawing/2014/main" val="3299804678"/>
                  </a:ext>
                </a:extLst>
              </a:tr>
              <a:tr h="313631">
                <a:tc>
                  <a:txBody>
                    <a:bodyPr/>
                    <a:lstStyle/>
                    <a:p>
                      <a:pPr marL="0" lvl="0" indent="0">
                        <a:buNone/>
                      </a:pPr>
                      <a:r>
                        <a:rPr lang="en-US" sz="1200" b="0" i="0" u="none" strike="noStrike" noProof="0">
                          <a:solidFill>
                            <a:srgbClr val="000000"/>
                          </a:solidFill>
                          <a:latin typeface="Lucida Bright"/>
                        </a:rPr>
                        <a:t>3. Front-End Cap</a:t>
                      </a:r>
                      <a:endParaRPr lang="en-US" sz="1200"/>
                    </a:p>
                  </a:txBody>
                  <a:tcPr/>
                </a:tc>
                <a:tc>
                  <a:txBody>
                    <a:bodyPr/>
                    <a:lstStyle/>
                    <a:p>
                      <a:pPr lvl="0">
                        <a:buNone/>
                      </a:pPr>
                      <a:r>
                        <a:rPr lang="en-US" sz="1200" b="0" i="0" u="none" strike="noStrike" noProof="0">
                          <a:solidFill>
                            <a:srgbClr val="000000"/>
                          </a:solidFill>
                          <a:latin typeface="Lucida Bright"/>
                        </a:rPr>
                        <a:t>H. Wrap Front Feature</a:t>
                      </a:r>
                    </a:p>
                  </a:txBody>
                  <a:tcPr/>
                </a:tc>
                <a:extLst>
                  <a:ext uri="{0D108BD9-81ED-4DB2-BD59-A6C34878D82A}">
                    <a16:rowId xmlns:a16="http://schemas.microsoft.com/office/drawing/2014/main" val="1439757625"/>
                  </a:ext>
                </a:extLst>
              </a:tr>
              <a:tr h="313631">
                <a:tc>
                  <a:txBody>
                    <a:bodyPr/>
                    <a:lstStyle/>
                    <a:p>
                      <a:pPr lvl="0">
                        <a:buNone/>
                      </a:pPr>
                      <a:r>
                        <a:rPr lang="en-US" sz="1200" b="0" i="0" u="none" strike="noStrike" noProof="0">
                          <a:solidFill>
                            <a:srgbClr val="000000"/>
                          </a:solidFill>
                          <a:latin typeface="Lucida Bright"/>
                        </a:rPr>
                        <a:t>1. Store Front</a:t>
                      </a:r>
                      <a:endParaRPr lang="en-US" sz="1200"/>
                    </a:p>
                  </a:txBody>
                  <a:tcPr/>
                </a:tc>
                <a:tc>
                  <a:txBody>
                    <a:bodyPr/>
                    <a:lstStyle/>
                    <a:p>
                      <a:pPr lvl="0">
                        <a:buNone/>
                      </a:pPr>
                      <a:r>
                        <a:rPr lang="en-US" sz="1200">
                          <a:latin typeface="Lucida Bright"/>
                        </a:rPr>
                        <a:t>C. Interior Page Line Item</a:t>
                      </a:r>
                    </a:p>
                  </a:txBody>
                  <a:tcPr/>
                </a:tc>
                <a:extLst>
                  <a:ext uri="{0D108BD9-81ED-4DB2-BD59-A6C34878D82A}">
                    <a16:rowId xmlns:a16="http://schemas.microsoft.com/office/drawing/2014/main" val="1530878810"/>
                  </a:ext>
                </a:extLst>
              </a:tr>
              <a:tr h="313631">
                <a:tc>
                  <a:txBody>
                    <a:bodyPr/>
                    <a:lstStyle/>
                    <a:p>
                      <a:r>
                        <a:rPr lang="en-US" sz="1200" b="0" i="0" u="none" strike="noStrike" noProof="0">
                          <a:solidFill>
                            <a:srgbClr val="000000"/>
                          </a:solidFill>
                          <a:latin typeface="Lucida Bright"/>
                        </a:rPr>
                        <a:t>7. In-Aisle</a:t>
                      </a:r>
                      <a:endParaRPr lang="en-US" sz="1200">
                        <a:latin typeface="Lucida Bright"/>
                      </a:endParaRPr>
                    </a:p>
                  </a:txBody>
                  <a:tcPr/>
                </a:tc>
                <a:tc>
                  <a:txBody>
                    <a:bodyPr/>
                    <a:lstStyle/>
                    <a:p>
                      <a:r>
                        <a:rPr lang="en-US" sz="1200" b="0" i="0" u="none" strike="noStrike" noProof="0">
                          <a:solidFill>
                            <a:srgbClr val="000000"/>
                          </a:solidFill>
                          <a:latin typeface="Lucida Bright"/>
                        </a:rPr>
                        <a:t>J. Wrap Interior Coupon</a:t>
                      </a:r>
                    </a:p>
                  </a:txBody>
                  <a:tcPr/>
                </a:tc>
                <a:extLst>
                  <a:ext uri="{0D108BD9-81ED-4DB2-BD59-A6C34878D82A}">
                    <a16:rowId xmlns:a16="http://schemas.microsoft.com/office/drawing/2014/main" val="3072340129"/>
                  </a:ext>
                </a:extLst>
              </a:tr>
            </a:tbl>
          </a:graphicData>
        </a:graphic>
      </p:graphicFrame>
    </p:spTree>
    <p:extLst>
      <p:ext uri="{BB962C8B-B14F-4D97-AF65-F5344CB8AC3E}">
        <p14:creationId xmlns:p14="http://schemas.microsoft.com/office/powerpoint/2010/main" val="136955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AFEB-0DCC-CA48-F239-C5BC7A46BCF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54DC758-1432-F8CC-ADF5-B804E846320D}"/>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Lucida Bright" panose="02040602050505020304" pitchFamily="18" charset="77"/>
              </a:rPr>
              <a:t>Analyzed Recommendations: </a:t>
            </a:r>
          </a:p>
          <a:p>
            <a:r>
              <a:rPr lang="en-US" sz="2800">
                <a:latin typeface="Lucida Bright" panose="02040602050505020304" pitchFamily="18" charset="77"/>
              </a:rPr>
              <a:t>Increase Type A Campaigns</a:t>
            </a:r>
          </a:p>
        </p:txBody>
      </p:sp>
      <p:sp>
        <p:nvSpPr>
          <p:cNvPr id="5" name="Rectangle 4">
            <a:extLst>
              <a:ext uri="{FF2B5EF4-FFF2-40B4-BE49-F238E27FC236}">
                <a16:creationId xmlns:a16="http://schemas.microsoft.com/office/drawing/2014/main" id="{1AF932B2-71B7-4B34-77FC-C7E000E3792F}"/>
              </a:ext>
            </a:extLst>
          </p:cNvPr>
          <p:cNvSpPr/>
          <p:nvPr/>
        </p:nvSpPr>
        <p:spPr>
          <a:xfrm>
            <a:off x="94006" y="4350226"/>
            <a:ext cx="6398700" cy="2316798"/>
          </a:xfrm>
          <a:prstGeom prst="rect">
            <a:avLst/>
          </a:prstGeom>
          <a:solidFill>
            <a:srgbClr val="0E51A3"/>
          </a:solidFill>
          <a:ln>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Lucida Bright"/>
              </a:rPr>
              <a:t>Type A campaigns are the best-performing campaign type based on utilization volume. </a:t>
            </a:r>
            <a:r>
              <a:rPr lang="en-US" sz="1400" u="sng">
                <a:solidFill>
                  <a:schemeClr val="tx1"/>
                </a:solidFill>
                <a:latin typeface="Lucida Bright"/>
              </a:rPr>
              <a:t>Type A coupons are 81.73% </a:t>
            </a:r>
            <a:r>
              <a:rPr lang="en-US" sz="1400">
                <a:solidFill>
                  <a:schemeClr val="tx1"/>
                </a:solidFill>
                <a:latin typeface="Lucida Bright"/>
              </a:rPr>
              <a:t>of the overall utilization total. From the supporting data, </a:t>
            </a:r>
            <a:r>
              <a:rPr lang="en-US" sz="1400" u="sng">
                <a:solidFill>
                  <a:schemeClr val="tx1"/>
                </a:solidFill>
                <a:latin typeface="Lucida Bright"/>
              </a:rPr>
              <a:t>only 9,827 out of 155,848 baskets </a:t>
            </a:r>
            <a:r>
              <a:rPr lang="en-US" sz="1400">
                <a:solidFill>
                  <a:schemeClr val="tx1"/>
                </a:solidFill>
                <a:latin typeface="Lucida Bright"/>
              </a:rPr>
              <a:t>use at least one coupon. Type A campaigns occur quarterly and last for around one and a half months. Increasing the </a:t>
            </a:r>
            <a:r>
              <a:rPr lang="en-US" sz="1400" u="sng">
                <a:solidFill>
                  <a:schemeClr val="tx1"/>
                </a:solidFill>
                <a:latin typeface="Lucida Bright"/>
              </a:rPr>
              <a:t>frequency of customized coupons</a:t>
            </a:r>
            <a:r>
              <a:rPr lang="en-US" sz="1400">
                <a:solidFill>
                  <a:schemeClr val="tx1"/>
                </a:solidFill>
                <a:latin typeface="Lucida Bright"/>
              </a:rPr>
              <a:t> would enhance units sold and produce customer loyalty. A bi-quarterly approach would produce anywhere from </a:t>
            </a:r>
            <a:r>
              <a:rPr lang="en-US" sz="1400" u="sng">
                <a:solidFill>
                  <a:schemeClr val="tx1"/>
                </a:solidFill>
                <a:latin typeface="Lucida Bright"/>
              </a:rPr>
              <a:t>30% to 38% u</a:t>
            </a:r>
            <a:r>
              <a:rPr lang="en-US" sz="1400">
                <a:solidFill>
                  <a:schemeClr val="tx1"/>
                </a:solidFill>
                <a:latin typeface="Lucida Bright"/>
              </a:rPr>
              <a:t>nit increase. </a:t>
            </a:r>
          </a:p>
        </p:txBody>
      </p:sp>
      <p:graphicFrame>
        <p:nvGraphicFramePr>
          <p:cNvPr id="10" name="Object 9">
            <a:extLst>
              <a:ext uri="{FF2B5EF4-FFF2-40B4-BE49-F238E27FC236}">
                <a16:creationId xmlns:a16="http://schemas.microsoft.com/office/drawing/2014/main" id="{BAF6D764-C913-7690-C5EF-3861B293DB04}"/>
              </a:ext>
            </a:extLst>
          </p:cNvPr>
          <p:cNvGraphicFramePr>
            <a:graphicFrameLocks noChangeAspect="1"/>
          </p:cNvGraphicFramePr>
          <p:nvPr>
            <p:extLst>
              <p:ext uri="{D42A27DB-BD31-4B8C-83A1-F6EECF244321}">
                <p14:modId xmlns:p14="http://schemas.microsoft.com/office/powerpoint/2010/main" val="833537025"/>
              </p:ext>
            </p:extLst>
          </p:nvPr>
        </p:nvGraphicFramePr>
        <p:xfrm>
          <a:off x="94006" y="1259364"/>
          <a:ext cx="6398701" cy="1325562"/>
        </p:xfrm>
        <a:graphic>
          <a:graphicData uri="http://schemas.openxmlformats.org/presentationml/2006/ole">
            <mc:AlternateContent xmlns:mc="http://schemas.openxmlformats.org/markup-compatibility/2006">
              <mc:Choice xmlns:v="urn:schemas-microsoft-com:vml" Requires="v">
                <p:oleObj name="Worksheet" r:id="rId3" imgW="4965700" imgH="1028700" progId="Excel.Sheet.12">
                  <p:embed/>
                </p:oleObj>
              </mc:Choice>
              <mc:Fallback>
                <p:oleObj name="Worksheet" r:id="rId3" imgW="4965700" imgH="1028700" progId="Excel.Sheet.12">
                  <p:embed/>
                  <p:pic>
                    <p:nvPicPr>
                      <p:cNvPr id="10" name="Object 9">
                        <a:extLst>
                          <a:ext uri="{FF2B5EF4-FFF2-40B4-BE49-F238E27FC236}">
                            <a16:creationId xmlns:a16="http://schemas.microsoft.com/office/drawing/2014/main" id="{BAF6D764-C913-7690-C5EF-3861B293DB04}"/>
                          </a:ext>
                        </a:extLst>
                      </p:cNvPr>
                      <p:cNvPicPr/>
                      <p:nvPr/>
                    </p:nvPicPr>
                    <p:blipFill>
                      <a:blip r:embed="rId4"/>
                      <a:stretch>
                        <a:fillRect/>
                      </a:stretch>
                    </p:blipFill>
                    <p:spPr>
                      <a:xfrm>
                        <a:off x="94006" y="1259364"/>
                        <a:ext cx="6398701" cy="1325562"/>
                      </a:xfrm>
                      <a:prstGeom prst="rect">
                        <a:avLst/>
                      </a:prstGeom>
                      <a:solidFill>
                        <a:schemeClr val="accent3">
                          <a:lumMod val="20000"/>
                          <a:lumOff val="80000"/>
                        </a:schemeClr>
                      </a:solidFill>
                    </p:spPr>
                  </p:pic>
                </p:oleObj>
              </mc:Fallback>
            </mc:AlternateContent>
          </a:graphicData>
        </a:graphic>
      </p:graphicFrame>
      <p:graphicFrame>
        <p:nvGraphicFramePr>
          <p:cNvPr id="22" name="Object 21">
            <a:extLst>
              <a:ext uri="{FF2B5EF4-FFF2-40B4-BE49-F238E27FC236}">
                <a16:creationId xmlns:a16="http://schemas.microsoft.com/office/drawing/2014/main" id="{A833555E-5832-EAEF-56C4-F69811195CC5}"/>
              </a:ext>
            </a:extLst>
          </p:cNvPr>
          <p:cNvGraphicFramePr>
            <a:graphicFrameLocks noChangeAspect="1"/>
          </p:cNvGraphicFramePr>
          <p:nvPr>
            <p:extLst>
              <p:ext uri="{D42A27DB-BD31-4B8C-83A1-F6EECF244321}">
                <p14:modId xmlns:p14="http://schemas.microsoft.com/office/powerpoint/2010/main" val="1603411057"/>
              </p:ext>
            </p:extLst>
          </p:nvPr>
        </p:nvGraphicFramePr>
        <p:xfrm>
          <a:off x="1903317" y="2716853"/>
          <a:ext cx="4589390" cy="1424294"/>
        </p:xfrm>
        <a:graphic>
          <a:graphicData uri="http://schemas.openxmlformats.org/presentationml/2006/ole">
            <mc:AlternateContent xmlns:mc="http://schemas.openxmlformats.org/markup-compatibility/2006">
              <mc:Choice xmlns:v="urn:schemas-microsoft-com:vml" Requires="v">
                <p:oleObj name="Worksheet" r:id="rId5" imgW="3314700" imgH="1028700" progId="Excel.Sheet.12">
                  <p:embed/>
                </p:oleObj>
              </mc:Choice>
              <mc:Fallback>
                <p:oleObj name="Worksheet" r:id="rId5" imgW="3314700" imgH="1028700" progId="Excel.Sheet.12">
                  <p:embed/>
                  <p:pic>
                    <p:nvPicPr>
                      <p:cNvPr id="22" name="Object 21">
                        <a:extLst>
                          <a:ext uri="{FF2B5EF4-FFF2-40B4-BE49-F238E27FC236}">
                            <a16:creationId xmlns:a16="http://schemas.microsoft.com/office/drawing/2014/main" id="{A833555E-5832-EAEF-56C4-F69811195CC5}"/>
                          </a:ext>
                        </a:extLst>
                      </p:cNvPr>
                      <p:cNvPicPr/>
                      <p:nvPr/>
                    </p:nvPicPr>
                    <p:blipFill>
                      <a:blip r:embed="rId6"/>
                      <a:stretch>
                        <a:fillRect/>
                      </a:stretch>
                    </p:blipFill>
                    <p:spPr>
                      <a:xfrm>
                        <a:off x="1903317" y="2716853"/>
                        <a:ext cx="4589390" cy="1424294"/>
                      </a:xfrm>
                      <a:prstGeom prst="rect">
                        <a:avLst/>
                      </a:prstGeom>
                      <a:solidFill>
                        <a:schemeClr val="accent3">
                          <a:lumMod val="20000"/>
                          <a:lumOff val="80000"/>
                        </a:schemeClr>
                      </a:solidFill>
                    </p:spPr>
                  </p:pic>
                </p:oleObj>
              </mc:Fallback>
            </mc:AlternateContent>
          </a:graphicData>
        </a:graphic>
      </p:graphicFrame>
      <p:pic>
        <p:nvPicPr>
          <p:cNvPr id="24" name="Graphic 23" descr="Grocery bag outline">
            <a:extLst>
              <a:ext uri="{FF2B5EF4-FFF2-40B4-BE49-F238E27FC236}">
                <a16:creationId xmlns:a16="http://schemas.microsoft.com/office/drawing/2014/main" id="{E3DFCE4C-3E28-500A-5602-F173D854787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6529" y="2716853"/>
            <a:ext cx="1424294" cy="1424294"/>
          </a:xfrm>
          <a:prstGeom prst="rect">
            <a:avLst/>
          </a:prstGeom>
        </p:spPr>
      </p:pic>
      <p:graphicFrame>
        <p:nvGraphicFramePr>
          <p:cNvPr id="2" name="Chart 1">
            <a:extLst>
              <a:ext uri="{FF2B5EF4-FFF2-40B4-BE49-F238E27FC236}">
                <a16:creationId xmlns:a16="http://schemas.microsoft.com/office/drawing/2014/main" id="{55A3EA60-59B1-7EA0-EC0F-310DBC64F077}"/>
              </a:ext>
            </a:extLst>
          </p:cNvPr>
          <p:cNvGraphicFramePr>
            <a:graphicFrameLocks/>
          </p:cNvGraphicFramePr>
          <p:nvPr>
            <p:extLst>
              <p:ext uri="{D42A27DB-BD31-4B8C-83A1-F6EECF244321}">
                <p14:modId xmlns:p14="http://schemas.microsoft.com/office/powerpoint/2010/main" val="1175295026"/>
              </p:ext>
            </p:extLst>
          </p:nvPr>
        </p:nvGraphicFramePr>
        <p:xfrm>
          <a:off x="7024235" y="124988"/>
          <a:ext cx="4921236" cy="4142212"/>
        </p:xfrm>
        <a:graphic>
          <a:graphicData uri="http://schemas.openxmlformats.org/drawingml/2006/chart">
            <c:chart xmlns:c="http://schemas.openxmlformats.org/drawingml/2006/chart" xmlns:r="http://schemas.openxmlformats.org/officeDocument/2006/relationships" r:id="rId9"/>
          </a:graphicData>
        </a:graphic>
      </p:graphicFrame>
      <p:sp>
        <p:nvSpPr>
          <p:cNvPr id="3" name="Rectangle 2">
            <a:extLst>
              <a:ext uri="{FF2B5EF4-FFF2-40B4-BE49-F238E27FC236}">
                <a16:creationId xmlns:a16="http://schemas.microsoft.com/office/drawing/2014/main" id="{91B4DA32-64E9-9DD2-63EA-582680AA7CCC}"/>
              </a:ext>
            </a:extLst>
          </p:cNvPr>
          <p:cNvSpPr/>
          <p:nvPr/>
        </p:nvSpPr>
        <p:spPr>
          <a:xfrm>
            <a:off x="7024235" y="4350226"/>
            <a:ext cx="4806521" cy="22304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bg2"/>
                </a:solidFill>
                <a:latin typeface="Lucida Bright" panose="02040602050505020304" pitchFamily="18" charset="77"/>
              </a:rPr>
              <a:t>Based on the analyzed data, increasing Type A coupons that are primarily </a:t>
            </a:r>
            <a:r>
              <a:rPr lang="en-US" sz="1600" u="sng">
                <a:solidFill>
                  <a:schemeClr val="bg2"/>
                </a:solidFill>
                <a:latin typeface="Lucida Bright" panose="02040602050505020304" pitchFamily="18" charset="77"/>
              </a:rPr>
              <a:t>coupon discounts supported by the manufacturer</a:t>
            </a:r>
            <a:r>
              <a:rPr lang="en-US" sz="1600">
                <a:solidFill>
                  <a:schemeClr val="bg2"/>
                </a:solidFill>
                <a:latin typeface="Lucida Bright" panose="02040602050505020304" pitchFamily="18" charset="77"/>
              </a:rPr>
              <a:t> would be the best strategic approach. </a:t>
            </a:r>
            <a:r>
              <a:rPr lang="en-US" sz="1600" u="sng">
                <a:solidFill>
                  <a:schemeClr val="bg2"/>
                </a:solidFill>
                <a:latin typeface="Lucida Bright" panose="02040602050505020304" pitchFamily="18" charset="77"/>
              </a:rPr>
              <a:t>Coupon discount matches should be the secondary focus</a:t>
            </a:r>
            <a:r>
              <a:rPr lang="en-US" sz="1600">
                <a:solidFill>
                  <a:schemeClr val="bg2"/>
                </a:solidFill>
                <a:latin typeface="Lucida Bright" panose="02040602050505020304" pitchFamily="18" charset="77"/>
              </a:rPr>
              <a:t> to increase, to ensure units do not harm profit. </a:t>
            </a:r>
          </a:p>
        </p:txBody>
      </p:sp>
    </p:spTree>
    <p:extLst>
      <p:ext uri="{BB962C8B-B14F-4D97-AF65-F5344CB8AC3E}">
        <p14:creationId xmlns:p14="http://schemas.microsoft.com/office/powerpoint/2010/main" val="15917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F4418-8CC0-132F-C514-9771AAED739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75D7D3-AD84-AA55-8458-ED9FA461FAE9}"/>
              </a:ext>
            </a:extLst>
          </p:cNvPr>
          <p:cNvPicPr>
            <a:picLocks noChangeAspect="1"/>
          </p:cNvPicPr>
          <p:nvPr/>
        </p:nvPicPr>
        <p:blipFill>
          <a:blip r:embed="rId3"/>
          <a:srcRect l="6759" r="17300"/>
          <a:stretch>
            <a:fillRect/>
          </a:stretch>
        </p:blipFill>
        <p:spPr>
          <a:xfrm>
            <a:off x="7834221" y="180475"/>
            <a:ext cx="4114801" cy="2853392"/>
          </a:xfrm>
          <a:prstGeom prst="rect">
            <a:avLst/>
          </a:prstGeom>
        </p:spPr>
      </p:pic>
      <p:pic>
        <p:nvPicPr>
          <p:cNvPr id="5" name="Picture 4">
            <a:extLst>
              <a:ext uri="{FF2B5EF4-FFF2-40B4-BE49-F238E27FC236}">
                <a16:creationId xmlns:a16="http://schemas.microsoft.com/office/drawing/2014/main" id="{CE41956D-2FDF-DA71-A21E-34C69BD448FF}"/>
              </a:ext>
            </a:extLst>
          </p:cNvPr>
          <p:cNvPicPr>
            <a:picLocks noChangeAspect="1"/>
          </p:cNvPicPr>
          <p:nvPr/>
        </p:nvPicPr>
        <p:blipFill>
          <a:blip r:embed="rId3"/>
          <a:srcRect l="6759" r="17300"/>
          <a:stretch>
            <a:fillRect/>
          </a:stretch>
        </p:blipFill>
        <p:spPr>
          <a:xfrm>
            <a:off x="7834221" y="3824134"/>
            <a:ext cx="4114801" cy="2853392"/>
          </a:xfrm>
          <a:prstGeom prst="rect">
            <a:avLst/>
          </a:prstGeom>
        </p:spPr>
      </p:pic>
      <p:pic>
        <p:nvPicPr>
          <p:cNvPr id="8" name="Graphic 7" descr="Arrow Right with solid fill">
            <a:extLst>
              <a:ext uri="{FF2B5EF4-FFF2-40B4-BE49-F238E27FC236}">
                <a16:creationId xmlns:a16="http://schemas.microsoft.com/office/drawing/2014/main" id="{8A049D10-71E6-6EE3-E069-8653C3B6F8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8034064" y="3113312"/>
            <a:ext cx="631371" cy="631371"/>
          </a:xfrm>
          <a:prstGeom prst="rect">
            <a:avLst/>
          </a:prstGeom>
        </p:spPr>
      </p:pic>
      <p:pic>
        <p:nvPicPr>
          <p:cNvPr id="9" name="Graphic 8" descr="Arrow Right with solid fill">
            <a:extLst>
              <a:ext uri="{FF2B5EF4-FFF2-40B4-BE49-F238E27FC236}">
                <a16:creationId xmlns:a16="http://schemas.microsoft.com/office/drawing/2014/main" id="{8542DB8D-3E33-3044-9377-0C38926E3F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9575935" y="3113314"/>
            <a:ext cx="631371" cy="631371"/>
          </a:xfrm>
          <a:prstGeom prst="rect">
            <a:avLst/>
          </a:prstGeom>
        </p:spPr>
      </p:pic>
      <p:pic>
        <p:nvPicPr>
          <p:cNvPr id="10" name="Graphic 9" descr="Arrow Right with solid fill">
            <a:extLst>
              <a:ext uri="{FF2B5EF4-FFF2-40B4-BE49-F238E27FC236}">
                <a16:creationId xmlns:a16="http://schemas.microsoft.com/office/drawing/2014/main" id="{2864F2D3-4A56-75F0-C1D2-21195BD35F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11201400" y="3113313"/>
            <a:ext cx="631371" cy="631371"/>
          </a:xfrm>
          <a:prstGeom prst="rect">
            <a:avLst/>
          </a:prstGeom>
        </p:spPr>
      </p:pic>
      <p:sp>
        <p:nvSpPr>
          <p:cNvPr id="7" name="Title 1">
            <a:extLst>
              <a:ext uri="{FF2B5EF4-FFF2-40B4-BE49-F238E27FC236}">
                <a16:creationId xmlns:a16="http://schemas.microsoft.com/office/drawing/2014/main" id="{40934387-C9B7-58DA-DE6B-75AF621678F1}"/>
              </a:ext>
            </a:extLst>
          </p:cNvPr>
          <p:cNvSpPr txBox="1">
            <a:spLocks/>
          </p:cNvSpPr>
          <p:nvPr/>
        </p:nvSpPr>
        <p:spPr>
          <a:xfrm>
            <a:off x="-887" y="-2046"/>
            <a:ext cx="5771743" cy="1376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latin typeface="Lucida Bright"/>
              </a:rPr>
              <a:t>Analyzed Recommendations: </a:t>
            </a:r>
            <a:br>
              <a:rPr lang="en-US" sz="2400">
                <a:latin typeface="Lucida Bright" panose="02040602050505020304" pitchFamily="18" charset="77"/>
              </a:rPr>
            </a:br>
            <a:r>
              <a:rPr lang="en-US" sz="2400">
                <a:latin typeface="Lucida Bright"/>
              </a:rPr>
              <a:t>Reconstruct Promotional Placements</a:t>
            </a:r>
          </a:p>
        </p:txBody>
      </p:sp>
      <p:sp>
        <p:nvSpPr>
          <p:cNvPr id="17" name="TextBox 16">
            <a:extLst>
              <a:ext uri="{FF2B5EF4-FFF2-40B4-BE49-F238E27FC236}">
                <a16:creationId xmlns:a16="http://schemas.microsoft.com/office/drawing/2014/main" id="{A988308B-447E-2298-07F1-5B68BD8AF4BD}"/>
              </a:ext>
            </a:extLst>
          </p:cNvPr>
          <p:cNvSpPr txBox="1"/>
          <p:nvPr/>
        </p:nvSpPr>
        <p:spPr>
          <a:xfrm>
            <a:off x="143556" y="1274927"/>
            <a:ext cx="4190177" cy="307777"/>
          </a:xfrm>
          <a:prstGeom prst="rect">
            <a:avLst/>
          </a:prstGeom>
          <a:noFill/>
          <a:ln>
            <a:solidFill>
              <a:srgbClr val="FFFFFF"/>
            </a:solidFill>
          </a:ln>
        </p:spPr>
        <p:txBody>
          <a:bodyPr wrap="square" rtlCol="0">
            <a:spAutoFit/>
          </a:bodyPr>
          <a:lstStyle/>
          <a:p>
            <a:pPr algn="ctr"/>
            <a:r>
              <a:rPr lang="en-US" sz="1400">
                <a:latin typeface="Lucida Bright" panose="02040602050505020304" pitchFamily="18" charset="77"/>
              </a:rPr>
              <a:t>Low-Performing Items Based on Sales Value:</a:t>
            </a:r>
          </a:p>
        </p:txBody>
      </p:sp>
      <p:pic>
        <p:nvPicPr>
          <p:cNvPr id="19" name="Graphic 18" descr="Stuffed Toy with solid fill">
            <a:extLst>
              <a:ext uri="{FF2B5EF4-FFF2-40B4-BE49-F238E27FC236}">
                <a16:creationId xmlns:a16="http://schemas.microsoft.com/office/drawing/2014/main" id="{3911B373-2042-37EB-0324-4711C83BDBA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9034" y="2014133"/>
            <a:ext cx="411433" cy="411433"/>
          </a:xfrm>
          <a:prstGeom prst="rect">
            <a:avLst/>
          </a:prstGeom>
        </p:spPr>
      </p:pic>
      <p:pic>
        <p:nvPicPr>
          <p:cNvPr id="21" name="Graphic 20" descr="Bottle with solid fill">
            <a:extLst>
              <a:ext uri="{FF2B5EF4-FFF2-40B4-BE49-F238E27FC236}">
                <a16:creationId xmlns:a16="http://schemas.microsoft.com/office/drawing/2014/main" id="{0B585422-DF23-8450-ACD4-CAE1619ECD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150" y="2447663"/>
            <a:ext cx="457200" cy="457200"/>
          </a:xfrm>
          <a:prstGeom prst="rect">
            <a:avLst/>
          </a:prstGeom>
        </p:spPr>
      </p:pic>
      <p:graphicFrame>
        <p:nvGraphicFramePr>
          <p:cNvPr id="25" name="Object 24">
            <a:extLst>
              <a:ext uri="{FF2B5EF4-FFF2-40B4-BE49-F238E27FC236}">
                <a16:creationId xmlns:a16="http://schemas.microsoft.com/office/drawing/2014/main" id="{3F340905-E42C-A4AE-6106-4062DA7FAF41}"/>
              </a:ext>
            </a:extLst>
          </p:cNvPr>
          <p:cNvGraphicFramePr>
            <a:graphicFrameLocks noChangeAspect="1"/>
          </p:cNvGraphicFramePr>
          <p:nvPr>
            <p:extLst>
              <p:ext uri="{D42A27DB-BD31-4B8C-83A1-F6EECF244321}">
                <p14:modId xmlns:p14="http://schemas.microsoft.com/office/powerpoint/2010/main" val="1895997273"/>
              </p:ext>
            </p:extLst>
          </p:nvPr>
        </p:nvGraphicFramePr>
        <p:xfrm>
          <a:off x="662829" y="1676724"/>
          <a:ext cx="3655194" cy="2532894"/>
        </p:xfrm>
        <a:graphic>
          <a:graphicData uri="http://schemas.openxmlformats.org/presentationml/2006/ole">
            <mc:AlternateContent xmlns:mc="http://schemas.openxmlformats.org/markup-compatibility/2006">
              <mc:Choice xmlns:v="urn:schemas-microsoft-com:vml" Requires="v">
                <p:oleObj name="Worksheet" r:id="rId10" imgW="2476500" imgH="1231900" progId="Excel.Sheet.12">
                  <p:embed/>
                </p:oleObj>
              </mc:Choice>
              <mc:Fallback>
                <p:oleObj name="Worksheet" r:id="rId10" imgW="2476500" imgH="1231900" progId="Excel.Sheet.12">
                  <p:embed/>
                  <p:pic>
                    <p:nvPicPr>
                      <p:cNvPr id="25" name="Object 24">
                        <a:extLst>
                          <a:ext uri="{FF2B5EF4-FFF2-40B4-BE49-F238E27FC236}">
                            <a16:creationId xmlns:a16="http://schemas.microsoft.com/office/drawing/2014/main" id="{3F340905-E42C-A4AE-6106-4062DA7FAF41}"/>
                          </a:ext>
                        </a:extLst>
                      </p:cNvPr>
                      <p:cNvPicPr/>
                      <p:nvPr/>
                    </p:nvPicPr>
                    <p:blipFill>
                      <a:blip r:embed="rId11"/>
                      <a:stretch>
                        <a:fillRect/>
                      </a:stretch>
                    </p:blipFill>
                    <p:spPr>
                      <a:xfrm>
                        <a:off x="662829" y="1676724"/>
                        <a:ext cx="3655194" cy="2532894"/>
                      </a:xfrm>
                      <a:prstGeom prst="rect">
                        <a:avLst/>
                      </a:prstGeom>
                      <a:solidFill>
                        <a:srgbClr val="FFFFFF"/>
                      </a:solidFill>
                    </p:spPr>
                  </p:pic>
                </p:oleObj>
              </mc:Fallback>
            </mc:AlternateContent>
          </a:graphicData>
        </a:graphic>
      </p:graphicFrame>
      <p:pic>
        <p:nvPicPr>
          <p:cNvPr id="27" name="Graphic 26" descr="Weight Loss with solid fill">
            <a:extLst>
              <a:ext uri="{FF2B5EF4-FFF2-40B4-BE49-F238E27FC236}">
                <a16:creationId xmlns:a16="http://schemas.microsoft.com/office/drawing/2014/main" id="{25B24AA2-3F2C-CCEA-47F6-A57CBDDC774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6252" y="2874814"/>
            <a:ext cx="476996" cy="476996"/>
          </a:xfrm>
          <a:prstGeom prst="rect">
            <a:avLst/>
          </a:prstGeom>
        </p:spPr>
      </p:pic>
      <p:pic>
        <p:nvPicPr>
          <p:cNvPr id="29" name="Graphic 28" descr="Flowers in pot with solid fill">
            <a:extLst>
              <a:ext uri="{FF2B5EF4-FFF2-40B4-BE49-F238E27FC236}">
                <a16:creationId xmlns:a16="http://schemas.microsoft.com/office/drawing/2014/main" id="{C461CC64-0C53-C09F-75D7-6B49D200FE7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6252" y="3347159"/>
            <a:ext cx="476996" cy="476996"/>
          </a:xfrm>
          <a:prstGeom prst="rect">
            <a:avLst/>
          </a:prstGeom>
        </p:spPr>
      </p:pic>
      <p:pic>
        <p:nvPicPr>
          <p:cNvPr id="33" name="Graphic 32" descr="Present with solid fill">
            <a:extLst>
              <a:ext uri="{FF2B5EF4-FFF2-40B4-BE49-F238E27FC236}">
                <a16:creationId xmlns:a16="http://schemas.microsoft.com/office/drawing/2014/main" id="{74AA5082-7F4A-79A7-C624-C5CC19FAC36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43556" y="3818541"/>
            <a:ext cx="422388" cy="422388"/>
          </a:xfrm>
          <a:prstGeom prst="rect">
            <a:avLst/>
          </a:prstGeom>
        </p:spPr>
      </p:pic>
      <p:sp>
        <p:nvSpPr>
          <p:cNvPr id="36" name="TextBox 35">
            <a:extLst>
              <a:ext uri="{FF2B5EF4-FFF2-40B4-BE49-F238E27FC236}">
                <a16:creationId xmlns:a16="http://schemas.microsoft.com/office/drawing/2014/main" id="{71EDC4BF-6D3F-D51B-E3D7-2589A1458D8C}"/>
              </a:ext>
            </a:extLst>
          </p:cNvPr>
          <p:cNvSpPr txBox="1"/>
          <p:nvPr/>
        </p:nvSpPr>
        <p:spPr>
          <a:xfrm>
            <a:off x="4493535" y="1245127"/>
            <a:ext cx="3204930" cy="307777"/>
          </a:xfrm>
          <a:prstGeom prst="rect">
            <a:avLst/>
          </a:prstGeom>
          <a:noFill/>
          <a:ln>
            <a:solidFill>
              <a:srgbClr val="FFFFFF"/>
            </a:solidFill>
          </a:ln>
        </p:spPr>
        <p:txBody>
          <a:bodyPr wrap="square" rtlCol="0">
            <a:spAutoFit/>
          </a:bodyPr>
          <a:lstStyle/>
          <a:p>
            <a:r>
              <a:rPr lang="en-US" sz="1400">
                <a:latin typeface="Lucida Bright" panose="02040602050505020304" pitchFamily="18" charset="77"/>
              </a:rPr>
              <a:t>Best Performing Display Location:</a:t>
            </a:r>
          </a:p>
        </p:txBody>
      </p:sp>
      <p:graphicFrame>
        <p:nvGraphicFramePr>
          <p:cNvPr id="41" name="Object 40">
            <a:extLst>
              <a:ext uri="{FF2B5EF4-FFF2-40B4-BE49-F238E27FC236}">
                <a16:creationId xmlns:a16="http://schemas.microsoft.com/office/drawing/2014/main" id="{219A9B61-5EFC-963F-8B1E-B569944A22F0}"/>
              </a:ext>
            </a:extLst>
          </p:cNvPr>
          <p:cNvGraphicFramePr>
            <a:graphicFrameLocks noChangeAspect="1"/>
          </p:cNvGraphicFramePr>
          <p:nvPr>
            <p:extLst>
              <p:ext uri="{D42A27DB-BD31-4B8C-83A1-F6EECF244321}">
                <p14:modId xmlns:p14="http://schemas.microsoft.com/office/powerpoint/2010/main" val="1525049729"/>
              </p:ext>
            </p:extLst>
          </p:nvPr>
        </p:nvGraphicFramePr>
        <p:xfrm>
          <a:off x="4453779" y="1676724"/>
          <a:ext cx="3244686" cy="2532894"/>
        </p:xfrm>
        <a:graphic>
          <a:graphicData uri="http://schemas.openxmlformats.org/presentationml/2006/ole">
            <mc:AlternateContent xmlns:mc="http://schemas.openxmlformats.org/markup-compatibility/2006">
              <mc:Choice xmlns:v="urn:schemas-microsoft-com:vml" Requires="v">
                <p:oleObj name="Worksheet" r:id="rId18" imgW="2019300" imgH="1308100" progId="Excel.Sheet.12">
                  <p:embed/>
                </p:oleObj>
              </mc:Choice>
              <mc:Fallback>
                <p:oleObj name="Worksheet" r:id="rId18" imgW="2019300" imgH="1308100" progId="Excel.Sheet.12">
                  <p:embed/>
                  <p:pic>
                    <p:nvPicPr>
                      <p:cNvPr id="41" name="Object 40">
                        <a:extLst>
                          <a:ext uri="{FF2B5EF4-FFF2-40B4-BE49-F238E27FC236}">
                            <a16:creationId xmlns:a16="http://schemas.microsoft.com/office/drawing/2014/main" id="{219A9B61-5EFC-963F-8B1E-B569944A22F0}"/>
                          </a:ext>
                        </a:extLst>
                      </p:cNvPr>
                      <p:cNvPicPr/>
                      <p:nvPr/>
                    </p:nvPicPr>
                    <p:blipFill>
                      <a:blip r:embed="rId19"/>
                      <a:stretch>
                        <a:fillRect/>
                      </a:stretch>
                    </p:blipFill>
                    <p:spPr>
                      <a:xfrm>
                        <a:off x="4453779" y="1676724"/>
                        <a:ext cx="3244686" cy="2532894"/>
                      </a:xfrm>
                      <a:prstGeom prst="rect">
                        <a:avLst/>
                      </a:prstGeom>
                      <a:solidFill>
                        <a:srgbClr val="FFFFFF"/>
                      </a:solidFill>
                    </p:spPr>
                  </p:pic>
                </p:oleObj>
              </mc:Fallback>
            </mc:AlternateContent>
          </a:graphicData>
        </a:graphic>
      </p:graphicFrame>
      <p:pic>
        <p:nvPicPr>
          <p:cNvPr id="42" name="Graphic 41" descr="Stuffed Toy with solid fill">
            <a:extLst>
              <a:ext uri="{FF2B5EF4-FFF2-40B4-BE49-F238E27FC236}">
                <a16:creationId xmlns:a16="http://schemas.microsoft.com/office/drawing/2014/main" id="{E5FD3F38-2B98-2985-4BD3-C87BFB0B810F}"/>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905588" y="560551"/>
            <a:ext cx="678303" cy="678303"/>
          </a:xfrm>
          <a:prstGeom prst="rect">
            <a:avLst/>
          </a:prstGeom>
        </p:spPr>
      </p:pic>
      <p:pic>
        <p:nvPicPr>
          <p:cNvPr id="43" name="Graphic 42" descr="Stuffed Toy with solid fill">
            <a:extLst>
              <a:ext uri="{FF2B5EF4-FFF2-40B4-BE49-F238E27FC236}">
                <a16:creationId xmlns:a16="http://schemas.microsoft.com/office/drawing/2014/main" id="{95AE94A9-90CD-F310-02F8-C0318CAF8A6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164502" y="4783794"/>
            <a:ext cx="411433" cy="411433"/>
          </a:xfrm>
          <a:prstGeom prst="rect">
            <a:avLst/>
          </a:prstGeom>
        </p:spPr>
      </p:pic>
      <p:pic>
        <p:nvPicPr>
          <p:cNvPr id="44" name="Graphic 43" descr="Bottle with solid fill">
            <a:extLst>
              <a:ext uri="{FF2B5EF4-FFF2-40B4-BE49-F238E27FC236}">
                <a16:creationId xmlns:a16="http://schemas.microsoft.com/office/drawing/2014/main" id="{D9AC99B1-FF29-E78A-E9D7-E22E2957AD2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349748" y="560550"/>
            <a:ext cx="634391" cy="634391"/>
          </a:xfrm>
          <a:prstGeom prst="rect">
            <a:avLst/>
          </a:prstGeom>
        </p:spPr>
      </p:pic>
      <p:pic>
        <p:nvPicPr>
          <p:cNvPr id="45" name="Graphic 44" descr="Bottle with solid fill">
            <a:extLst>
              <a:ext uri="{FF2B5EF4-FFF2-40B4-BE49-F238E27FC236}">
                <a16:creationId xmlns:a16="http://schemas.microsoft.com/office/drawing/2014/main" id="{92B084AC-1442-70CC-FAF7-1820E0239AC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071468" y="5195227"/>
            <a:ext cx="674217" cy="674217"/>
          </a:xfrm>
          <a:prstGeom prst="rect">
            <a:avLst/>
          </a:prstGeom>
        </p:spPr>
      </p:pic>
      <p:pic>
        <p:nvPicPr>
          <p:cNvPr id="46" name="Graphic 45" descr="Weight Loss with solid fill">
            <a:extLst>
              <a:ext uri="{FF2B5EF4-FFF2-40B4-BE49-F238E27FC236}">
                <a16:creationId xmlns:a16="http://schemas.microsoft.com/office/drawing/2014/main" id="{D7DB8821-D30A-C56B-1B32-7F1BF9608B3E}"/>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188438" y="1823956"/>
            <a:ext cx="634391" cy="634391"/>
          </a:xfrm>
          <a:prstGeom prst="rect">
            <a:avLst/>
          </a:prstGeom>
        </p:spPr>
      </p:pic>
      <p:pic>
        <p:nvPicPr>
          <p:cNvPr id="47" name="Graphic 46" descr="Weight Loss with solid fill">
            <a:extLst>
              <a:ext uri="{FF2B5EF4-FFF2-40B4-BE49-F238E27FC236}">
                <a16:creationId xmlns:a16="http://schemas.microsoft.com/office/drawing/2014/main" id="{5ED558B6-231E-831E-D910-B9B572613BB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730310" y="5879835"/>
            <a:ext cx="476996" cy="476996"/>
          </a:xfrm>
          <a:prstGeom prst="rect">
            <a:avLst/>
          </a:prstGeom>
        </p:spPr>
      </p:pic>
      <p:pic>
        <p:nvPicPr>
          <p:cNvPr id="48" name="Graphic 47" descr="Flowers in pot with solid fill">
            <a:extLst>
              <a:ext uri="{FF2B5EF4-FFF2-40B4-BE49-F238E27FC236}">
                <a16:creationId xmlns:a16="http://schemas.microsoft.com/office/drawing/2014/main" id="{C5E12F80-69DA-BC5F-1315-DBEC01EC6CE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023885" y="761858"/>
            <a:ext cx="476996" cy="476996"/>
          </a:xfrm>
          <a:prstGeom prst="rect">
            <a:avLst/>
          </a:prstGeom>
        </p:spPr>
      </p:pic>
      <p:pic>
        <p:nvPicPr>
          <p:cNvPr id="49" name="Graphic 48" descr="Flowers in pot with solid fill">
            <a:extLst>
              <a:ext uri="{FF2B5EF4-FFF2-40B4-BE49-F238E27FC236}">
                <a16:creationId xmlns:a16="http://schemas.microsoft.com/office/drawing/2014/main" id="{E058068F-95E1-58C9-63DA-F5782D071C86}"/>
              </a:ext>
            </a:extLst>
          </p:cNvPr>
          <p:cNvPicPr>
            <a:picLocks noChangeAspect="1"/>
          </p:cNvPicPr>
          <p:nvPr/>
        </p:nvPicPr>
        <p:blipFill>
          <a:blip r:embed="rId26">
            <a:extLst>
              <a:ext uri="{96DAC541-7B7A-43D3-8B79-37D633B846F1}">
                <asvg:svgBlip xmlns:asvg="http://schemas.microsoft.com/office/drawing/2016/SVG/main" r:embed="rId28"/>
              </a:ext>
            </a:extLst>
          </a:blip>
          <a:stretch>
            <a:fillRect/>
          </a:stretch>
        </p:blipFill>
        <p:spPr>
          <a:xfrm>
            <a:off x="8741558" y="5159565"/>
            <a:ext cx="476996" cy="476996"/>
          </a:xfrm>
          <a:prstGeom prst="rect">
            <a:avLst/>
          </a:prstGeom>
        </p:spPr>
      </p:pic>
      <p:pic>
        <p:nvPicPr>
          <p:cNvPr id="50" name="Graphic 49" descr="Present with solid fill">
            <a:extLst>
              <a:ext uri="{FF2B5EF4-FFF2-40B4-BE49-F238E27FC236}">
                <a16:creationId xmlns:a16="http://schemas.microsoft.com/office/drawing/2014/main" id="{3395D975-6D3B-3651-0AA1-F7D4B62046E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9867105" y="180474"/>
            <a:ext cx="422388" cy="422388"/>
          </a:xfrm>
          <a:prstGeom prst="rect">
            <a:avLst/>
          </a:prstGeom>
        </p:spPr>
      </p:pic>
      <p:pic>
        <p:nvPicPr>
          <p:cNvPr id="51" name="Graphic 50" descr="Present with solid fill">
            <a:extLst>
              <a:ext uri="{FF2B5EF4-FFF2-40B4-BE49-F238E27FC236}">
                <a16:creationId xmlns:a16="http://schemas.microsoft.com/office/drawing/2014/main" id="{4ABE45F7-DC7B-AD2D-6476-DAC4546DA67A}"/>
              </a:ext>
            </a:extLst>
          </p:cNvPr>
          <p:cNvPicPr>
            <a:picLocks noChangeAspect="1"/>
          </p:cNvPicPr>
          <p:nvPr/>
        </p:nvPicPr>
        <p:blipFill>
          <a:blip r:embed="rId29">
            <a:extLst>
              <a:ext uri="{96DAC541-7B7A-43D3-8B79-37D633B846F1}">
                <asvg:svgBlip xmlns:asvg="http://schemas.microsoft.com/office/drawing/2016/SVG/main" r:embed="rId31"/>
              </a:ext>
            </a:extLst>
          </a:blip>
          <a:stretch>
            <a:fillRect/>
          </a:stretch>
        </p:blipFill>
        <p:spPr>
          <a:xfrm>
            <a:off x="10286048" y="4240929"/>
            <a:ext cx="422388" cy="422388"/>
          </a:xfrm>
          <a:prstGeom prst="rect">
            <a:avLst/>
          </a:prstGeom>
        </p:spPr>
      </p:pic>
      <p:sp>
        <p:nvSpPr>
          <p:cNvPr id="53" name="Rectangle 52">
            <a:extLst>
              <a:ext uri="{FF2B5EF4-FFF2-40B4-BE49-F238E27FC236}">
                <a16:creationId xmlns:a16="http://schemas.microsoft.com/office/drawing/2014/main" id="{CD5DD900-12A2-0297-242C-BEB6141F5D61}"/>
              </a:ext>
            </a:extLst>
          </p:cNvPr>
          <p:cNvSpPr/>
          <p:nvPr/>
        </p:nvSpPr>
        <p:spPr>
          <a:xfrm>
            <a:off x="322719" y="4452123"/>
            <a:ext cx="7192925" cy="2225403"/>
          </a:xfrm>
          <a:prstGeom prst="rect">
            <a:avLst/>
          </a:prstGeom>
          <a:solidFill>
            <a:srgbClr val="0E51A3"/>
          </a:solidFill>
          <a:ln>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FFFFFF"/>
                </a:solidFill>
                <a:latin typeface="Lucida Bright" panose="02040602050505020304" pitchFamily="18" charset="77"/>
              </a:rPr>
              <a:t>An additional strategic approach is restructuring poorly performing items into high-performing display locations. High-performing items do not need to be restructured because the items are already utilized. Focusing on low-performing items offers a greater chance to improve results. This strategy will draw customers' attention to a wider demographic of items.  This approach has to be tailored to each department to prevent inadequate execution. This strategy allows the possibility to incorporate low-performing items into high-performing mailer locations. Targeting underperforming products to rotate seasonally would provide a realistic execution. </a:t>
            </a:r>
          </a:p>
        </p:txBody>
      </p:sp>
    </p:spTree>
    <p:extLst>
      <p:ext uri="{BB962C8B-B14F-4D97-AF65-F5344CB8AC3E}">
        <p14:creationId xmlns:p14="http://schemas.microsoft.com/office/powerpoint/2010/main" val="1695440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CF9CB-B20E-B495-218D-3008B05A1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22C56-1661-DF0A-2CAC-49E5DFAAF9E6}"/>
              </a:ext>
            </a:extLst>
          </p:cNvPr>
          <p:cNvSpPr>
            <a:spLocks noGrp="1"/>
          </p:cNvSpPr>
          <p:nvPr>
            <p:ph type="title"/>
          </p:nvPr>
        </p:nvSpPr>
        <p:spPr>
          <a:xfrm>
            <a:off x="127321" y="0"/>
            <a:ext cx="9271321" cy="1325563"/>
          </a:xfrm>
        </p:spPr>
        <p:txBody>
          <a:bodyPr>
            <a:normAutofit/>
          </a:bodyPr>
          <a:lstStyle/>
          <a:p>
            <a:r>
              <a:rPr lang="en-US" sz="3600">
                <a:latin typeface="Lucida Bright" panose="02040602050505020304" pitchFamily="18" charset="77"/>
              </a:rPr>
              <a:t>Analyzed Recommendation</a:t>
            </a:r>
            <a:br>
              <a:rPr lang="en-US" sz="3600">
                <a:latin typeface="Lucida Bright" panose="02040602050505020304" pitchFamily="18" charset="77"/>
              </a:rPr>
            </a:br>
            <a:r>
              <a:rPr lang="en-US" sz="2400">
                <a:latin typeface="Lucida Bright" panose="02040602050505020304" pitchFamily="18" charset="77"/>
              </a:rPr>
              <a:t>Promote National-Brand Products</a:t>
            </a:r>
            <a:endParaRPr lang="en-US" sz="3600">
              <a:latin typeface="Lucida Bright" panose="02040602050505020304" pitchFamily="18" charset="77"/>
            </a:endParaRPr>
          </a:p>
        </p:txBody>
      </p:sp>
      <p:graphicFrame>
        <p:nvGraphicFramePr>
          <p:cNvPr id="8" name="Diagram 7">
            <a:extLst>
              <a:ext uri="{FF2B5EF4-FFF2-40B4-BE49-F238E27FC236}">
                <a16:creationId xmlns:a16="http://schemas.microsoft.com/office/drawing/2014/main" id="{D1B0EAA4-5CCC-9A90-BFA1-652ED2083B83}"/>
              </a:ext>
            </a:extLst>
          </p:cNvPr>
          <p:cNvGraphicFramePr/>
          <p:nvPr>
            <p:extLst>
              <p:ext uri="{D42A27DB-BD31-4B8C-83A1-F6EECF244321}">
                <p14:modId xmlns:p14="http://schemas.microsoft.com/office/powerpoint/2010/main" val="308296272"/>
              </p:ext>
            </p:extLst>
          </p:nvPr>
        </p:nvGraphicFramePr>
        <p:xfrm>
          <a:off x="7817799" y="226409"/>
          <a:ext cx="4246880" cy="25568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E547E201-0E2B-D9B8-FCCA-3EAA35EA3DEA}"/>
              </a:ext>
            </a:extLst>
          </p:cNvPr>
          <p:cNvSpPr/>
          <p:nvPr/>
        </p:nvSpPr>
        <p:spPr>
          <a:xfrm>
            <a:off x="217170" y="1325563"/>
            <a:ext cx="7749540" cy="5306028"/>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ED969E0-9C28-55BB-6C23-A06D58139E42}"/>
              </a:ext>
            </a:extLst>
          </p:cNvPr>
          <p:cNvSpPr/>
          <p:nvPr/>
        </p:nvSpPr>
        <p:spPr>
          <a:xfrm>
            <a:off x="482375" y="1546701"/>
            <a:ext cx="7132769" cy="48637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bg1"/>
                </a:solidFill>
                <a:latin typeface="Lucida Bright"/>
              </a:rPr>
              <a:t>Based on the Product category of our analysis, there should be a greater emphasis on promoting national-brand products. </a:t>
            </a:r>
            <a:r>
              <a:rPr lang="en-US" u="sng">
                <a:solidFill>
                  <a:schemeClr val="bg1"/>
                </a:solidFill>
                <a:latin typeface="Lucida Bright"/>
              </a:rPr>
              <a:t>National-brand has a sales value of almost 2 million greater than private-label</a:t>
            </a:r>
            <a:r>
              <a:rPr lang="en-US">
                <a:solidFill>
                  <a:schemeClr val="bg1"/>
                </a:solidFill>
                <a:latin typeface="Lucida Bright"/>
              </a:rPr>
              <a:t>, and accounts for </a:t>
            </a:r>
            <a:r>
              <a:rPr lang="en-US" u="sng">
                <a:solidFill>
                  <a:schemeClr val="bg1"/>
                </a:solidFill>
                <a:latin typeface="Lucida Bright"/>
              </a:rPr>
              <a:t>71.745% of overall revenue</a:t>
            </a:r>
            <a:r>
              <a:rPr lang="en-US">
                <a:solidFill>
                  <a:schemeClr val="bg1"/>
                </a:solidFill>
                <a:latin typeface="Lucida Bright"/>
              </a:rPr>
              <a:t>. However, individual private-label products are on promotion </a:t>
            </a:r>
            <a:r>
              <a:rPr lang="en-US" u="sng">
                <a:solidFill>
                  <a:schemeClr val="bg1"/>
                </a:solidFill>
                <a:latin typeface="Lucida Bright"/>
              </a:rPr>
              <a:t>76% more often</a:t>
            </a:r>
            <a:r>
              <a:rPr lang="en-US">
                <a:solidFill>
                  <a:schemeClr val="bg1"/>
                </a:solidFill>
                <a:latin typeface="Lucida Bright"/>
              </a:rPr>
              <a:t> than national-brand products.</a:t>
            </a:r>
          </a:p>
          <a:p>
            <a:pPr algn="ctr"/>
            <a:endParaRPr lang="en-US">
              <a:solidFill>
                <a:schemeClr val="bg1"/>
              </a:solidFill>
              <a:latin typeface="Lucida Bright" panose="02040602050505020304" pitchFamily="18" charset="77"/>
            </a:endParaRPr>
          </a:p>
          <a:p>
            <a:pPr algn="ctr"/>
            <a:r>
              <a:rPr lang="en-US">
                <a:solidFill>
                  <a:schemeClr val="bg1"/>
                </a:solidFill>
                <a:latin typeface="Lucida Bright"/>
              </a:rPr>
              <a:t> </a:t>
            </a:r>
            <a:r>
              <a:rPr lang="en-US" u="sng">
                <a:solidFill>
                  <a:schemeClr val="bg1"/>
                </a:solidFill>
                <a:latin typeface="Lucida Bright"/>
              </a:rPr>
              <a:t>85.04% of products fall under national-brands</a:t>
            </a:r>
            <a:r>
              <a:rPr lang="en-US">
                <a:solidFill>
                  <a:schemeClr val="bg1"/>
                </a:solidFill>
                <a:latin typeface="Lucida Bright"/>
              </a:rPr>
              <a:t>. For national brands, </a:t>
            </a:r>
            <a:r>
              <a:rPr lang="en-US" u="sng">
                <a:solidFill>
                  <a:schemeClr val="bg1"/>
                </a:solidFill>
                <a:latin typeface="Lucida Bright"/>
              </a:rPr>
              <a:t>7.96% of transactions</a:t>
            </a:r>
            <a:r>
              <a:rPr lang="en-US">
                <a:solidFill>
                  <a:schemeClr val="bg1"/>
                </a:solidFill>
                <a:latin typeface="Lucida Bright"/>
              </a:rPr>
              <a:t> occur for products under promotion, whereas for </a:t>
            </a:r>
            <a:r>
              <a:rPr lang="en-US" u="sng">
                <a:solidFill>
                  <a:schemeClr val="bg1"/>
                </a:solidFill>
                <a:latin typeface="Lucida Bright"/>
              </a:rPr>
              <a:t>private-label brands 7.29% </a:t>
            </a:r>
            <a:r>
              <a:rPr lang="en-US">
                <a:solidFill>
                  <a:schemeClr val="bg1"/>
                </a:solidFill>
                <a:latin typeface="Lucida Bright"/>
              </a:rPr>
              <a:t>of transactions occur for products under promotion. Generally, promotions for </a:t>
            </a:r>
            <a:r>
              <a:rPr lang="en-US" u="sng">
                <a:solidFill>
                  <a:schemeClr val="bg1"/>
                </a:solidFill>
                <a:latin typeface="Lucida Bright"/>
              </a:rPr>
              <a:t>national-brand products are more effective</a:t>
            </a:r>
            <a:r>
              <a:rPr lang="en-US">
                <a:solidFill>
                  <a:schemeClr val="bg1"/>
                </a:solidFill>
                <a:latin typeface="Lucida Bright"/>
              </a:rPr>
              <a:t> than private-label promotions due to the impact on sales.  </a:t>
            </a:r>
          </a:p>
          <a:p>
            <a:pPr algn="ctr"/>
            <a:endParaRPr lang="en-US">
              <a:solidFill>
                <a:schemeClr val="bg1"/>
              </a:solidFill>
              <a:latin typeface="Lucida Bright" panose="02040602050505020304" pitchFamily="18" charset="77"/>
            </a:endParaRPr>
          </a:p>
          <a:p>
            <a:pPr algn="ctr"/>
            <a:r>
              <a:rPr lang="en-US" b="1">
                <a:solidFill>
                  <a:schemeClr val="bg1"/>
                </a:solidFill>
                <a:latin typeface="Lucida Bright"/>
              </a:rPr>
              <a:t>Incorporating more promotions on national-brand products in relevant, reliable display and mailer locations would attract more consumers and greater sales.</a:t>
            </a:r>
          </a:p>
        </p:txBody>
      </p:sp>
      <p:sp>
        <p:nvSpPr>
          <p:cNvPr id="9" name="Rectangle 8">
            <a:extLst>
              <a:ext uri="{FF2B5EF4-FFF2-40B4-BE49-F238E27FC236}">
                <a16:creationId xmlns:a16="http://schemas.microsoft.com/office/drawing/2014/main" id="{2CA3804E-B955-D711-722B-2A0EF499D655}"/>
              </a:ext>
            </a:extLst>
          </p:cNvPr>
          <p:cNvSpPr/>
          <p:nvPr/>
        </p:nvSpPr>
        <p:spPr>
          <a:xfrm>
            <a:off x="8182303" y="3168869"/>
            <a:ext cx="3882376" cy="3462722"/>
          </a:xfrm>
          <a:prstGeom prst="rect">
            <a:avLst/>
          </a:prstGeom>
          <a:solidFill>
            <a:srgbClr val="8AA6D1"/>
          </a:solidFill>
          <a:ln>
            <a:solidFill>
              <a:srgbClr val="8AA6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bg2">
                    <a:lumMod val="85000"/>
                    <a:lumOff val="15000"/>
                  </a:schemeClr>
                </a:solidFill>
                <a:latin typeface="Lucida Bright" panose="02040602050505020304" pitchFamily="18" charset="77"/>
              </a:rPr>
              <a:t>Decreasing Kroger’s inventory of private-label products could additionally be beneficial to </a:t>
            </a:r>
            <a:r>
              <a:rPr lang="en-US" sz="1600" u="sng">
                <a:solidFill>
                  <a:schemeClr val="bg2">
                    <a:lumMod val="85000"/>
                    <a:lumOff val="15000"/>
                  </a:schemeClr>
                </a:solidFill>
                <a:latin typeface="Lucida Bright" panose="02040602050505020304" pitchFamily="18" charset="77"/>
              </a:rPr>
              <a:t>prevent overstock or waste of products</a:t>
            </a:r>
            <a:r>
              <a:rPr lang="en-US" sz="1600">
                <a:solidFill>
                  <a:schemeClr val="bg2">
                    <a:lumMod val="85000"/>
                    <a:lumOff val="15000"/>
                  </a:schemeClr>
                </a:solidFill>
                <a:latin typeface="Lucida Bright" panose="02040602050505020304" pitchFamily="18" charset="77"/>
              </a:rPr>
              <a:t>. Incorporating promotions of private-label products would </a:t>
            </a:r>
            <a:r>
              <a:rPr lang="en-US" sz="1600" u="sng">
                <a:solidFill>
                  <a:schemeClr val="bg2">
                    <a:lumMod val="85000"/>
                    <a:lumOff val="15000"/>
                  </a:schemeClr>
                </a:solidFill>
                <a:latin typeface="Lucida Bright" panose="02040602050505020304" pitchFamily="18" charset="77"/>
              </a:rPr>
              <a:t>result in a loss of revenue</a:t>
            </a:r>
            <a:r>
              <a:rPr lang="en-US" sz="1600">
                <a:solidFill>
                  <a:schemeClr val="bg2">
                    <a:lumMod val="85000"/>
                    <a:lumOff val="15000"/>
                  </a:schemeClr>
                </a:solidFill>
                <a:latin typeface="Lucida Bright" panose="02040602050505020304" pitchFamily="18" charset="77"/>
              </a:rPr>
              <a:t> due to higher demand for national-brand products. </a:t>
            </a:r>
            <a:r>
              <a:rPr lang="en-US" sz="1600" u="sng">
                <a:solidFill>
                  <a:schemeClr val="bg2">
                    <a:lumMod val="85000"/>
                    <a:lumOff val="15000"/>
                  </a:schemeClr>
                </a:solidFill>
                <a:latin typeface="Lucida Bright" panose="02040602050505020304" pitchFamily="18" charset="77"/>
              </a:rPr>
              <a:t>The enhancement of sales from private-label promotions would not exceed the current revenue of national-brand products</a:t>
            </a:r>
            <a:r>
              <a:rPr lang="en-US" sz="1600">
                <a:solidFill>
                  <a:schemeClr val="bg2">
                    <a:lumMod val="85000"/>
                    <a:lumOff val="15000"/>
                  </a:schemeClr>
                </a:solidFill>
                <a:latin typeface="Lucida Bright" panose="02040602050505020304" pitchFamily="18" charset="77"/>
              </a:rPr>
              <a:t>. </a:t>
            </a:r>
          </a:p>
        </p:txBody>
      </p:sp>
    </p:spTree>
    <p:extLst>
      <p:ext uri="{BB962C8B-B14F-4D97-AF65-F5344CB8AC3E}">
        <p14:creationId xmlns:p14="http://schemas.microsoft.com/office/powerpoint/2010/main" val="3829968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0E642-7671-645E-C04B-8DB1735B8439}"/>
            </a:ext>
          </a:extLst>
        </p:cNvPr>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39EABCF0-BF4E-E077-C6A1-D07645E3B122}"/>
              </a:ext>
            </a:extLst>
          </p:cNvPr>
          <p:cNvGraphicFramePr/>
          <p:nvPr>
            <p:extLst>
              <p:ext uri="{D42A27DB-BD31-4B8C-83A1-F6EECF244321}">
                <p14:modId xmlns:p14="http://schemas.microsoft.com/office/powerpoint/2010/main" val="922631788"/>
              </p:ext>
            </p:extLst>
          </p:nvPr>
        </p:nvGraphicFramePr>
        <p:xfrm>
          <a:off x="4790698" y="-371960"/>
          <a:ext cx="7065505" cy="3922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Oval 9">
            <a:extLst>
              <a:ext uri="{FF2B5EF4-FFF2-40B4-BE49-F238E27FC236}">
                <a16:creationId xmlns:a16="http://schemas.microsoft.com/office/drawing/2014/main" id="{5AD213E8-1897-40D6-3D73-E325BFDBCDEF}"/>
              </a:ext>
            </a:extLst>
          </p:cNvPr>
          <p:cNvSpPr/>
          <p:nvPr/>
        </p:nvSpPr>
        <p:spPr>
          <a:xfrm>
            <a:off x="90406" y="90407"/>
            <a:ext cx="4029559" cy="3905573"/>
          </a:xfrm>
          <a:prstGeom prst="ellipse">
            <a:avLst/>
          </a:prstGeom>
          <a:solidFill>
            <a:srgbClr val="FFFFFF"/>
          </a:solidFill>
          <a:ln w="57150">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282E615-D641-597F-EED2-B62FDD5E0876}"/>
              </a:ext>
            </a:extLst>
          </p:cNvPr>
          <p:cNvSpPr/>
          <p:nvPr/>
        </p:nvSpPr>
        <p:spPr>
          <a:xfrm>
            <a:off x="335797" y="367582"/>
            <a:ext cx="3538779" cy="3351221"/>
          </a:xfrm>
          <a:prstGeom prst="ellipse">
            <a:avLst/>
          </a:prstGeom>
          <a:solidFill>
            <a:srgbClr val="FFFFFF"/>
          </a:solidFill>
          <a:ln w="57150">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bg1"/>
                </a:solidFill>
                <a:latin typeface="Lucida Bright" panose="02040602050505020304" pitchFamily="18" charset="77"/>
              </a:rPr>
              <a:t>Strategic Approach</a:t>
            </a:r>
          </a:p>
        </p:txBody>
      </p:sp>
      <p:sp>
        <p:nvSpPr>
          <p:cNvPr id="12" name="Rectangle 11">
            <a:extLst>
              <a:ext uri="{FF2B5EF4-FFF2-40B4-BE49-F238E27FC236}">
                <a16:creationId xmlns:a16="http://schemas.microsoft.com/office/drawing/2014/main" id="{DCC685DF-A402-8DD0-326E-E11E42186E6A}"/>
              </a:ext>
            </a:extLst>
          </p:cNvPr>
          <p:cNvSpPr/>
          <p:nvPr/>
        </p:nvSpPr>
        <p:spPr>
          <a:xfrm>
            <a:off x="4928461" y="3239146"/>
            <a:ext cx="6927742" cy="3332135"/>
          </a:xfrm>
          <a:prstGeom prst="rect">
            <a:avLst/>
          </a:prstGeom>
          <a:solidFill>
            <a:schemeClr val="accent1"/>
          </a:solidFill>
          <a:ln>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bg1"/>
                </a:solidFill>
                <a:latin typeface="Lucida Bright"/>
              </a:rPr>
              <a:t>To have a feasible execution, we suggest implementing the strategy via a seasonal approach. Product transactions and sales vary by season, due to school fluctuations and holidays. Each season should gradually incorporate strategic recommendations to prevent poor execution. For proper strategy results, the strategy should be incorporated via a seasonal structure for a 3–5-year period. We advise the continuous implementation of broad coupons (Type B and Type C), but utilizing Type A.  </a:t>
            </a:r>
          </a:p>
        </p:txBody>
      </p:sp>
      <p:pic>
        <p:nvPicPr>
          <p:cNvPr id="14" name="Graphic 13" descr="Shopping cart with solid fill">
            <a:extLst>
              <a:ext uri="{FF2B5EF4-FFF2-40B4-BE49-F238E27FC236}">
                <a16:creationId xmlns:a16="http://schemas.microsoft.com/office/drawing/2014/main" id="{A0A6943E-E2C7-9D7D-31B3-9C2F621F135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7275" y="3747507"/>
            <a:ext cx="3182318" cy="3182318"/>
          </a:xfrm>
          <a:prstGeom prst="rect">
            <a:avLst/>
          </a:prstGeom>
        </p:spPr>
      </p:pic>
      <p:pic>
        <p:nvPicPr>
          <p:cNvPr id="15" name="Graphic 14" descr="Stuffed Toy with solid fill">
            <a:extLst>
              <a:ext uri="{FF2B5EF4-FFF2-40B4-BE49-F238E27FC236}">
                <a16:creationId xmlns:a16="http://schemas.microsoft.com/office/drawing/2014/main" id="{4D574BAE-245D-1874-57D7-6A9908B4DCD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20043207">
            <a:off x="947441" y="4715646"/>
            <a:ext cx="1157462" cy="1157462"/>
          </a:xfrm>
          <a:prstGeom prst="rect">
            <a:avLst/>
          </a:prstGeom>
        </p:spPr>
      </p:pic>
      <p:pic>
        <p:nvPicPr>
          <p:cNvPr id="16" name="Graphic 15" descr="Bottle with solid fill">
            <a:extLst>
              <a:ext uri="{FF2B5EF4-FFF2-40B4-BE49-F238E27FC236}">
                <a16:creationId xmlns:a16="http://schemas.microsoft.com/office/drawing/2014/main" id="{679F2C02-02AB-3646-4033-148E8229A9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1836282">
            <a:off x="1966400" y="4060783"/>
            <a:ext cx="1020907" cy="1020907"/>
          </a:xfrm>
          <a:prstGeom prst="rect">
            <a:avLst/>
          </a:prstGeom>
        </p:spPr>
      </p:pic>
      <p:pic>
        <p:nvPicPr>
          <p:cNvPr id="18" name="Graphic 17" descr="Flowers in pot with solid fill">
            <a:extLst>
              <a:ext uri="{FF2B5EF4-FFF2-40B4-BE49-F238E27FC236}">
                <a16:creationId xmlns:a16="http://schemas.microsoft.com/office/drawing/2014/main" id="{62F96DD5-DCD7-52A5-3F9F-24E16314420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58991" y="3947483"/>
            <a:ext cx="1117862" cy="1117862"/>
          </a:xfrm>
          <a:prstGeom prst="rect">
            <a:avLst/>
          </a:prstGeom>
        </p:spPr>
      </p:pic>
      <p:pic>
        <p:nvPicPr>
          <p:cNvPr id="19" name="Graphic 18" descr="Present with solid fill">
            <a:extLst>
              <a:ext uri="{FF2B5EF4-FFF2-40B4-BE49-F238E27FC236}">
                <a16:creationId xmlns:a16="http://schemas.microsoft.com/office/drawing/2014/main" id="{F2DFF2B4-D8B9-99B7-42AA-61734BAC0A2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233787" y="4554460"/>
            <a:ext cx="1112388" cy="1112388"/>
          </a:xfrm>
          <a:prstGeom prst="rect">
            <a:avLst/>
          </a:prstGeom>
        </p:spPr>
      </p:pic>
    </p:spTree>
    <p:extLst>
      <p:ext uri="{BB962C8B-B14F-4D97-AF65-F5344CB8AC3E}">
        <p14:creationId xmlns:p14="http://schemas.microsoft.com/office/powerpoint/2010/main" val="3758131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204C65-84D5-BA96-8319-7205669E2078}"/>
              </a:ext>
            </a:extLst>
          </p:cNvPr>
          <p:cNvSpPr/>
          <p:nvPr/>
        </p:nvSpPr>
        <p:spPr>
          <a:xfrm>
            <a:off x="5619454" y="158430"/>
            <a:ext cx="6456312" cy="1295918"/>
          </a:xfrm>
          <a:prstGeom prst="rect">
            <a:avLst/>
          </a:prstGeom>
          <a:solidFill>
            <a:srgbClr val="0E51A3"/>
          </a:solidFill>
          <a:ln>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Lucida Bright" panose="02040602050505020304" pitchFamily="18" charset="77"/>
                <a:ea typeface="Calibri"/>
                <a:cs typeface="Calibri"/>
              </a:rPr>
              <a:t>Based on the supporting data and information from the strategic identifications, we propose these three cohesive recommendations that will aim to increase customer activity and generate more sales.</a:t>
            </a:r>
          </a:p>
        </p:txBody>
      </p:sp>
      <p:graphicFrame>
        <p:nvGraphicFramePr>
          <p:cNvPr id="3" name="Diagram 2">
            <a:extLst>
              <a:ext uri="{FF2B5EF4-FFF2-40B4-BE49-F238E27FC236}">
                <a16:creationId xmlns:a16="http://schemas.microsoft.com/office/drawing/2014/main" id="{DE233A1F-8500-1689-AEA2-0D8DA8CE3BD3}"/>
              </a:ext>
            </a:extLst>
          </p:cNvPr>
          <p:cNvGraphicFramePr/>
          <p:nvPr>
            <p:extLst>
              <p:ext uri="{D42A27DB-BD31-4B8C-83A1-F6EECF244321}">
                <p14:modId xmlns:p14="http://schemas.microsoft.com/office/powerpoint/2010/main" val="2615950955"/>
              </p:ext>
            </p:extLst>
          </p:nvPr>
        </p:nvGraphicFramePr>
        <p:xfrm>
          <a:off x="5905948" y="1613647"/>
          <a:ext cx="6969457" cy="5195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nip Same Side Corner Rectangle 6">
            <a:extLst>
              <a:ext uri="{FF2B5EF4-FFF2-40B4-BE49-F238E27FC236}">
                <a16:creationId xmlns:a16="http://schemas.microsoft.com/office/drawing/2014/main" id="{69204726-706C-0B83-86F6-2BDB857DCC17}"/>
              </a:ext>
            </a:extLst>
          </p:cNvPr>
          <p:cNvSpPr/>
          <p:nvPr/>
        </p:nvSpPr>
        <p:spPr>
          <a:xfrm rot="10800000">
            <a:off x="322718" y="180472"/>
            <a:ext cx="5099136" cy="1537113"/>
          </a:xfrm>
          <a:prstGeom prst="snip2SameRect">
            <a:avLst/>
          </a:prstGeom>
          <a:solidFill>
            <a:srgbClr val="FFFFFF"/>
          </a:solidFill>
          <a:ln>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nip Same Side Corner Rectangle 7">
            <a:extLst>
              <a:ext uri="{FF2B5EF4-FFF2-40B4-BE49-F238E27FC236}">
                <a16:creationId xmlns:a16="http://schemas.microsoft.com/office/drawing/2014/main" id="{E6787C2B-2A71-2327-04C8-E5E08582294C}"/>
              </a:ext>
            </a:extLst>
          </p:cNvPr>
          <p:cNvSpPr/>
          <p:nvPr/>
        </p:nvSpPr>
        <p:spPr>
          <a:xfrm rot="10800000">
            <a:off x="520318" y="329079"/>
            <a:ext cx="4695053" cy="1125268"/>
          </a:xfrm>
          <a:prstGeom prst="snip2SameRect">
            <a:avLst/>
          </a:prstGeom>
          <a:solidFill>
            <a:srgbClr val="FFFFFF"/>
          </a:solidFill>
          <a:ln w="38100">
            <a:solidFill>
              <a:srgbClr val="0E51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10" name="TextBox 9">
            <a:extLst>
              <a:ext uri="{FF2B5EF4-FFF2-40B4-BE49-F238E27FC236}">
                <a16:creationId xmlns:a16="http://schemas.microsoft.com/office/drawing/2014/main" id="{3C56D7BF-0EDA-CE59-7190-C8515C86DAD4}"/>
              </a:ext>
            </a:extLst>
          </p:cNvPr>
          <p:cNvSpPr txBox="1"/>
          <p:nvPr/>
        </p:nvSpPr>
        <p:spPr>
          <a:xfrm>
            <a:off x="883250" y="564307"/>
            <a:ext cx="3969188" cy="769441"/>
          </a:xfrm>
          <a:prstGeom prst="rect">
            <a:avLst/>
          </a:prstGeom>
          <a:noFill/>
        </p:spPr>
        <p:txBody>
          <a:bodyPr wrap="square" rtlCol="0">
            <a:spAutoFit/>
          </a:bodyPr>
          <a:lstStyle/>
          <a:p>
            <a:pPr algn="ctr"/>
            <a:r>
              <a:rPr lang="en-US" sz="4400">
                <a:solidFill>
                  <a:sysClr val="windowText" lastClr="000000"/>
                </a:solidFill>
                <a:latin typeface="Lucida Bright" panose="02040602050505020304" pitchFamily="18" charset="77"/>
              </a:rPr>
              <a:t>Conclusions</a:t>
            </a:r>
          </a:p>
        </p:txBody>
      </p:sp>
      <p:sp>
        <p:nvSpPr>
          <p:cNvPr id="941" name="TextBox 940">
            <a:extLst>
              <a:ext uri="{FF2B5EF4-FFF2-40B4-BE49-F238E27FC236}">
                <a16:creationId xmlns:a16="http://schemas.microsoft.com/office/drawing/2014/main" id="{B1C31562-1CFD-DF75-DC78-752B0CA7E65C}"/>
              </a:ext>
            </a:extLst>
          </p:cNvPr>
          <p:cNvSpPr txBox="1"/>
          <p:nvPr/>
        </p:nvSpPr>
        <p:spPr>
          <a:xfrm>
            <a:off x="325075" y="1861596"/>
            <a:ext cx="6602850" cy="3616375"/>
          </a:xfrm>
          <a:prstGeom prst="rect">
            <a:avLst/>
          </a:prstGeom>
          <a:noFill/>
          <a:ln>
            <a:solidFill>
              <a:srgbClr val="F2FBFC"/>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2FBFC"/>
                </a:solidFill>
                <a:latin typeface="Lucida Bright"/>
              </a:rPr>
              <a:t>Type A:</a:t>
            </a:r>
            <a:r>
              <a:rPr lang="en-US" sz="1750" b="1">
                <a:solidFill>
                  <a:srgbClr val="F2FBFC"/>
                </a:solidFill>
                <a:latin typeface="Lucida Bright"/>
              </a:rPr>
              <a:t> </a:t>
            </a:r>
            <a:r>
              <a:rPr lang="en-US" sz="1750">
                <a:solidFill>
                  <a:srgbClr val="F2FBFC"/>
                </a:solidFill>
                <a:latin typeface="Lucida Bright"/>
              </a:rPr>
              <a:t>Demonstrated the highest coupon utilization volume, enabling customers to apply targeted discounts aligned with their purchase behavior.</a:t>
            </a:r>
            <a:endParaRPr lang="en-US" sz="1750">
              <a:latin typeface="Lucida Bright"/>
            </a:endParaRPr>
          </a:p>
          <a:p>
            <a:endParaRPr lang="en-US" sz="1750">
              <a:latin typeface="Lucida Bright"/>
            </a:endParaRPr>
          </a:p>
          <a:p>
            <a:r>
              <a:rPr lang="en-US" b="1">
                <a:solidFill>
                  <a:srgbClr val="F2FBFC"/>
                </a:solidFill>
                <a:latin typeface="Lucida Bright"/>
              </a:rPr>
              <a:t>Department Reconstruct:</a:t>
            </a:r>
            <a:r>
              <a:rPr lang="en-US" sz="1750" b="1">
                <a:solidFill>
                  <a:srgbClr val="F2FBFC"/>
                </a:solidFill>
                <a:latin typeface="Lucida Bright"/>
              </a:rPr>
              <a:t> </a:t>
            </a:r>
            <a:r>
              <a:rPr lang="en-US" sz="1750">
                <a:latin typeface="Lucida Bright"/>
                <a:ea typeface="+mn-lt"/>
                <a:cs typeface="+mn-lt"/>
              </a:rPr>
              <a:t>Identifies underperforming products for strategic review and optimization. Supports the continued placement of top-performing products to maximize sales potential.</a:t>
            </a:r>
          </a:p>
          <a:p>
            <a:endParaRPr lang="en-US" sz="1750">
              <a:latin typeface="Lucida Bright"/>
            </a:endParaRPr>
          </a:p>
          <a:p>
            <a:r>
              <a:rPr lang="en-US" b="1">
                <a:solidFill>
                  <a:srgbClr val="F2FBFC"/>
                </a:solidFill>
                <a:latin typeface="Lucida Bright"/>
              </a:rPr>
              <a:t>Increase National-Brand Promotions:</a:t>
            </a:r>
            <a:r>
              <a:rPr lang="en-US" sz="1750" b="1">
                <a:solidFill>
                  <a:srgbClr val="F2FBFC"/>
                </a:solidFill>
                <a:latin typeface="Lucida Bright"/>
              </a:rPr>
              <a:t> </a:t>
            </a:r>
            <a:r>
              <a:rPr lang="en-US" sz="1750">
                <a:latin typeface="Lucida Bright"/>
              </a:rPr>
              <a:t>Sales Revenue from national brands exceeded that of private label products, indication a strong opportunity to prioritize national brand promotions in flyers and coupon campaigns.</a:t>
            </a:r>
          </a:p>
        </p:txBody>
      </p:sp>
      <p:graphicFrame>
        <p:nvGraphicFramePr>
          <p:cNvPr id="2" name="Diagram 1">
            <a:extLst>
              <a:ext uri="{FF2B5EF4-FFF2-40B4-BE49-F238E27FC236}">
                <a16:creationId xmlns:a16="http://schemas.microsoft.com/office/drawing/2014/main" id="{6F8A05D3-144F-0FF0-7287-07647E3E0D69}"/>
              </a:ext>
            </a:extLst>
          </p:cNvPr>
          <p:cNvGraphicFramePr/>
          <p:nvPr>
            <p:extLst>
              <p:ext uri="{D42A27DB-BD31-4B8C-83A1-F6EECF244321}">
                <p14:modId xmlns:p14="http://schemas.microsoft.com/office/powerpoint/2010/main" val="1095177388"/>
              </p:ext>
            </p:extLst>
          </p:nvPr>
        </p:nvGraphicFramePr>
        <p:xfrm>
          <a:off x="520318" y="5554333"/>
          <a:ext cx="6708821" cy="97062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05238994"/>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6</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Cracking the Kroger Code</vt:lpstr>
      <vt:lpstr>PowerPoint Presentation</vt:lpstr>
      <vt:lpstr>Primary Data Identifications </vt:lpstr>
      <vt:lpstr>PowerPoint Presentation</vt:lpstr>
      <vt:lpstr>PowerPoint Presentation</vt:lpstr>
      <vt:lpstr>Analyzed Recommendation Promote National-Brand Products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Mattie Maini</dc:creator>
  <cp:revision>3</cp:revision>
  <dcterms:created xsi:type="dcterms:W3CDTF">2025-10-02T01:33:40Z</dcterms:created>
  <dcterms:modified xsi:type="dcterms:W3CDTF">2025-12-27T22:26:36Z</dcterms:modified>
</cp:coreProperties>
</file>